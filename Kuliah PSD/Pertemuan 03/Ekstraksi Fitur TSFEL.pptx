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0691" y="3507740"/>
            <a:ext cx="11601450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1" i="0" u="none">
                <a:solidFill>
                  <a:srgbClr val="FFFFFF"/>
                </a:solidFill>
                <a:latin typeface="Merriweather"/>
              </a:rPr>
              <a:t>Ekstraksi Fitur Time Series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611510"/>
            <a:ext cx="11430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BEECC-855F-D675-A54F-6F252BFBB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041F40-5FF9-F079-9CFE-F5ED63D90E5F}"/>
              </a:ext>
            </a:extLst>
          </p:cNvPr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Alur Kerja Sistem Cerdas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2C6AFE-E43A-977C-3D20-371FD74EC654}"/>
              </a:ext>
            </a:extLst>
          </p:cNvPr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E409CF-14E4-0C8F-FB66-80E95AF6025D}"/>
              </a:ext>
            </a:extLst>
          </p:cNvPr>
          <p:cNvSpPr/>
          <p:nvPr/>
        </p:nvSpPr>
        <p:spPr>
          <a:xfrm>
            <a:off x="571500" y="4105275"/>
            <a:ext cx="11049000" cy="571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9877EF-131E-0B67-671D-29C4989F8571}"/>
              </a:ext>
            </a:extLst>
          </p:cNvPr>
          <p:cNvSpPr txBox="1"/>
          <p:nvPr/>
        </p:nvSpPr>
        <p:spPr>
          <a:xfrm>
            <a:off x="660752" y="4514850"/>
            <a:ext cx="2252156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B1E2E"/>
                </a:solidFill>
                <a:latin typeface="Merriweather"/>
              </a:rPr>
              <a:t>1. </a:t>
            </a:r>
            <a:r>
              <a:rPr lang="en-US" sz="1650" b="1" i="0" u="none">
                <a:solidFill>
                  <a:srgbClr val="0B1E2E"/>
                </a:solidFill>
                <a:latin typeface="Merriweather"/>
              </a:rPr>
              <a:t>Dataset</a:t>
            </a:r>
            <a:endParaRPr sz="1650" b="1" i="0" u="none">
              <a:solidFill>
                <a:srgbClr val="0B1E2E"/>
              </a:solidFill>
              <a:latin typeface="Merriweath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3AF3D4-A8EE-CB25-FF27-79A4607FEF7C}"/>
              </a:ext>
            </a:extLst>
          </p:cNvPr>
          <p:cNvSpPr txBox="1"/>
          <p:nvPr/>
        </p:nvSpPr>
        <p:spPr>
          <a:xfrm>
            <a:off x="714375" y="4876800"/>
            <a:ext cx="2144910" cy="1066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4B5563"/>
                </a:solidFill>
                <a:latin typeface="DM Sans"/>
              </a:rPr>
              <a:t>Sinyal mentah kontinyu dipecah menjadi partisi frame (windows) 2-5 detik, bisa berupa overlapping data agar konsisten.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2A432-253E-55F5-DDD0-14A5A034641A}"/>
              </a:ext>
            </a:extLst>
          </p:cNvPr>
          <p:cNvSpPr txBox="1"/>
          <p:nvPr/>
        </p:nvSpPr>
        <p:spPr>
          <a:xfrm>
            <a:off x="3533432" y="2324546"/>
            <a:ext cx="22521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B1E2E"/>
                </a:solidFill>
                <a:latin typeface="Merriweather"/>
              </a:rPr>
              <a:t>2. Ekstraksi Fitur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0E3F28-F2D5-F02F-3F7D-2ADAE2FB62FC}"/>
              </a:ext>
            </a:extLst>
          </p:cNvPr>
          <p:cNvSpPr txBox="1"/>
          <p:nvPr/>
        </p:nvSpPr>
        <p:spPr>
          <a:xfrm>
            <a:off x="3587055" y="2686496"/>
            <a:ext cx="2144910" cy="861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4B5563"/>
                </a:solidFill>
                <a:latin typeface="DM Sans"/>
              </a:rPr>
              <a:t>D</a:t>
            </a:r>
            <a:r>
              <a:rPr sz="1200" b="0" i="0" u="none">
                <a:solidFill>
                  <a:srgbClr val="4B5563"/>
                </a:solidFill>
                <a:latin typeface="DM Sans"/>
              </a:rPr>
              <a:t>iterapkan untuk menghasilkan ratusan angka fitur statistik, temporal, dan spektral seketika.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EC073E-7D9F-944C-7660-5BA071648759}"/>
              </a:ext>
            </a:extLst>
          </p:cNvPr>
          <p:cNvSpPr txBox="1"/>
          <p:nvPr/>
        </p:nvSpPr>
        <p:spPr>
          <a:xfrm>
            <a:off x="6406113" y="4514850"/>
            <a:ext cx="22521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B1E2E"/>
                </a:solidFill>
                <a:latin typeface="Merriweather"/>
              </a:rPr>
              <a:t>3. Dataset Tabular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F1A013-00B2-1888-766D-4157FCC205D4}"/>
              </a:ext>
            </a:extLst>
          </p:cNvPr>
          <p:cNvSpPr txBox="1"/>
          <p:nvPr/>
        </p:nvSpPr>
        <p:spPr>
          <a:xfrm>
            <a:off x="6459735" y="4876800"/>
            <a:ext cx="2144910" cy="1066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4B5563"/>
                </a:solidFill>
                <a:latin typeface="DM Sans"/>
              </a:rPr>
              <a:t>Hasil ekstraksi digabungkan (concat). 1 frame data mentah kini menjadi 1 baris di dataset berformat CSV atau Dataframe.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5070B7-8BD3-09BB-83B4-6C55C243B803}"/>
              </a:ext>
            </a:extLst>
          </p:cNvPr>
          <p:cNvSpPr txBox="1"/>
          <p:nvPr/>
        </p:nvSpPr>
        <p:spPr>
          <a:xfrm>
            <a:off x="9278793" y="2537817"/>
            <a:ext cx="22521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B1E2E"/>
                </a:solidFill>
                <a:latin typeface="Merriweather"/>
              </a:rPr>
              <a:t>4. Pelatihan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C09F65-4427-33DF-7FB8-82ED4F0ABC47}"/>
              </a:ext>
            </a:extLst>
          </p:cNvPr>
          <p:cNvSpPr txBox="1"/>
          <p:nvPr/>
        </p:nvSpPr>
        <p:spPr>
          <a:xfrm>
            <a:off x="9332416" y="2899767"/>
            <a:ext cx="2144910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4B5563"/>
                </a:solidFill>
                <a:latin typeface="DM Sans"/>
              </a:rPr>
              <a:t>Dataset tabular diumpan ke model Random Forest, SVM, atau XGBoost untuk klasifikasi kondisi / anomali deteksi.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7C75F5B-AD71-CDA2-571F-9ED67000D24D}"/>
              </a:ext>
            </a:extLst>
          </p:cNvPr>
          <p:cNvSpPr/>
          <p:nvPr/>
        </p:nvSpPr>
        <p:spPr>
          <a:xfrm>
            <a:off x="1653480" y="40005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0067190-65FE-0239-4120-0B6CEA58080A}"/>
              </a:ext>
            </a:extLst>
          </p:cNvPr>
          <p:cNvSpPr/>
          <p:nvPr/>
        </p:nvSpPr>
        <p:spPr>
          <a:xfrm>
            <a:off x="4526160" y="40005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B2C1C3B-F84C-371C-4ED3-D8DA1D45680F}"/>
              </a:ext>
            </a:extLst>
          </p:cNvPr>
          <p:cNvSpPr/>
          <p:nvPr/>
        </p:nvSpPr>
        <p:spPr>
          <a:xfrm>
            <a:off x="7398841" y="40005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3188A55-A0FA-D3C4-87FA-6B900F8AEE00}"/>
              </a:ext>
            </a:extLst>
          </p:cNvPr>
          <p:cNvSpPr/>
          <p:nvPr/>
        </p:nvSpPr>
        <p:spPr>
          <a:xfrm>
            <a:off x="10271521" y="40005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39903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990725"/>
            <a:ext cx="5286375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Mengapa Ekstraksi Fitur?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1990725"/>
            <a:ext cx="52863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Data deret waktu (time series) dalam bentuk mentahnya sangat kompleks dan memiliki dimensi tinggi. Machine learning berkinerja buruk jika diberi sinyal acak tanpa konteks.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3400425"/>
            <a:ext cx="5286375" cy="9810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3590925"/>
            <a:ext cx="49053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 u="none">
                <a:solidFill>
                  <a:srgbClr val="000000"/>
                </a:solidFill>
                <a:latin typeface="DM Sans"/>
              </a:rPr>
              <a:t> "Time Series Feature Extraction Library (TSFEL) adalah katalis yang mengubah gelombang tak beraturan menjadi struktur data tabular yang kaya makna." 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3400425"/>
            <a:ext cx="47625" cy="9810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1500" y="4572000"/>
            <a:ext cx="5286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Proses ini mengkompresi informasi penting untuk meningkatkan akurasi prediktif secara signifikan.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2000250"/>
            <a:ext cx="5267325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33587"/>
            <a:ext cx="3429000" cy="37242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033587"/>
            <a:ext cx="3429000" cy="3724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2033587"/>
            <a:ext cx="3429000" cy="3724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3 Domain Utama Ekstraksi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0851" y="3357562"/>
            <a:ext cx="237029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B1E2E"/>
                </a:solidFill>
                <a:latin typeface="Merriweather"/>
              </a:rPr>
              <a:t>Domain Statistik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843337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Menggambarkan distribusi dan karakteristik sentral dari amplitudo sinyal secara keseluruhan, seperti mean, variance, dan energi RMS.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0840" y="3357562"/>
            <a:ext cx="255031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B1E2E"/>
                </a:solidFill>
                <a:latin typeface="Merriweather"/>
              </a:rPr>
              <a:t>Domain Temporal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6775" y="3843337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Mengukur dinamika dan perubahan nilai seiring berjalannya waktu, seperti ZCR (Zero Crossing Rate) dan perbedaan absolut berurutan.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20851" y="3357562"/>
            <a:ext cx="237029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B1E2E"/>
                </a:solidFill>
                <a:latin typeface="Merriweather"/>
              </a:rPr>
              <a:t>Domain Spektral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6775" y="3843337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Menganalisis komposisi frekuensi sinyal setelah ditransformasikan ke domain frekuensi menggunakan FFT (Fast Fourier Transform).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300" y="2490787"/>
            <a:ext cx="533400" cy="533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2637" y="2490787"/>
            <a:ext cx="466725" cy="533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2625" y="2490787"/>
            <a:ext cx="66675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Skenario Simulasi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1500" y="2452687"/>
            <a:ext cx="11049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Untuk mendemonstrasikan perhitungan matematika di balik fitur, kita akan menggunakan sebuah jendela data (window) berisi 5 titik observasi (N = 5).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033962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Himpunan Sinyal: X = [ 2, -1, 3, -2, 4 ]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3950" y="3348037"/>
            <a:ext cx="9944100" cy="14001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23950" y="3348037"/>
          <a:ext cx="9934571" cy="1400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0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3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5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3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8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37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00087"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Indeks Waktu (i)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88"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0B1E2E"/>
                          </a:solidFill>
                          <a:latin typeface="DM Sans"/>
                        </a:rPr>
                        <a:t>Nilai Sinyal (x)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4B5563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4B5563"/>
                          </a:solidFill>
                          <a:latin typeface="DM Sans"/>
                        </a:rPr>
                        <a:t>-1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4B5563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4B5563"/>
                          </a:solidFill>
                          <a:latin typeface="DM Sans"/>
                        </a:rPr>
                        <a:t>-2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4B5563"/>
                          </a:solidFill>
                          <a:latin typeface="DM Sans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50481" y="2486025"/>
            <a:ext cx="8291036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Merriweather"/>
              </a:rPr>
              <a:t>Fitur Statistik &amp; Temporal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381625" y="3724275"/>
            <a:ext cx="142875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43237" y="4067175"/>
            <a:ext cx="61055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Menganalisis besaran sinyal dan dinamika perubahan terhadap waktu.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04950"/>
            <a:ext cx="5286375" cy="47815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504950"/>
            <a:ext cx="5286375" cy="4781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1. Root Mean Square (RMS)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2025" y="1895475"/>
            <a:ext cx="190023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B1E2E"/>
                </a:solidFill>
                <a:latin typeface="Merriweather"/>
              </a:rPr>
              <a:t>Konsep Dasar</a:t>
            </a:r>
          </a:p>
        </p:txBody>
      </p:sp>
      <p:sp>
        <p:nvSpPr>
          <p:cNvPr id="7" name="Rectangle 6"/>
          <p:cNvSpPr/>
          <p:nvPr/>
        </p:nvSpPr>
        <p:spPr>
          <a:xfrm>
            <a:off x="962025" y="2333625"/>
            <a:ext cx="180975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2025" y="2543175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Root Mean Square (RMS) adalah representasi statistik dari besaran (magnitude) rata-rata kuadratik sebuah sinyal.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657600"/>
            <a:ext cx="45053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Dalam pemrosesan sinyal fisik, RMS sangat berkorelasi erat dengan metrik kekuatan atau </a:t>
            </a:r>
            <a:r>
              <a:rPr sz="1500" b="1" i="0" u="none">
                <a:solidFill>
                  <a:srgbClr val="D4AF37"/>
                </a:solidFill>
                <a:latin typeface="DM Sans"/>
              </a:rPr>
              <a:t>total energi absolut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yang terkandung dalam window tersebut.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1895475"/>
            <a:ext cx="2800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B1E2E"/>
                </a:solidFill>
                <a:latin typeface="Merriweather"/>
              </a:rPr>
              <a:t>Interpretasi Analitis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4650" y="2333625"/>
            <a:ext cx="266700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4650" y="2543175"/>
            <a:ext cx="450532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Tidak seperti rata-rata (mean) sederhana yang dapat saling meniadakan antara nilai positif dan negatif, pembongkaran kuadrat pada RMS memastikan seluruh defleksi sinyal (ke atas atau ke bawah) dihitung sebagai energi kinetik.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Perhitungan Manual: 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19237" y="3081337"/>
            <a:ext cx="438150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750"/>
              </a:lnSpc>
            </a:pPr>
            <a:r>
              <a:rPr sz="9750" b="1" i="0" u="none">
                <a:solidFill>
                  <a:srgbClr val="0B1E2E"/>
                </a:solidFill>
                <a:latin typeface="Merriweather"/>
              </a:rPr>
              <a:t>2.61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9237" y="4414837"/>
            <a:ext cx="4381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D4AF37"/>
                </a:solidFill>
                <a:latin typeface="DM Sans"/>
              </a:rPr>
              <a:t>NILAI FITUR 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62787" y="2683222"/>
            <a:ext cx="379047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C3B57"/>
                </a:solidFill>
                <a:latin typeface="Merriweather"/>
              </a:rPr>
              <a:t>Proses Matematis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2787" y="3888878"/>
            <a:ext cx="36099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1. Kuadratkan: [4, 1, 9, 4, 16]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2787" y="4193678"/>
            <a:ext cx="36099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2. Jumlahkan (Sum): 4 + 1 + 9 + 4 + 16 = 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62787" y="4498478"/>
            <a:ext cx="36099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3. Rata-rata (Mean): 34 / 5 = 6.8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62787" y="4803278"/>
            <a:ext cx="36099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4. Akar Kuadrat (Root): √6.8 ≈ 2.607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787" y="3168997"/>
            <a:ext cx="1222474" cy="7198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990725"/>
            <a:ext cx="5286375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2. Zero Crossing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1990725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Zero Crossing Rate (ZCR) adalah fitur domain temporal yang menghitung seberapa sering sinyal mentransisi nilai nol (berubah dari positif ke negatif atau sebaliknya).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3095625"/>
            <a:ext cx="5286375" cy="7810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3286125"/>
            <a:ext cx="4905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 u="none">
                <a:solidFill>
                  <a:srgbClr val="000000"/>
                </a:solidFill>
                <a:latin typeface="DM Sans"/>
              </a:rPr>
              <a:t> "ZCR adalah indikator kuat dari tingkat 'noisiness' atau spektrum frekuensi dominan dari sinyal secara kasar." 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3095625"/>
            <a:ext cx="47625" cy="781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1500" y="4067175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Sinyal dengan ZCR tinggi umumnya merepresentasikan fluktuasi cepat, sering ditemui pada sinyal sensor getaran ekstrim atau suara konsonan tegang.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2000250"/>
            <a:ext cx="5267325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Perhitungan Manual: ZCR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09700" y="3081337"/>
            <a:ext cx="438150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750"/>
              </a:lnSpc>
            </a:pPr>
            <a:r>
              <a:rPr sz="9750" b="1" i="0" u="none">
                <a:solidFill>
                  <a:srgbClr val="0B1E2E"/>
                </a:solidFill>
                <a:latin typeface="Merriweather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9700" y="4414837"/>
            <a:ext cx="4381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D4AF37"/>
                </a:solidFill>
                <a:latin typeface="DM Sans"/>
              </a:rPr>
              <a:t>TRANSISI NOL (ZCR)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0" y="2555081"/>
            <a:ext cx="402050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C3B57"/>
                </a:solidFill>
                <a:latin typeface="Merriweather"/>
              </a:rPr>
              <a:t>Proses Matematis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0" y="3712368"/>
            <a:ext cx="38290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Dataset: X = [2, -1, 3, -2, 4]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0" y="4017168"/>
            <a:ext cx="38290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1. Transisi 1: 2 ke -1 (Positif ke Negatif) → +1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0" y="4321968"/>
            <a:ext cx="38290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2. Transisi 2: -1 ke 3 (Negatif ke Positif) → +1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0" y="4626768"/>
            <a:ext cx="38290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3. Transisi 3: 3 ke -2 (Positif ke Negatif) → +1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0" y="4931568"/>
            <a:ext cx="38290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4. Transisi 4: -2 ke 4 (Negatif ke Positif) → +1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0" y="3040856"/>
            <a:ext cx="2383928" cy="6715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04950"/>
            <a:ext cx="5286375" cy="47815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504950"/>
            <a:ext cx="5286375" cy="4781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3. Mean Absolute Difference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2025" y="1895475"/>
            <a:ext cx="188023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B1E2E"/>
                </a:solidFill>
                <a:latin typeface="Merriweather"/>
              </a:rPr>
              <a:t>Definisi MAD</a:t>
            </a:r>
          </a:p>
        </p:txBody>
      </p:sp>
      <p:sp>
        <p:nvSpPr>
          <p:cNvPr id="7" name="Rectangle 6"/>
          <p:cNvSpPr/>
          <p:nvPr/>
        </p:nvSpPr>
        <p:spPr>
          <a:xfrm>
            <a:off x="962025" y="2333625"/>
            <a:ext cx="179070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2025" y="2543175"/>
            <a:ext cx="45053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Mean Absolute Difference (MAD) mengukur rata-rata perubahan absolut atau "lompatan" amplitudo antara dua sampel yang bersebelahan dalam deret waktu.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962400"/>
            <a:ext cx="4505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Fitur ini merepresentasikan turunan diskrit orde pertama (kecepatan perubahan).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1895475"/>
            <a:ext cx="249031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B1E2E"/>
                </a:solidFill>
                <a:latin typeface="Merriweather"/>
              </a:rPr>
              <a:t>Signifikansi Fitur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4650" y="2333625"/>
            <a:ext cx="2371725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4650" y="2543175"/>
            <a:ext cx="450532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MAD sangat superior untuk mengidentifikasi tingkat volatilitas sinyal lokal. Nilai yang besar menunjukkan sinyal dengan volatilitas ekstrem atau spike (anomali tiba-tiba), nilai kecil menunjukkan sinyal stabil dan halus.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Perhitungan Manual: MAD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14500" y="3081337"/>
            <a:ext cx="438150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750"/>
              </a:lnSpc>
            </a:pPr>
            <a:r>
              <a:rPr sz="9750" b="1" i="0" u="none">
                <a:solidFill>
                  <a:srgbClr val="0B1E2E"/>
                </a:solidFill>
                <a:latin typeface="Merriweather"/>
              </a:rPr>
              <a:t>4.5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4500" y="4414837"/>
            <a:ext cx="4381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D4AF37"/>
                </a:solidFill>
                <a:latin typeface="DM Sans"/>
              </a:rPr>
              <a:t>NILAI VOLATILITAS (MAD)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58050" y="2402681"/>
            <a:ext cx="338042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C3B57"/>
                </a:solidFill>
                <a:latin typeface="Merriweather"/>
              </a:rPr>
              <a:t>Proses Matematis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8050" y="3559968"/>
            <a:ext cx="3219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Dataset: X = [2, -1, 3, -2, 4]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58050" y="3864768"/>
            <a:ext cx="3219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|-1 - 2| = |-3| =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58050" y="4169568"/>
            <a:ext cx="3219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|3 - (-1)| = |4| =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58050" y="4474368"/>
            <a:ext cx="3219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|-2 - 3| = |-5| =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8050" y="4779168"/>
            <a:ext cx="3219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|4 - (-2)| = |6| =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8050" y="5083968"/>
            <a:ext cx="3219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MAD = (3 + 4 + 5 + 6) / 4 = 18 / 4 = 4.5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050" y="2888456"/>
            <a:ext cx="2247304" cy="6715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5536" y="2486025"/>
            <a:ext cx="7420927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Merriweather"/>
              </a:rPr>
              <a:t>Domain Spektral &amp; FFT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81625" y="3724275"/>
            <a:ext cx="142875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624137" y="4067175"/>
            <a:ext cx="6943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Membuka dimensi frekuensi dari sinyal kompleks melalui Fast Fourier Transform.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550693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Konsep Transformasi FFT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190625"/>
            <a:ext cx="5286375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890837"/>
            <a:ext cx="55506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C3B57"/>
                </a:solidFill>
                <a:latin typeface="Merriweather"/>
              </a:rPr>
              <a:t>Dekomposisi Sinyal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376612"/>
            <a:ext cx="528637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Sinyal dunia nyata sangat jarang berupa gelombang murni tunggal. Transformasi Fourier bekerja dengan memecah gelombang kompleks yang berantakan menjadi kumpulan gelombang sinus dan kosinus murni yang teratur, masing-masing dengan frekuensi dan magnitudo berbeda.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1675" y="1890712"/>
            <a:ext cx="8248650" cy="2400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725"/>
              </a:lnSpc>
            </a:pPr>
            <a:r>
              <a:rPr sz="3150" b="0" i="0" u="none">
                <a:solidFill>
                  <a:srgbClr val="0B1E2E"/>
                </a:solidFill>
                <a:latin typeface="Merriweather"/>
              </a:rPr>
              <a:t>Setiap gelombang yang terukur, serumit apapun bentuknya, selalu dapat dideskripsikan sebagai jumlahan dari gelombang-gelombang sinus sederhana.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71887" y="4672012"/>
            <a:ext cx="4848225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6B7280"/>
                </a:solidFill>
                <a:latin typeface="DM Sans"/>
              </a:rPr>
              <a:t>KONSEP INTI TRANSFORMASI FOURIER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9675" y="2271712"/>
            <a:ext cx="405854" cy="1314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0" i="0" u="none">
                <a:solidFill>
                  <a:srgbClr val="D4AF37"/>
                </a:solidFill>
                <a:latin typeface="sans-serif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6474" y="4291012"/>
            <a:ext cx="405854" cy="1314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0" i="0" u="none">
                <a:solidFill>
                  <a:srgbClr val="D4AF37"/>
                </a:solidFill>
                <a:latin typeface="sans-serif"/>
              </a:rPr>
              <a:t>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Skenario Simulasi Data FFT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1500" y="1878806"/>
            <a:ext cx="11049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Untuk melakukan simulasi perhitungan manual FFT diskrit (DFT), kita merampingkan jumlah observasi (N=4) untuk menghindari bilangan kompleks berlebihan.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460081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Rumus Inti DFT: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3950" y="2774156"/>
            <a:ext cx="9944100" cy="14001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23950" y="2774156"/>
          <a:ext cx="9934572" cy="1400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7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3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0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6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0087"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Indeks Waktu (n)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88"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0B1E2E"/>
                          </a:solidFill>
                          <a:latin typeface="DM Sans"/>
                        </a:rPr>
                        <a:t>Sinyal (x[n])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4B5563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4B5563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4B5563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4B5563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295" y="5003006"/>
            <a:ext cx="4799260" cy="6715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04950"/>
            <a:ext cx="5286375" cy="47815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504950"/>
            <a:ext cx="5286375" cy="4781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Perhitungan DFT (Bagian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2025" y="1895475"/>
            <a:ext cx="323040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B1E2E"/>
                </a:solidFill>
                <a:latin typeface="Merriweather"/>
              </a:rPr>
              <a:t>Frekuensi Dasar (k = 0)</a:t>
            </a:r>
          </a:p>
        </p:txBody>
      </p:sp>
      <p:sp>
        <p:nvSpPr>
          <p:cNvPr id="7" name="Rectangle 6"/>
          <p:cNvSpPr/>
          <p:nvPr/>
        </p:nvSpPr>
        <p:spPr>
          <a:xfrm>
            <a:off x="962025" y="2333625"/>
            <a:ext cx="3076575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2025" y="2543175"/>
            <a:ext cx="4505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Mengukur komponen "DC" (Direct Current) atau titik keseimbangan pusat sinyal.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448050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X(0) = 1(1) + 0(1) + 2(1) + 0(1)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848100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X(0) =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152900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4AF37"/>
                </a:solidFill>
                <a:latin typeface="DM Sans"/>
              </a:rPr>
              <a:t>Magnitudo |X(0)| =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1895475"/>
            <a:ext cx="303037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B1E2E"/>
                </a:solidFill>
                <a:latin typeface="Merriweather"/>
              </a:rPr>
              <a:t>Siklus Pertama (k = 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4650" y="2333625"/>
            <a:ext cx="2886075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24650" y="2543175"/>
            <a:ext cx="4505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Faktor rotasi eksponensial kompleks menjadi vektor fase.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4650" y="3448050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X(1) = 1(1) + 0(-j) + 2(-1) + 0(j)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4650" y="3752850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X(1) = 1 - 2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4650" y="4152900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X(1) = 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4457700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4AF37"/>
                </a:solidFill>
                <a:latin typeface="DM Sans"/>
              </a:rPr>
              <a:t>Magnitudo |X(1)| = 1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3171676"/>
            <a:ext cx="590847" cy="209698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3171676"/>
            <a:ext cx="707677" cy="2096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04950"/>
            <a:ext cx="5286375" cy="47815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504950"/>
            <a:ext cx="5286375" cy="4781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Perhitungan DFT (Bagian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2025" y="1895475"/>
            <a:ext cx="273034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B1E2E"/>
                </a:solidFill>
                <a:latin typeface="Merriweather"/>
              </a:rPr>
              <a:t>Siklus Kedua (k =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962025" y="2333625"/>
            <a:ext cx="2600325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2025" y="2543175"/>
            <a:ext cx="4505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Komponen frekuensi lebih tinggi (Nyquist limit untuk N=4).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448050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X(2) = 1(1) + 0(-1) + 2(1) + 0(-1)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752850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X(2) = 1 + 2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152900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X(2) =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457700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4AF37"/>
                </a:solidFill>
                <a:latin typeface="DM Sans"/>
              </a:rPr>
              <a:t>Magnitudo |X(2)| =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1895475"/>
            <a:ext cx="277034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B1E2E"/>
                </a:solidFill>
                <a:latin typeface="Merriweather"/>
              </a:rPr>
              <a:t>Siklus Ketiga (k = 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4650" y="2333625"/>
            <a:ext cx="2638425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4650" y="2543175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Frekuensi cermin (aliasing) dalam DFT real.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4650" y="3143250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X(3) = 1(1) + 0(j) + 2(-1) + 0(-j)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4650" y="3448050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X(3) = 1 - 2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3848100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X(3) = -1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4650" y="4152900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4AF37"/>
                </a:solidFill>
                <a:latin typeface="DM Sans"/>
              </a:rPr>
              <a:t>Magnitudo |X(3)| = 1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3171676"/>
            <a:ext cx="491579" cy="209698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2866876"/>
            <a:ext cx="788789" cy="2096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04950"/>
            <a:ext cx="11049000" cy="4781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Hasil Magnitudo Spektral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5214937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90536" y="2486025"/>
            <a:ext cx="7410926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Merriweather"/>
              </a:rPr>
              <a:t>Fitur Spektral Lanjutan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81625" y="3724275"/>
            <a:ext cx="142875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14675" y="4067175"/>
            <a:ext cx="59626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Menganalisis properti dari distribusi magnitudo di domain frekuensi.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33587"/>
            <a:ext cx="5334000" cy="37242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33587"/>
            <a:ext cx="5334000" cy="3724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1. Spectral Entropy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8381" y="3357562"/>
            <a:ext cx="190023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B1E2E"/>
                </a:solidFill>
                <a:latin typeface="Merriweather"/>
              </a:rPr>
              <a:t>Konsep Dasar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843337"/>
            <a:ext cx="47434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Mengadopsi hukum termodinamika (Entropi Shannon) untuk mengukur tingkat kompleksitas, keacakan, atau distribusi ketidakpastian spektrum daya frekuensi sinyal.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8320" y="3357562"/>
            <a:ext cx="287035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B1E2E"/>
                </a:solidFill>
                <a:latin typeface="Merriweather"/>
              </a:rPr>
              <a:t>Persiapan Data Daya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0937" y="3843337"/>
            <a:ext cx="290512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Spektrum daya: P = Magnitudo². </a:t>
            </a:r>
            <a:r>
              <a:t>
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P = [9, 1, 9, 1]. </a:t>
            </a:r>
            <a:r>
              <a:t>
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Total Daya = 20. </a:t>
            </a:r>
            <a:r>
              <a:t>
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Probabilitas normalisasi daya (p):</a:t>
            </a:r>
            <a:r>
              <a:t>
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p = [0.45, 0.05, 0.45, 0.05]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2490787"/>
            <a:ext cx="533400" cy="533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0137" y="2490787"/>
            <a:ext cx="466725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Perhitungan: Spectral Entropy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45108" y="3081337"/>
            <a:ext cx="438150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750"/>
              </a:lnSpc>
            </a:pPr>
            <a:r>
              <a:rPr sz="9750" b="1" i="0" u="none">
                <a:solidFill>
                  <a:srgbClr val="0B1E2E"/>
                </a:solidFill>
                <a:latin typeface="Merriweather"/>
              </a:rPr>
              <a:t>1.469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5108" y="4414837"/>
            <a:ext cx="4381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D4AF37"/>
                </a:solidFill>
                <a:latin typeface="DM Sans"/>
              </a:rPr>
              <a:t>BITS (ENTROPY)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88658" y="2550318"/>
            <a:ext cx="415598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C3B57"/>
                </a:solidFill>
                <a:latin typeface="Merriweather"/>
              </a:rPr>
              <a:t>Proses Matematis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88658" y="3717131"/>
            <a:ext cx="395808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p = [0.45, 0.05, 0.45, 0.05]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8658" y="4021931"/>
            <a:ext cx="395808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Bin 0: -0.45 × log2(0.45) ≈ 0.518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8658" y="4326731"/>
            <a:ext cx="395808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Bin 1: -0.05 × log2(0.05) ≈ 0.216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8658" y="4631531"/>
            <a:ext cx="395808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Bin 2 &amp; 3 identik: 0.518 + 0.216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8658" y="4936331"/>
            <a:ext cx="395808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Total = 2 × (0.734) = 1.469 bits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658" y="3036093"/>
            <a:ext cx="3958083" cy="68103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990725"/>
            <a:ext cx="5286375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3. Spectral Centroid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1990725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Spectral Centroid berfungsi untuk menemukan "pusat gravitasi" atau titik keseimbangan frekuensi dari suatu spektrum.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3095625"/>
            <a:ext cx="5286375" cy="9810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3286125"/>
            <a:ext cx="49053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 u="none">
                <a:solidFill>
                  <a:srgbClr val="000000"/>
                </a:solidFill>
                <a:latin typeface="DM Sans"/>
              </a:rPr>
              <a:t> "Ini secara langsung merepresentasikan persepsi tentang kecerahan (brightness) sinyal. Sinyal dengan frekuensi tinggi dominan akan memiliki centroid besar." 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3095625"/>
            <a:ext cx="47625" cy="9810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2000250"/>
            <a:ext cx="5267325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Perhitungan: Spectral Centroid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28750" y="3081337"/>
            <a:ext cx="438150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750"/>
              </a:lnSpc>
            </a:pPr>
            <a:r>
              <a:rPr sz="9750" b="1" i="0" u="none">
                <a:solidFill>
                  <a:srgbClr val="0B1E2E"/>
                </a:solidFill>
                <a:latin typeface="Merriweather"/>
              </a:rPr>
              <a:t>1.25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8750" y="4414837"/>
            <a:ext cx="4381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D4AF37"/>
                </a:solidFill>
                <a:latin typeface="DM Sans"/>
              </a:rPr>
              <a:t>INDEX FREKUENSI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2300" y="2526803"/>
            <a:ext cx="398049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C3B57"/>
                </a:solidFill>
                <a:latin typeface="Merriweather"/>
              </a:rPr>
              <a:t>Proses Matematis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72300" y="4045446"/>
            <a:ext cx="3790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Magnitudo = [3, 1, 3, 1]. Total = 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2300" y="4350246"/>
            <a:ext cx="3790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Centroid = ( (0×3) + (1×1) + (2×3) + (3×1) )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2300" y="4655046"/>
            <a:ext cx="3790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Centroid = ( 0 + 1 + 6 + 3 )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2300" y="4959846"/>
            <a:ext cx="3790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Centroid = 10 / 8 = 1.25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0" y="3012578"/>
            <a:ext cx="1729829" cy="103286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990725"/>
            <a:ext cx="5286375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4. Spectral Spread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1990725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Jika Centroid adalah mean berbobot, maka Spectral Spread adalah standar deviasi atau penyebaran dari distribusi spektrum frekuensi.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3095625"/>
            <a:ext cx="5286375" cy="9810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3286125"/>
            <a:ext cx="49053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 u="none">
                <a:solidFill>
                  <a:srgbClr val="000000"/>
                </a:solidFill>
                <a:latin typeface="DM Sans"/>
              </a:rPr>
              <a:t> "Spread mengukur lebar sabuk frekuensi tempat energi terkonsentrasi. Spread tinggi berarti sinyal noise pita lebar (broadband)." 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3095625"/>
            <a:ext cx="47625" cy="9810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2000250"/>
            <a:ext cx="5267325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Perhitungan: Spectral Spread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8225" y="3081337"/>
            <a:ext cx="438150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750"/>
              </a:lnSpc>
            </a:pPr>
            <a:r>
              <a:rPr sz="9750" b="1" i="0" u="none">
                <a:solidFill>
                  <a:srgbClr val="0B1E2E"/>
                </a:solidFill>
                <a:latin typeface="Merriweather"/>
              </a:rPr>
              <a:t>1.089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" y="4414837"/>
            <a:ext cx="4381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D4AF37"/>
                </a:solidFill>
                <a:latin typeface="DM Sans"/>
              </a:rPr>
              <a:t>DEVIASI SPEKTRUM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775" y="2613719"/>
            <a:ext cx="4800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C3B57"/>
                </a:solidFill>
                <a:latin typeface="Merriweather"/>
              </a:rPr>
              <a:t>Proses Matematis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653581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SC = 1.25. Prob(X) = [3/8, 1/8, 3/8, 1/8]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958381"/>
            <a:ext cx="4572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Varians = (3/8 × (0-1.25)²) + (1/8 × (1-1.25)²) </a:t>
            </a:r>
            <a:r>
              <a:t>
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+ (3/8 × (2-1.25)²) + (1/8 × (3-1.25)²)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4567981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Varians = 0.5859 + 0.0078 + 0.2109 + 0.3828 = 1.1874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4872781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Spread = √1.1874 = 1.0897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775" y="3099494"/>
            <a:ext cx="2652266" cy="55408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5463" y="2486025"/>
            <a:ext cx="8581072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Merriweather"/>
              </a:rPr>
              <a:t>Pipeline 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81625" y="3724275"/>
            <a:ext cx="142875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6137" y="4067175"/>
            <a:ext cx="5419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Integrasi TSFEL ke dalam arsitektur model AI prediktif industri.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Alur Kerja Sistem Cerdas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4105275"/>
            <a:ext cx="11049000" cy="571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0752" y="4514850"/>
            <a:ext cx="22521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B1E2E"/>
                </a:solidFill>
                <a:latin typeface="Merriweather"/>
              </a:rPr>
              <a:t>1. Windowing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4876800"/>
            <a:ext cx="2144910" cy="1066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4B5563"/>
                </a:solidFill>
                <a:latin typeface="DM Sans"/>
              </a:rPr>
              <a:t>Sinyal mentah kontinyu dipecah menjadi partisi frame (windows) 2-5 detik, bisa berupa overlapping data agar konsisten.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3432" y="2324546"/>
            <a:ext cx="22521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B1E2E"/>
                </a:solidFill>
                <a:latin typeface="Merriweather"/>
              </a:rPr>
              <a:t>2. Ekstraksi Fitur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7055" y="2686496"/>
            <a:ext cx="2144910" cy="1066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4B5563"/>
                </a:solidFill>
                <a:latin typeface="DM Sans"/>
              </a:rPr>
              <a:t>TSFEL diterapkan di setiap frame untuk menghasilkan ratusan angka fitur statistik, temporal, dan spektral seketika.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6113" y="4514850"/>
            <a:ext cx="22521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B1E2E"/>
                </a:solidFill>
                <a:latin typeface="Merriweather"/>
              </a:rPr>
              <a:t>3. Dataset Tabular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9735" y="4876800"/>
            <a:ext cx="2144910" cy="1066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4B5563"/>
                </a:solidFill>
                <a:latin typeface="DM Sans"/>
              </a:rPr>
              <a:t>Hasil ekstraksi digabungkan (concat). 1 frame data mentah kini menjadi 1 baris di dataset berformat CSV atau Dataframe.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8793" y="2537817"/>
            <a:ext cx="22521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B1E2E"/>
                </a:solidFill>
                <a:latin typeface="Merriweather"/>
              </a:rPr>
              <a:t>4. Pelatihan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2416" y="2899767"/>
            <a:ext cx="2144910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4B5563"/>
                </a:solidFill>
                <a:latin typeface="DM Sans"/>
              </a:rPr>
              <a:t>Dataset tabular diumpan ke model Random Forest, SVM, atau XGBoost untuk klasifikasi kondisi / anomali deteksi.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53480" y="40005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26160" y="40005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98841" y="40005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71521" y="40005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04950"/>
            <a:ext cx="5286375" cy="47815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504950"/>
            <a:ext cx="5286375" cy="4781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Merriweather"/>
              </a:rPr>
              <a:t>Krusialitas Feature Scaling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2025" y="1895475"/>
            <a:ext cx="341042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B1E2E"/>
                </a:solidFill>
                <a:latin typeface="Merriweather"/>
              </a:rPr>
              <a:t>Min-Max Normalization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62025" y="2333625"/>
            <a:ext cx="3248025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2025" y="2543175"/>
            <a:ext cx="450532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Model ML seperti KNN atau Neural Network sangat sensitif terhadap skala fitur. Entropi berskala 0-1, sementara energi mungkin ribuan. Min-Max meremas semua fitur menjadi matriks rentang 0 hingga 1 seragam.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210050"/>
            <a:ext cx="4505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1" u="none">
                <a:solidFill>
                  <a:srgbClr val="4B5563"/>
                </a:solidFill>
                <a:latin typeface="DM Sans"/>
              </a:rPr>
              <a:t>Cocok jika dataset dipastikan bebas nilai ekstrem tak wajar.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1895475"/>
            <a:ext cx="355044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B1E2E"/>
                </a:solidFill>
                <a:latin typeface="Merriweather"/>
              </a:rPr>
              <a:t>Standardization (Z-Score)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4650" y="2333625"/>
            <a:ext cx="3381375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4650" y="2543175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Mengubah distribusi fitur sehingga memiliki Mean = 0 dan Standar Deviasi = 1. Metode ini tidak membatasi rentang nilai mutlak.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3600450"/>
            <a:ext cx="4505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1" u="none">
                <a:solidFill>
                  <a:srgbClr val="4B5563"/>
                </a:solidFill>
                <a:latin typeface="DM Sans"/>
              </a:rPr>
              <a:t>Sangat direkomendasikan jika data sensor rentan terhadap pencilan (outliers) atau noise drastis.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1772</Words>
  <Application>Microsoft Office PowerPoint</Application>
  <PresentationFormat>Widescreen</PresentationFormat>
  <Paragraphs>185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DM Sans</vt:lpstr>
      <vt:lpstr>Merriweather</vt:lpstr>
      <vt:lpstr>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mulaab mulyo</cp:lastModifiedBy>
  <cp:revision>3</cp:revision>
  <dcterms:created xsi:type="dcterms:W3CDTF">2013-01-27T09:14:16Z</dcterms:created>
  <dcterms:modified xsi:type="dcterms:W3CDTF">2026-09-10T08:41:08Z</dcterms:modified>
  <cp:category/>
</cp:coreProperties>
</file>