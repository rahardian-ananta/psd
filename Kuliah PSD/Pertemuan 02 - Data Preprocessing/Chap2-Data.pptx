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gif" ContentType="image/gif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1649" r:id="rId3"/>
    <p:sldId id="1409" r:id="rId4"/>
    <p:sldId id="1555" r:id="rId6"/>
    <p:sldId id="1556" r:id="rId7"/>
    <p:sldId id="1557" r:id="rId8"/>
    <p:sldId id="1558" r:id="rId9"/>
    <p:sldId id="1487" r:id="rId10"/>
    <p:sldId id="1488" r:id="rId11"/>
    <p:sldId id="1489" r:id="rId12"/>
    <p:sldId id="1490" r:id="rId13"/>
    <p:sldId id="1491" r:id="rId14"/>
    <p:sldId id="1492" r:id="rId15"/>
    <p:sldId id="1551" r:id="rId16"/>
    <p:sldId id="1494" r:id="rId17"/>
    <p:sldId id="1495" r:id="rId18"/>
    <p:sldId id="1559" r:id="rId19"/>
    <p:sldId id="1561" r:id="rId20"/>
    <p:sldId id="1496" r:id="rId21"/>
    <p:sldId id="1500" r:id="rId22"/>
    <p:sldId id="1562" r:id="rId23"/>
    <p:sldId id="1586" r:id="rId24"/>
    <p:sldId id="1587" r:id="rId25"/>
    <p:sldId id="1595" r:id="rId26"/>
    <p:sldId id="1588" r:id="rId27"/>
    <p:sldId id="1589" r:id="rId28"/>
    <p:sldId id="1590" r:id="rId29"/>
    <p:sldId id="1591" r:id="rId30"/>
    <p:sldId id="1501" r:id="rId31"/>
    <p:sldId id="1497" r:id="rId32"/>
    <p:sldId id="1502" r:id="rId33"/>
    <p:sldId id="1503" r:id="rId34"/>
    <p:sldId id="1506" r:id="rId35"/>
    <p:sldId id="1507" r:id="rId36"/>
    <p:sldId id="1508" r:id="rId37"/>
    <p:sldId id="1553" r:id="rId38"/>
    <p:sldId id="1611" r:id="rId39"/>
    <p:sldId id="1598" r:id="rId40"/>
    <p:sldId id="1614" r:id="rId41"/>
    <p:sldId id="1599" r:id="rId42"/>
    <p:sldId id="1600" r:id="rId43"/>
    <p:sldId id="1601" r:id="rId44"/>
    <p:sldId id="1602" r:id="rId45"/>
    <p:sldId id="1603" r:id="rId46"/>
    <p:sldId id="1604" r:id="rId47"/>
    <p:sldId id="1605" r:id="rId48"/>
    <p:sldId id="1606" r:id="rId49"/>
    <p:sldId id="1607" r:id="rId50"/>
    <p:sldId id="1609" r:id="rId51"/>
    <p:sldId id="1610" r:id="rId52"/>
  </p:sldIdLst>
  <p:sldSz cx="12192000" cy="6858000"/>
  <p:notesSz cx="7010400" cy="9296400"/>
  <p:defaultTextStyle>
    <a:defPPr>
      <a:defRPr lang="en-US"/>
    </a:defPPr>
    <a:lvl1pPr marL="0" algn="l" defTabSz="4572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ueqing Liu" initials="XL" lastIdx="3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CDBC"/>
    <a:srgbClr val="008080"/>
    <a:srgbClr val="0033CC"/>
    <a:srgbClr val="0000CC"/>
    <a:srgbClr val="BD582C"/>
    <a:srgbClr val="E48312"/>
    <a:srgbClr val="7F7F7F"/>
    <a:srgbClr val="94A088"/>
    <a:srgbClr val="8656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66" autoAdjust="0"/>
    <p:restoredTop sz="93157" autoAdjust="0"/>
  </p:normalViewPr>
  <p:slideViewPr>
    <p:cSldViewPr snapToGrid="0" showGuides="1">
      <p:cViewPr varScale="1">
        <p:scale>
          <a:sx n="106" d="100"/>
          <a:sy n="106" d="100"/>
        </p:scale>
        <p:origin x="1044" y="5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8358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</p:sldLst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2578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6" Type="http://schemas.openxmlformats.org/officeDocument/2006/relationships/commentAuthors" Target="commentAuthors.xml"/><Relationship Id="rId55" Type="http://schemas.openxmlformats.org/officeDocument/2006/relationships/tableStyles" Target="tableStyles.xml"/><Relationship Id="rId54" Type="http://schemas.openxmlformats.org/officeDocument/2006/relationships/viewProps" Target="viewProps.xml"/><Relationship Id="rId53" Type="http://schemas.openxmlformats.org/officeDocument/2006/relationships/presProps" Target="presProps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_rels/viewProps.xml.rels><?xml version="1.0" encoding="UTF-8" standalone="yes"?>
<Relationships xmlns="http://schemas.openxmlformats.org/package/2006/relationships"><Relationship Id="rId7" Type="http://schemas.openxmlformats.org/officeDocument/2006/relationships/slide" Target="slides/slide29.xml"/><Relationship Id="rId6" Type="http://schemas.openxmlformats.org/officeDocument/2006/relationships/slide" Target="slides/slide28.xml"/><Relationship Id="rId5" Type="http://schemas.openxmlformats.org/officeDocument/2006/relationships/slide" Target="slides/slide20.xml"/><Relationship Id="rId4" Type="http://schemas.openxmlformats.org/officeDocument/2006/relationships/slide" Target="slides/slide17.xml"/><Relationship Id="rId3" Type="http://schemas.openxmlformats.org/officeDocument/2006/relationships/slide" Target="slides/slide16.xml"/><Relationship Id="rId2" Type="http://schemas.openxmlformats.org/officeDocument/2006/relationships/slide" Target="slides/slide15.xml"/><Relationship Id="rId1" Type="http://schemas.openxmlformats.org/officeDocument/2006/relationships/slide" Target="slides/slide14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wmf"/><Relationship Id="rId1" Type="http://schemas.openxmlformats.org/officeDocument/2006/relationships/image" Target="../media/image34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png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49.wmf"/><Relationship Id="rId1" Type="http://schemas.openxmlformats.org/officeDocument/2006/relationships/image" Target="../media/image48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59.wmf"/><Relationship Id="rId1" Type="http://schemas.openxmlformats.org/officeDocument/2006/relationships/image" Target="../media/image58.wmf"/></Relationships>
</file>

<file path=ppt/drawings/_rels/vmlDrawing16.vml.rels><?xml version="1.0" encoding="UTF-8" standalone="yes"?>
<Relationships xmlns="http://schemas.openxmlformats.org/package/2006/relationships"><Relationship Id="rId4" Type="http://schemas.openxmlformats.org/officeDocument/2006/relationships/image" Target="../media/image63.wmf"/><Relationship Id="rId3" Type="http://schemas.openxmlformats.org/officeDocument/2006/relationships/image" Target="../media/image62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6.emf"/><Relationship Id="rId2" Type="http://schemas.openxmlformats.org/officeDocument/2006/relationships/image" Target="../media/image65.emf"/><Relationship Id="rId1" Type="http://schemas.openxmlformats.org/officeDocument/2006/relationships/image" Target="../media/image64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7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69.wmf"/><Relationship Id="rId1" Type="http://schemas.openxmlformats.org/officeDocument/2006/relationships/image" Target="../media/image68.wmf"/></Relationships>
</file>

<file path=ppt/drawings/_rels/vmlDrawing20.vml.rels><?xml version="1.0" encoding="UTF-8" standalone="yes"?>
<Relationships xmlns="http://schemas.openxmlformats.org/package/2006/relationships"><Relationship Id="rId5" Type="http://schemas.openxmlformats.org/officeDocument/2006/relationships/image" Target="../media/image66.emf"/><Relationship Id="rId4" Type="http://schemas.openxmlformats.org/officeDocument/2006/relationships/image" Target="../media/image74.emf"/><Relationship Id="rId3" Type="http://schemas.openxmlformats.org/officeDocument/2006/relationships/image" Target="../media/image73.emf"/><Relationship Id="rId2" Type="http://schemas.openxmlformats.org/officeDocument/2006/relationships/image" Target="../media/image72.emf"/><Relationship Id="rId1" Type="http://schemas.openxmlformats.org/officeDocument/2006/relationships/image" Target="../media/image71.e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81.wmf"/><Relationship Id="rId1" Type="http://schemas.openxmlformats.org/officeDocument/2006/relationships/image" Target="../media/image80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2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4.wmf"/><Relationship Id="rId1" Type="http://schemas.openxmlformats.org/officeDocument/2006/relationships/image" Target="../media/image83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85.wmf"/><Relationship Id="rId1" Type="http://schemas.openxmlformats.org/officeDocument/2006/relationships/image" Target="../media/image83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7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7.wmf"/><Relationship Id="rId2" Type="http://schemas.openxmlformats.org/officeDocument/2006/relationships/image" Target="../media/image89.wmf"/><Relationship Id="rId1" Type="http://schemas.openxmlformats.org/officeDocument/2006/relationships/image" Target="../media/image8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67" tIns="46584" rIns="93167" bIns="4658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67" tIns="46584" rIns="93167" bIns="46584" rtlCol="0"/>
          <a:lstStyle>
            <a:lvl1pPr algn="r">
              <a:defRPr sz="1200"/>
            </a:lvl1pPr>
          </a:lstStyle>
          <a:p>
            <a:fld id="{F87AF23C-6CAB-4A6A-B3BC-A88F610E0570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67" tIns="46584" rIns="93167" bIns="4658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67" tIns="46584" rIns="93167" bIns="46584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9"/>
            <a:ext cx="3037840" cy="466433"/>
          </a:xfrm>
          <a:prstGeom prst="rect">
            <a:avLst/>
          </a:prstGeom>
        </p:spPr>
        <p:txBody>
          <a:bodyPr vert="horz" lIns="93167" tIns="46584" rIns="93167" bIns="4658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9"/>
            <a:ext cx="3037840" cy="466433"/>
          </a:xfrm>
          <a:prstGeom prst="rect">
            <a:avLst/>
          </a:prstGeom>
        </p:spPr>
        <p:txBody>
          <a:bodyPr vert="horz" lIns="93167" tIns="46584" rIns="93167" bIns="46584" rtlCol="0" anchor="b"/>
          <a:lstStyle>
            <a:lvl1pPr algn="r">
              <a:defRPr sz="1200"/>
            </a:lvl1pPr>
          </a:lstStyle>
          <a:p>
            <a:fld id="{A6F8110F-5CB8-4B7A-89C2-96B671E6053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18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218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218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218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218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218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218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218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218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9BE47E6-A684-41E8-A8D2-AEB21EE26F6A}" type="slidenum">
              <a:rPr lang="en-US" altLang="en-US" sz="1200"/>
            </a:fld>
            <a:endParaRPr lang="en-US" altLang="en-US" sz="120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b="1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18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218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218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218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218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218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218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218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218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BAD32829-D2BA-444B-B42E-B3758B849273}" type="slidenum">
              <a:rPr lang="en-US" altLang="en-US" sz="1200"/>
            </a:fld>
            <a:endParaRPr lang="en-US" altLang="en-US" sz="1200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18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218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218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218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218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218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218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218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218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BAD32829-D2BA-444B-B42E-B3758B849273}" type="slidenum">
              <a:rPr lang="en-US" altLang="en-US" sz="1200"/>
            </a:fld>
            <a:endParaRPr lang="en-US" altLang="en-US" sz="1200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18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218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218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218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218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218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218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218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218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BAD32829-D2BA-444B-B42E-B3758B849273}" type="slidenum">
              <a:rPr lang="en-US" altLang="en-US" sz="1200"/>
            </a:fld>
            <a:endParaRPr lang="en-US" altLang="en-US" sz="1200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18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218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218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218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218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218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218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218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218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BAD32829-D2BA-444B-B42E-B3758B849273}" type="slidenum">
              <a:rPr lang="en-US" altLang="en-US" sz="1200"/>
            </a:fld>
            <a:endParaRPr lang="en-US" altLang="en-US" sz="1200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9A9A000-695C-426A-A955-BCB5691A07F3}" type="slidenum">
              <a:rPr lang="en-US" altLang="en-US"/>
            </a:fld>
            <a:endParaRPr lang="en-US" altLang="en-US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6075" y="698500"/>
            <a:ext cx="6192838" cy="3484563"/>
          </a:xfrm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7575" y="4414838"/>
            <a:ext cx="5046663" cy="41830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8" tIns="45373" rIns="90748" bIns="45373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0899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40EA108-B661-449A-8B49-8ED13120A001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192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E1E230E-4AD5-40B1-BE3E-2B62A0E13469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DD4C30E-8644-4685-AE37-561BF0C21D59}" type="slidenum">
              <a:rPr lang="en-US" altLang="en-US"/>
            </a:fld>
            <a:endParaRPr lang="en-US" altLang="en-US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6075" y="698500"/>
            <a:ext cx="6192838" cy="3484563"/>
          </a:xfrm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7575" y="4414838"/>
            <a:ext cx="5046663" cy="41830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8" tIns="45373" rIns="90748" bIns="45373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E515979-15B8-40FE-999C-378DAE3E647C}" type="slidenum">
              <a:rPr lang="en-US" altLang="en-US"/>
            </a:fld>
            <a:endParaRPr lang="en-US" altLang="en-US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6075" y="698500"/>
            <a:ext cx="6192838" cy="3484563"/>
          </a:xfrm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7575" y="4414838"/>
            <a:ext cx="5046663" cy="41830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8" tIns="45373" rIns="90748" bIns="45373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45DDDA9-5F3C-4F15-8095-45AACD1E7848}" type="slidenum">
              <a:rPr lang="en-US" altLang="en-US"/>
            </a:fld>
            <a:endParaRPr lang="en-US" altLang="en-US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6075" y="698500"/>
            <a:ext cx="6192838" cy="3484563"/>
          </a:xfrm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7575" y="4414838"/>
            <a:ext cx="5046663" cy="41830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8" tIns="45373" rIns="90748" bIns="45373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18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218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218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218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218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218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218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218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218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9BE47E6-A684-41E8-A8D2-AEB21EE26F6A}" type="slidenum">
              <a:rPr lang="en-US" altLang="en-US" sz="1200"/>
            </a:fld>
            <a:endParaRPr lang="en-US" altLang="en-US" sz="120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b="1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2661ED2-B1EC-46F8-953E-02CB7FE315D6}" type="slidenum">
              <a:rPr lang="en-US" altLang="en-US"/>
            </a:fld>
            <a:endParaRPr lang="en-US" alt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3688" y="677863"/>
            <a:ext cx="6294437" cy="3541712"/>
          </a:xfrm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8050" y="4446588"/>
            <a:ext cx="5065713" cy="4144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262" tIns="45631" rIns="91262" bIns="45631"/>
          <a:lstStyle/>
          <a:p>
            <a:r>
              <a:rPr lang="en-US" altLang="en-US"/>
              <a:t>Note to self (MK): last part of slide does not clearly match slides that follow</a:t>
            </a:r>
            <a:endParaRPr lang="en-US" altLang="en-US"/>
          </a:p>
          <a:p>
            <a:r>
              <a:rPr lang="en-US" altLang="en-US"/>
              <a:t>Introduction slides: </a:t>
            </a:r>
            <a:endParaRPr lang="en-US" altLang="en-US"/>
          </a:p>
          <a:p>
            <a:r>
              <a:rPr lang="en-US" altLang="en-US"/>
              <a:t>In the current version, we only talk about numeric data.  Can we add some materials about non-numeric data.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  - text statistics, TF/IDF</a:t>
            </a:r>
            <a:endParaRPr lang="en-US" altLang="en-US"/>
          </a:p>
          <a:p>
            <a:r>
              <a:rPr lang="en-US" altLang="en-US"/>
              <a:t>   - visualization of text statistics such as word cloud</a:t>
            </a:r>
            <a:endParaRPr lang="en-US" altLang="en-US"/>
          </a:p>
          <a:p>
            <a:r>
              <a:rPr lang="en-US" altLang="en-US"/>
              <a:t>   - distribution of Internet (IN, SCC, OUT, …)</a:t>
            </a:r>
            <a:endParaRPr lang="en-US" altLang="en-US"/>
          </a:p>
          <a:p>
            <a:r>
              <a:rPr lang="en-US" altLang="en-US"/>
              <a:t>   - visualization of social relationship (e.g., http://renlifang.msra.cn/)</a:t>
            </a:r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A45C59A-5665-4F90-B74D-3558B1173576}" type="slidenum">
              <a:rPr lang="en-US" altLang="en-US"/>
            </a:fld>
            <a:endParaRPr lang="en-US" altLang="en-US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3688" y="677863"/>
            <a:ext cx="6294437" cy="3541712"/>
          </a:xfrm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8050" y="4446588"/>
            <a:ext cx="5065713" cy="4144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262" tIns="45631" rIns="91262" bIns="45631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A45C59A-5665-4F90-B74D-3558B1173576}" type="slidenum">
              <a:rPr lang="en-US" altLang="en-US"/>
            </a:fld>
            <a:endParaRPr lang="en-US" altLang="en-US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3688" y="677863"/>
            <a:ext cx="6294437" cy="3541712"/>
          </a:xfrm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8050" y="4446588"/>
            <a:ext cx="5065713" cy="4144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262" tIns="45631" rIns="91262" bIns="45631"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A45C59A-5665-4F90-B74D-3558B1173576}" type="slidenum">
              <a:rPr lang="en-US" altLang="en-US"/>
            </a:fld>
            <a:endParaRPr lang="en-US" altLang="en-US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3688" y="677863"/>
            <a:ext cx="6294437" cy="3541712"/>
          </a:xfrm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8050" y="4446588"/>
            <a:ext cx="5065713" cy="4144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262" tIns="45631" rIns="91262" bIns="45631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92074F7-FA56-40C6-8B2F-46DCAFDDCD7E}" type="slidenum">
              <a:rPr lang="en-US" altLang="en-US"/>
            </a:fld>
            <a:endParaRPr lang="en-US" altLang="en-US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E8AEE24-0EA3-4E09-9472-5755CE69974E}" type="slidenum">
              <a:rPr lang="en-US" altLang="en-US"/>
            </a:fld>
            <a:endParaRPr lang="en-US" altLang="en-US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2F6A872-0A59-46E4-B192-72E475259C41}" type="slidenum">
              <a:rPr lang="en-US" altLang="en-US"/>
            </a:fld>
            <a:endParaRPr lang="en-US" altLang="en-US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3688" y="677863"/>
            <a:ext cx="6294437" cy="3541712"/>
          </a:xfrm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8050" y="4446588"/>
            <a:ext cx="5065713" cy="4144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262" tIns="45631" rIns="91262" bIns="45631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E6BB24F-7527-415E-A4B4-B132D61B26C9}" type="slidenum">
              <a:rPr lang="en-US" altLang="en-US" smtClean="0">
                <a:solidFill>
                  <a:prstClr val="black"/>
                </a:solidFill>
              </a:rPr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E6BB24F-7527-415E-A4B4-B132D61B26C9}" type="slidenum">
              <a:rPr lang="en-US" altLang="en-US" smtClean="0">
                <a:solidFill>
                  <a:prstClr val="black"/>
                </a:solidFill>
              </a:rPr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E6BB24F-7527-415E-A4B4-B132D61B26C9}" type="slidenum">
              <a:rPr lang="en-US" altLang="en-US" smtClean="0">
                <a:solidFill>
                  <a:prstClr val="black"/>
                </a:solidFill>
              </a:rPr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E6BB24F-7527-415E-A4B4-B132D61B26C9}" type="slidenum">
              <a:rPr lang="en-US" altLang="en-US" smtClean="0">
                <a:solidFill>
                  <a:prstClr val="black"/>
                </a:solidFill>
              </a:rPr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E6BB24F-7527-415E-A4B4-B132D61B26C9}" type="slidenum">
              <a:rPr lang="en-US" altLang="en-US" smtClean="0">
                <a:solidFill>
                  <a:prstClr val="black"/>
                </a:solidFill>
              </a:rPr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E6BB24F-7527-415E-A4B4-B132D61B26C9}" type="slidenum">
              <a:rPr lang="en-US" altLang="en-US" smtClean="0">
                <a:solidFill>
                  <a:prstClr val="black"/>
                </a:solidFill>
              </a:rPr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F9F399F-A00E-42D3-9E81-8DE628E50397}" type="slidenum">
              <a:rPr lang="en-US" altLang="en-US"/>
            </a:fld>
            <a:endParaRPr lang="en-US" altLang="en-US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3688" y="677863"/>
            <a:ext cx="6294437" cy="3541712"/>
          </a:xfrm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8050" y="4446588"/>
            <a:ext cx="5065713" cy="4144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262" tIns="45631" rIns="91262" bIns="45631"/>
          <a:lstStyle/>
          <a:p>
            <a:r>
              <a:rPr lang="en-US" altLang="en-US"/>
              <a:t>JH: Maybe we can remove Loess curve</a:t>
            </a:r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2F6A872-0A59-46E4-B192-72E475259C41}" type="slidenum">
              <a:rPr lang="en-US" altLang="en-US"/>
            </a:fld>
            <a:endParaRPr lang="en-US" altLang="en-US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3688" y="677863"/>
            <a:ext cx="6294437" cy="3541712"/>
          </a:xfrm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8050" y="4446588"/>
            <a:ext cx="5065713" cy="4144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262" tIns="45631" rIns="91262" bIns="45631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231EBFC-A0A4-4E21-B20C-3F4FB1C9CC5D}" type="slidenum">
              <a:rPr lang="en-US" altLang="en-US"/>
            </a:fld>
            <a:endParaRPr lang="en-US" altLang="en-US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/>
              <a:t>JH: A better and BASIC histogram figure --- because this one overlaps with a later one!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DAA24AE-7CD5-425A-9425-01AFA6CA3CB2}" type="slidenum">
              <a:rPr lang="en-US" altLang="en-US"/>
            </a:fld>
            <a:endParaRPr lang="en-US" altLang="en-US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8C8C8CE-F8D8-4175-AD77-519B7DCB72E6}" type="slidenum">
              <a:rPr lang="en-US" altLang="en-US"/>
            </a:fld>
            <a:endParaRPr lang="en-US" altLang="en-US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b="1"/>
              <a:t>Need a better and more MEANINGFUL scatter plot! -JH</a:t>
            </a:r>
            <a:endParaRPr lang="en-US" altLang="en-US" b="1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215AC35-66F9-4340-A1A6-70CB99440241}" type="slidenum">
              <a:rPr lang="en-US" altLang="en-US"/>
            </a:fld>
            <a:endParaRPr lang="en-US" altLang="en-US"/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118F472-7076-4759-839C-B96341DDE640}" type="slidenum">
              <a:rPr lang="en-US" altLang="en-US"/>
            </a:fld>
            <a:endParaRPr lang="en-US" altLang="en-US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18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3218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3218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3218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3218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3218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3218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3218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3218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9BE47E6-A684-41E8-A8D2-AEB21EE26F6A}" type="slidenum">
              <a:rPr lang="en-US" altLang="en-US" sz="1200">
                <a:solidFill>
                  <a:prstClr val="black"/>
                </a:solidFill>
              </a:rPr>
            </a:fld>
            <a:endParaRPr lang="en-US" altLang="en-US" sz="1200">
              <a:solidFill>
                <a:prstClr val="black"/>
              </a:solidFill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b="1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E6BB24F-7527-415E-A4B4-B132D61B26C9}" type="slidenum">
              <a:rPr lang="en-US" altLang="en-US" smtClean="0">
                <a:solidFill>
                  <a:prstClr val="black"/>
                </a:solidFill>
              </a:rPr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E6BB24F-7527-415E-A4B4-B132D61B26C9}" type="slidenum">
              <a:rPr lang="en-US" altLang="en-US" smtClean="0">
                <a:solidFill>
                  <a:prstClr val="black"/>
                </a:solidFill>
              </a:rPr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8C83344-3EC9-4AEF-ACB3-00B66669D043}" type="slidenum">
              <a:rPr lang="en-US" altLang="en-US"/>
            </a:fld>
            <a:endParaRPr lang="en-US" altLang="en-US"/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MK: For lecture, this may be OK here, but I think discussion of standardization/normalization is better kept all together in Chapter 3</a:t>
            </a:r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04C9304-A84E-4F8D-8D41-A10CC12ECD16}" type="slidenum">
              <a:rPr lang="en-US" altLang="en-US">
                <a:solidFill>
                  <a:srgbClr val="000000"/>
                </a:solidFill>
              </a:rPr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57188" y="704850"/>
            <a:ext cx="6172200" cy="3471863"/>
          </a:xfrm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988" y="4416425"/>
            <a:ext cx="5048250" cy="41798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5A4C53A-154B-483F-BB63-C5B68814D43F}" type="slidenum">
              <a:rPr lang="en-US" altLang="en-US">
                <a:solidFill>
                  <a:srgbClr val="000000"/>
                </a:solidFill>
              </a:rPr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5EDAD38-CF67-46E9-8730-3F6A9ACE7D31}" type="slidenum">
              <a:rPr lang="en-US" altLang="en-US">
                <a:solidFill>
                  <a:srgbClr val="000000"/>
                </a:solidFill>
              </a:rPr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 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218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218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85E966D-9331-4C9C-A98B-BCFBB5DDC2FD}" type="slidenum">
              <a:rPr lang="en-US" altLang="en-US">
                <a:solidFill>
                  <a:srgbClr val="000000"/>
                </a:solidFill>
              </a:rPr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57188" y="704850"/>
            <a:ext cx="6172200" cy="3471863"/>
          </a:xfrm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988" y="4416425"/>
            <a:ext cx="5048250" cy="41798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E6BB24F-7527-415E-A4B4-B132D61B26C9}" type="slidenum">
              <a:rPr lang="en-US" altLang="en-US" smtClean="0">
                <a:solidFill>
                  <a:prstClr val="black"/>
                </a:solidFill>
              </a:rPr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E6BB24F-7527-415E-A4B4-B132D61B26C9}" type="slidenum">
              <a:rPr lang="en-US" altLang="en-US" smtClean="0">
                <a:solidFill>
                  <a:prstClr val="black"/>
                </a:solidFill>
              </a:rPr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E6BB24F-7527-415E-A4B4-B132D61B26C9}" type="slidenum">
              <a:rPr lang="en-US" altLang="en-US" smtClean="0">
                <a:solidFill>
                  <a:prstClr val="black"/>
                </a:solidFill>
              </a:rPr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E6BB24F-7527-415E-A4B4-B132D61B26C9}" type="slidenum">
              <a:rPr lang="en-US" altLang="en-US" smtClean="0">
                <a:solidFill>
                  <a:prstClr val="black"/>
                </a:solidFill>
              </a:rPr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E6BB24F-7527-415E-A4B4-B132D61B26C9}" type="slidenum">
              <a:rPr lang="en-US" altLang="en-US" smtClean="0">
                <a:solidFill>
                  <a:prstClr val="black"/>
                </a:solidFill>
              </a:rPr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E6BB24F-7527-415E-A4B4-B132D61B26C9}" type="slidenum">
              <a:rPr lang="en-US" altLang="en-US" smtClean="0">
                <a:solidFill>
                  <a:prstClr val="black"/>
                </a:solidFill>
              </a:rPr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E6BB24F-7527-415E-A4B4-B132D61B26C9}" type="slidenum">
              <a:rPr lang="en-US" altLang="en-US" smtClean="0">
                <a:solidFill>
                  <a:prstClr val="black"/>
                </a:solidFill>
              </a:rPr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4500" y="2343945"/>
            <a:ext cx="11303000" cy="1034256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6600" spc="-51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95871" y="3529775"/>
            <a:ext cx="10058400" cy="782070"/>
          </a:xfrm>
        </p:spPr>
        <p:txBody>
          <a:bodyPr lIns="91436" rIns="91436">
            <a:normAutofit/>
          </a:bodyPr>
          <a:lstStyle>
            <a:lvl1pPr marL="0" indent="0" algn="ctr">
              <a:buNone/>
              <a:defRPr sz="2400" b="1" cap="none" spc="200" baseline="0">
                <a:solidFill>
                  <a:schemeClr val="tx1"/>
                </a:solidFill>
                <a:latin typeface="Berlin Sans FB Demi" panose="020E0802020502020306" pitchFamily="34" charset="0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" y="0"/>
            <a:ext cx="12244106" cy="228147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" y="4463419"/>
            <a:ext cx="12192000" cy="23961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985" y="221676"/>
            <a:ext cx="11369963" cy="738909"/>
          </a:xfrm>
        </p:spPr>
        <p:txBody>
          <a:bodyPr/>
          <a:lstStyle>
            <a:lvl1pPr marL="0">
              <a:defRPr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983" y="1219200"/>
            <a:ext cx="11406908" cy="5384800"/>
          </a:xfrm>
        </p:spPr>
        <p:txBody>
          <a:bodyPr/>
          <a:lstStyle>
            <a:lvl1pPr marL="461645" indent="-461645">
              <a:defRPr sz="2800"/>
            </a:lvl1pPr>
            <a:lvl2pPr marL="737870" indent="-537845">
              <a:defRPr sz="2800"/>
            </a:lvl2pPr>
            <a:lvl3pPr marL="858520" indent="-474345">
              <a:defRPr sz="2800"/>
            </a:lvl3pPr>
            <a:lvl4pPr marL="1144270" indent="-521970">
              <a:defRPr sz="2800"/>
            </a:lvl4pPr>
            <a:lvl5pPr marL="1376045" indent="-508000">
              <a:defRPr sz="28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 Third level</a:t>
            </a:r>
            <a:endParaRPr lang="en-US" dirty="0"/>
          </a:p>
          <a:p>
            <a:pPr lvl="3"/>
            <a:r>
              <a:rPr lang="en-US" dirty="0"/>
              <a:t> Fourth level</a:t>
            </a:r>
            <a:endParaRPr lang="en-US" dirty="0"/>
          </a:p>
          <a:p>
            <a:pPr lvl="4"/>
            <a:r>
              <a:rPr lang="en-US" dirty="0"/>
              <a:t> 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304800"/>
            <a:ext cx="11684000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06400" y="1295400"/>
            <a:ext cx="54864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295400"/>
            <a:ext cx="54864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2061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9652000" y="6477000"/>
            <a:ext cx="25400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D5C0945-3C12-41E7-B090-1D5BB38CB1A8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304800"/>
            <a:ext cx="11684000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06400" y="1295400"/>
            <a:ext cx="54864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096000" y="1295400"/>
            <a:ext cx="54864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096000" y="3962400"/>
            <a:ext cx="54864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Rectangle 2061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9652000" y="6477000"/>
            <a:ext cx="25400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80A1083-1268-4A42-B7F5-4F6EE6F4CD64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" y="304800"/>
            <a:ext cx="11684000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06400" y="1295400"/>
            <a:ext cx="54864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6096000" y="1295400"/>
            <a:ext cx="5486400" cy="51816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2061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9652000" y="6477000"/>
            <a:ext cx="25400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263418DA-E3C5-4DA3-B4BD-88B354425D9E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6400" y="1295400"/>
            <a:ext cx="54864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295400"/>
            <a:ext cx="54864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2061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9652000" y="6477000"/>
            <a:ext cx="25400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3CCF00EA-7FEC-4848-8AE3-5B6199E0A559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203200" y="304800"/>
            <a:ext cx="11684000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06400" y="1295400"/>
            <a:ext cx="54864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096000" y="1295400"/>
            <a:ext cx="54864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06400" y="3962400"/>
            <a:ext cx="54864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6000" y="3962400"/>
            <a:ext cx="54864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2061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9652000" y="6477000"/>
            <a:ext cx="25400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04F52F42-01D7-4758-AD42-3F87F929CD2D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61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9652000" y="6477000"/>
            <a:ext cx="25400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4A7B93CD-F32F-43F2-AB5D-12DAF2074D9B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0985" y="286607"/>
            <a:ext cx="11369963" cy="673979"/>
          </a:xfrm>
          <a:prstGeom prst="rect">
            <a:avLst/>
          </a:prstGeom>
        </p:spPr>
        <p:txBody>
          <a:bodyPr vert="horz" lIns="91436" tIns="45718" rIns="91436" bIns="45718" rtlCol="0" anchor="b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0983" y="1219203"/>
            <a:ext cx="11406908" cy="5209309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/>
          <a:p>
            <a:pPr lvl="0"/>
            <a:r>
              <a:rPr lang="en-US" dirty="0"/>
              <a:t> Click to edit Master text styles</a:t>
            </a:r>
            <a:endParaRPr lang="en-US" dirty="0"/>
          </a:p>
          <a:p>
            <a:pPr lvl="1"/>
            <a:r>
              <a:rPr lang="en-US" dirty="0"/>
              <a:t> Second level</a:t>
            </a:r>
            <a:endParaRPr lang="en-US" dirty="0"/>
          </a:p>
          <a:p>
            <a:pPr lvl="2"/>
            <a:r>
              <a:rPr lang="en-US" dirty="0"/>
              <a:t> Third level</a:t>
            </a:r>
            <a:endParaRPr lang="en-US" dirty="0"/>
          </a:p>
          <a:p>
            <a:pPr lvl="3"/>
            <a:r>
              <a:rPr lang="en-US" dirty="0"/>
              <a:t> Fourth level</a:t>
            </a:r>
            <a:endParaRPr lang="en-US" dirty="0"/>
          </a:p>
          <a:p>
            <a:pPr lvl="4"/>
            <a:r>
              <a:rPr lang="en-US" dirty="0"/>
              <a:t> Fifth level</a:t>
            </a:r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91131" y="1100537"/>
            <a:ext cx="109728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/>
          <p:cNvSpPr txBox="1"/>
          <p:nvPr userDrawn="1"/>
        </p:nvSpPr>
        <p:spPr>
          <a:xfrm>
            <a:off x="0" y="6565686"/>
            <a:ext cx="1066800" cy="273844"/>
          </a:xfrm>
          <a:prstGeom prst="rect">
            <a:avLst/>
          </a:prstGeom>
        </p:spPr>
        <p:txBody>
          <a:bodyPr lIns="91436" tIns="45718" rIns="91436" bIns="45718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4F2234-F0AC-4578-99CD-21C2B01FA7D4}" type="slidenum">
              <a:rPr lang="en-US" sz="1600" b="0" smtClean="0"/>
            </a:fld>
            <a:endParaRPr lang="en-US" sz="1600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400" kern="1200" spc="-51" baseline="0"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Berlin Sans FB Demi" panose="020E0802020502020306" pitchFamily="34" charset="0"/>
          <a:ea typeface="+mj-ea"/>
          <a:cs typeface="+mj-cs"/>
        </a:defRPr>
      </a:lvl1pPr>
    </p:titleStyle>
    <p:bodyStyle>
      <a:lvl1pPr marL="340995" indent="-340995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0000CC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2770" indent="-372745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BD582C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83895" indent="-29972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008080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912495" indent="-290195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FF0000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7432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7030A0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vmlDrawing" Target="../drawings/vmlDrawing1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.GIF"/><Relationship Id="rId5" Type="http://schemas.openxmlformats.org/officeDocument/2006/relationships/image" Target="../media/image5.png"/><Relationship Id="rId4" Type="http://schemas.openxmlformats.org/officeDocument/2006/relationships/image" Target="../media/image4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3.emf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.jpeg"/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GIF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jpeg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4.xml"/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8.w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17.wmf"/><Relationship Id="rId1" Type="http://schemas.openxmlformats.org/officeDocument/2006/relationships/oleObject" Target="../embeddings/oleObject3.bin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21.png"/><Relationship Id="rId2" Type="http://schemas.openxmlformats.org/officeDocument/2006/relationships/image" Target="../media/image20.wmf"/><Relationship Id="rId1" Type="http://schemas.openxmlformats.org/officeDocument/2006/relationships/oleObject" Target="../embeddings/oleObject6.bin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vmlDrawing" Target="../drawings/vmlDrawing4.v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23.jpeg"/><Relationship Id="rId2" Type="http://schemas.openxmlformats.org/officeDocument/2006/relationships/image" Target="../media/image22.wmf"/><Relationship Id="rId1" Type="http://schemas.openxmlformats.org/officeDocument/2006/relationships/oleObject" Target="../embeddings/oleObject7.bin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26.png"/><Relationship Id="rId2" Type="http://schemas.openxmlformats.org/officeDocument/2006/relationships/image" Target="../media/image25.wmf"/><Relationship Id="rId1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9.xml"/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29.wmf"/><Relationship Id="rId3" Type="http://schemas.openxmlformats.org/officeDocument/2006/relationships/oleObject" Target="../embeddings/oleObject9.bin"/><Relationship Id="rId2" Type="http://schemas.openxmlformats.org/officeDocument/2006/relationships/image" Target="../media/image28.wmf"/><Relationship Id="rId1" Type="http://schemas.openxmlformats.org/officeDocument/2006/relationships/oleObject" Target="../embeddings/oleObject8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0.xml"/><Relationship Id="rId7" Type="http://schemas.openxmlformats.org/officeDocument/2006/relationships/vmlDrawing" Target="../drawings/vmlDrawing6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wmf"/><Relationship Id="rId3" Type="http://schemas.openxmlformats.org/officeDocument/2006/relationships/oleObject" Target="../embeddings/oleObject11.bin"/><Relationship Id="rId2" Type="http://schemas.openxmlformats.org/officeDocument/2006/relationships/image" Target="../media/image30.wmf"/><Relationship Id="rId1" Type="http://schemas.openxmlformats.org/officeDocument/2006/relationships/oleObject" Target="../embeddings/oleObject10.bin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1.xml"/><Relationship Id="rId5" Type="http://schemas.openxmlformats.org/officeDocument/2006/relationships/vmlDrawing" Target="../drawings/vmlDrawing7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4.wmf"/><Relationship Id="rId2" Type="http://schemas.openxmlformats.org/officeDocument/2006/relationships/oleObject" Target="../embeddings/oleObject12.bin"/><Relationship Id="rId1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8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4.wmf"/><Relationship Id="rId3" Type="http://schemas.openxmlformats.org/officeDocument/2006/relationships/oleObject" Target="../embeddings/oleObject13.bin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2.xml"/><Relationship Id="rId6" Type="http://schemas.openxmlformats.org/officeDocument/2006/relationships/vmlDrawing" Target="../drawings/vmlDrawing9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7.wmf"/><Relationship Id="rId3" Type="http://schemas.openxmlformats.org/officeDocument/2006/relationships/oleObject" Target="../embeddings/oleObject15.bin"/><Relationship Id="rId2" Type="http://schemas.openxmlformats.org/officeDocument/2006/relationships/image" Target="../media/image34.wmf"/><Relationship Id="rId1" Type="http://schemas.openxmlformats.org/officeDocument/2006/relationships/oleObject" Target="../embeddings/oleObject14.bin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.xml"/><Relationship Id="rId5" Type="http://schemas.openxmlformats.org/officeDocument/2006/relationships/vmlDrawing" Target="../drawings/vmlDrawing10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9.png"/><Relationship Id="rId2" Type="http://schemas.openxmlformats.org/officeDocument/2006/relationships/image" Target="../media/image38.wmf"/><Relationship Id="rId1" Type="http://schemas.openxmlformats.org/officeDocument/2006/relationships/oleObject" Target="../embeddings/oleObject16.bin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vmlDrawing" Target="../drawings/vmlDrawing1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0.png"/><Relationship Id="rId1" Type="http://schemas.openxmlformats.org/officeDocument/2006/relationships/oleObject" Target="../embeddings/oleObject17.bin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5.xml"/><Relationship Id="rId8" Type="http://schemas.openxmlformats.org/officeDocument/2006/relationships/vmlDrawing" Target="../drawings/vmlDrawing12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4.emf"/><Relationship Id="rId5" Type="http://schemas.openxmlformats.org/officeDocument/2006/relationships/image" Target="../media/image43.emf"/><Relationship Id="rId4" Type="http://schemas.openxmlformats.org/officeDocument/2006/relationships/image" Target="../media/image42.wmf"/><Relationship Id="rId3" Type="http://schemas.openxmlformats.org/officeDocument/2006/relationships/oleObject" Target="../embeddings/oleObject19.bin"/><Relationship Id="rId2" Type="http://schemas.openxmlformats.org/officeDocument/2006/relationships/image" Target="../media/image41.wmf"/><Relationship Id="rId1" Type="http://schemas.openxmlformats.org/officeDocument/2006/relationships/oleObject" Target="../embeddings/oleObject18.bin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5.png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8.xml"/><Relationship Id="rId5" Type="http://schemas.openxmlformats.org/officeDocument/2006/relationships/vmlDrawing" Target="../drawings/vmlDrawing13.v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47.png"/><Relationship Id="rId2" Type="http://schemas.openxmlformats.org/officeDocument/2006/relationships/image" Target="../media/image46.emf"/><Relationship Id="rId1" Type="http://schemas.openxmlformats.org/officeDocument/2006/relationships/oleObject" Target="../embeddings/oleObject20.bin"/></Relationships>
</file>

<file path=ppt/slides/_rels/slide3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9.xml"/><Relationship Id="rId6" Type="http://schemas.openxmlformats.org/officeDocument/2006/relationships/vmlDrawing" Target="../drawings/vmlDrawing14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49.wmf"/><Relationship Id="rId3" Type="http://schemas.openxmlformats.org/officeDocument/2006/relationships/oleObject" Target="../embeddings/oleObject22.bin"/><Relationship Id="rId2" Type="http://schemas.openxmlformats.org/officeDocument/2006/relationships/image" Target="../media/image48.wmf"/><Relationship Id="rId1" Type="http://schemas.openxmlformats.org/officeDocument/2006/relationships/oleObject" Target="../embeddings/oleObject21.bin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2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image" Target="../media/image55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5.xml"/><Relationship Id="rId6" Type="http://schemas.openxmlformats.org/officeDocument/2006/relationships/vmlDrawing" Target="../drawings/vmlDrawing15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9.wmf"/><Relationship Id="rId3" Type="http://schemas.openxmlformats.org/officeDocument/2006/relationships/oleObject" Target="../embeddings/oleObject24.bin"/><Relationship Id="rId2" Type="http://schemas.openxmlformats.org/officeDocument/2006/relationships/image" Target="../media/image58.wmf"/><Relationship Id="rId1" Type="http://schemas.openxmlformats.org/officeDocument/2006/relationships/oleObject" Target="../embeddings/oleObject23.bin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image" Target="../media/image63.wmf"/><Relationship Id="rId7" Type="http://schemas.openxmlformats.org/officeDocument/2006/relationships/oleObject" Target="../embeddings/oleObject28.bin"/><Relationship Id="rId6" Type="http://schemas.openxmlformats.org/officeDocument/2006/relationships/image" Target="../media/image62.w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61.wmf"/><Relationship Id="rId3" Type="http://schemas.openxmlformats.org/officeDocument/2006/relationships/oleObject" Target="../embeddings/oleObject26.bin"/><Relationship Id="rId2" Type="http://schemas.openxmlformats.org/officeDocument/2006/relationships/image" Target="../media/image60.wmf"/><Relationship Id="rId11" Type="http://schemas.openxmlformats.org/officeDocument/2006/relationships/notesSlide" Target="../notesSlides/notesSlide36.xml"/><Relationship Id="rId10" Type="http://schemas.openxmlformats.org/officeDocument/2006/relationships/vmlDrawing" Target="../drawings/vmlDrawing16.vml"/><Relationship Id="rId1" Type="http://schemas.openxmlformats.org/officeDocument/2006/relationships/oleObject" Target="../embeddings/oleObject25.bin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7.xml"/><Relationship Id="rId8" Type="http://schemas.openxmlformats.org/officeDocument/2006/relationships/vmlDrawing" Target="../drawings/vmlDrawing17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6.e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65.emf"/><Relationship Id="rId3" Type="http://schemas.openxmlformats.org/officeDocument/2006/relationships/oleObject" Target="../embeddings/oleObject30.bin"/><Relationship Id="rId2" Type="http://schemas.openxmlformats.org/officeDocument/2006/relationships/image" Target="../media/image64.emf"/><Relationship Id="rId1" Type="http://schemas.openxmlformats.org/officeDocument/2006/relationships/oleObject" Target="../embeddings/oleObject29.bin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8.xml"/><Relationship Id="rId4" Type="http://schemas.openxmlformats.org/officeDocument/2006/relationships/vmlDrawing" Target="../drawings/vmlDrawing18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7.wmf"/><Relationship Id="rId1" Type="http://schemas.openxmlformats.org/officeDocument/2006/relationships/oleObject" Target="../embeddings/oleObject32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9.xml"/><Relationship Id="rId7" Type="http://schemas.openxmlformats.org/officeDocument/2006/relationships/vmlDrawing" Target="../drawings/vmlDrawing19.v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70.emf"/><Relationship Id="rId4" Type="http://schemas.openxmlformats.org/officeDocument/2006/relationships/image" Target="../media/image69.wmf"/><Relationship Id="rId3" Type="http://schemas.openxmlformats.org/officeDocument/2006/relationships/oleObject" Target="../embeddings/oleObject34.bin"/><Relationship Id="rId2" Type="http://schemas.openxmlformats.org/officeDocument/2006/relationships/image" Target="../media/image68.wmf"/><Relationship Id="rId1" Type="http://schemas.openxmlformats.org/officeDocument/2006/relationships/oleObject" Target="../embeddings/oleObject33.bin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9.bin"/><Relationship Id="rId8" Type="http://schemas.openxmlformats.org/officeDocument/2006/relationships/image" Target="../media/image74.emf"/><Relationship Id="rId7" Type="http://schemas.openxmlformats.org/officeDocument/2006/relationships/oleObject" Target="../embeddings/oleObject38.bin"/><Relationship Id="rId6" Type="http://schemas.openxmlformats.org/officeDocument/2006/relationships/image" Target="../media/image73.e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72.emf"/><Relationship Id="rId3" Type="http://schemas.openxmlformats.org/officeDocument/2006/relationships/oleObject" Target="../embeddings/oleObject36.bin"/><Relationship Id="rId2" Type="http://schemas.openxmlformats.org/officeDocument/2006/relationships/image" Target="../media/image71.emf"/><Relationship Id="rId13" Type="http://schemas.openxmlformats.org/officeDocument/2006/relationships/notesSlide" Target="../notesSlides/notesSlide40.xml"/><Relationship Id="rId12" Type="http://schemas.openxmlformats.org/officeDocument/2006/relationships/vmlDrawing" Target="../drawings/vmlDrawing20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66.emf"/><Relationship Id="rId1" Type="http://schemas.openxmlformats.org/officeDocument/2006/relationships/oleObject" Target="../embeddings/oleObject35.bin"/></Relationships>
</file>

<file path=ppt/slides/_rels/slide4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1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79.jpeg"/><Relationship Id="rId4" Type="http://schemas.openxmlformats.org/officeDocument/2006/relationships/image" Target="../media/image78.jpeg"/><Relationship Id="rId3" Type="http://schemas.openxmlformats.org/officeDocument/2006/relationships/image" Target="../media/image77.jpeg"/><Relationship Id="rId2" Type="http://schemas.openxmlformats.org/officeDocument/2006/relationships/image" Target="../media/image76.jpeg"/><Relationship Id="rId1" Type="http://schemas.openxmlformats.org/officeDocument/2006/relationships/image" Target="../media/image75.jpe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2.xml"/><Relationship Id="rId7" Type="http://schemas.openxmlformats.org/officeDocument/2006/relationships/vmlDrawing" Target="../drawings/vmlDrawing21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77.jpeg"/><Relationship Id="rId4" Type="http://schemas.openxmlformats.org/officeDocument/2006/relationships/image" Target="../media/image81.wmf"/><Relationship Id="rId3" Type="http://schemas.openxmlformats.org/officeDocument/2006/relationships/oleObject" Target="../embeddings/oleObject41.bin"/><Relationship Id="rId2" Type="http://schemas.openxmlformats.org/officeDocument/2006/relationships/image" Target="../media/image80.wmf"/><Relationship Id="rId1" Type="http://schemas.openxmlformats.org/officeDocument/2006/relationships/oleObject" Target="../embeddings/oleObject40.bin"/></Relationships>
</file>

<file path=ppt/slides/_rels/slide4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3.xml"/><Relationship Id="rId4" Type="http://schemas.openxmlformats.org/officeDocument/2006/relationships/vmlDrawing" Target="../drawings/vmlDrawing2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2.wmf"/><Relationship Id="rId1" Type="http://schemas.openxmlformats.org/officeDocument/2006/relationships/oleObject" Target="../embeddings/oleObject42.bin"/></Relationships>
</file>

<file path=ppt/slides/_rels/slide4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4.xml"/><Relationship Id="rId6" Type="http://schemas.openxmlformats.org/officeDocument/2006/relationships/vmlDrawing" Target="../drawings/vmlDrawing23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4.wmf"/><Relationship Id="rId3" Type="http://schemas.openxmlformats.org/officeDocument/2006/relationships/oleObject" Target="../embeddings/oleObject44.bin"/><Relationship Id="rId2" Type="http://schemas.openxmlformats.org/officeDocument/2006/relationships/image" Target="../media/image83.wmf"/><Relationship Id="rId1" Type="http://schemas.openxmlformats.org/officeDocument/2006/relationships/oleObject" Target="../embeddings/oleObject43.bin"/></Relationships>
</file>

<file path=ppt/slides/_rels/slide4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5.xml"/><Relationship Id="rId6" Type="http://schemas.openxmlformats.org/officeDocument/2006/relationships/vmlDrawing" Target="../drawings/vmlDrawing24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5.wmf"/><Relationship Id="rId3" Type="http://schemas.openxmlformats.org/officeDocument/2006/relationships/oleObject" Target="../embeddings/oleObject46.bin"/><Relationship Id="rId2" Type="http://schemas.openxmlformats.org/officeDocument/2006/relationships/image" Target="../media/image83.wmf"/><Relationship Id="rId1" Type="http://schemas.openxmlformats.org/officeDocument/2006/relationships/oleObject" Target="../embeddings/oleObject45.bin"/></Relationships>
</file>

<file path=ppt/slides/_rels/slide4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6.xml"/><Relationship Id="rId5" Type="http://schemas.openxmlformats.org/officeDocument/2006/relationships/vmlDrawing" Target="../drawings/vmlDrawing25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7.wmf"/><Relationship Id="rId2" Type="http://schemas.openxmlformats.org/officeDocument/2006/relationships/oleObject" Target="../embeddings/oleObject47.bin"/><Relationship Id="rId1" Type="http://schemas.openxmlformats.org/officeDocument/2006/relationships/image" Target="../media/image86.jpeg"/></Relationships>
</file>

<file path=ppt/slides/_rels/slide49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26.v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90.png"/><Relationship Id="rId6" Type="http://schemas.openxmlformats.org/officeDocument/2006/relationships/image" Target="../media/image87.wmf"/><Relationship Id="rId5" Type="http://schemas.openxmlformats.org/officeDocument/2006/relationships/oleObject" Target="../embeddings/oleObject50.bin"/><Relationship Id="rId4" Type="http://schemas.openxmlformats.org/officeDocument/2006/relationships/image" Target="../media/image89.wmf"/><Relationship Id="rId3" Type="http://schemas.openxmlformats.org/officeDocument/2006/relationships/oleObject" Target="../embeddings/oleObject49.bin"/><Relationship Id="rId2" Type="http://schemas.openxmlformats.org/officeDocument/2006/relationships/image" Target="../media/image88.wmf"/><Relationship Id="rId10" Type="http://schemas.openxmlformats.org/officeDocument/2006/relationships/notesSlide" Target="../notesSlides/notesSlide47.xml"/><Relationship Id="rId1" Type="http://schemas.openxmlformats.org/officeDocument/2006/relationships/oleObject" Target="../embeddings/oleObject48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2765425" y="3068955"/>
            <a:ext cx="78162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4800" b="1">
                <a:solidFill>
                  <a:srgbClr val="00B0F0"/>
                </a:solidFill>
              </a:rPr>
              <a:t>Data Understanding </a:t>
            </a:r>
            <a:endParaRPr lang="en-US" sz="4800" b="1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552260" y="0"/>
            <a:ext cx="10976351" cy="1066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b="1" dirty="0"/>
              <a:t>Data, Measurements, and Data Preprocessing</a:t>
            </a:r>
            <a:endParaRPr lang="en-US" altLang="en-US" b="1" dirty="0"/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3388" y="1502875"/>
            <a:ext cx="10865223" cy="4698750"/>
          </a:xfrm>
        </p:spPr>
        <p:txBody>
          <a:bodyPr/>
          <a:lstStyle/>
          <a:p>
            <a:pPr>
              <a:spcBef>
                <a:spcPts val="1200"/>
              </a:spcBef>
              <a:spcAft>
                <a:spcPts val="600"/>
              </a:spcAft>
              <a:tabLst>
                <a:tab pos="6178550" algn="l"/>
              </a:tabLst>
            </a:pPr>
            <a:r>
              <a:rPr lang="en-US" altLang="en-US" b="1" dirty="0"/>
              <a:t>Data Types </a:t>
            </a:r>
            <a:endParaRPr lang="en-US" altLang="en-US" b="1" dirty="0"/>
          </a:p>
          <a:p>
            <a:pPr>
              <a:spcBef>
                <a:spcPts val="1200"/>
              </a:spcBef>
              <a:spcAft>
                <a:spcPts val="600"/>
              </a:spcAft>
              <a:tabLst>
                <a:tab pos="6178550" algn="l"/>
              </a:tabLst>
            </a:pPr>
            <a:r>
              <a:rPr lang="en-US" altLang="en-US" b="1" dirty="0"/>
              <a:t>Statics of Data</a:t>
            </a:r>
            <a:endParaRPr lang="en-US" altLang="en-US" b="1" dirty="0"/>
          </a:p>
          <a:p>
            <a:pPr>
              <a:spcBef>
                <a:spcPts val="1200"/>
              </a:spcBef>
              <a:spcAft>
                <a:spcPts val="600"/>
              </a:spcAft>
              <a:tabLst>
                <a:tab pos="6178550" algn="l"/>
              </a:tabLst>
            </a:pPr>
            <a:r>
              <a:rPr lang="en-US" altLang="en-US" b="1" dirty="0"/>
              <a:t>Similarity and Distance Measures</a:t>
            </a:r>
            <a:endParaRPr lang="en-US" altLang="en-US" b="1" dirty="0"/>
          </a:p>
          <a:p>
            <a:pPr>
              <a:spcBef>
                <a:spcPts val="1200"/>
              </a:spcBef>
              <a:spcAft>
                <a:spcPts val="600"/>
              </a:spcAft>
              <a:tabLst>
                <a:tab pos="6178550" algn="l"/>
              </a:tabLst>
            </a:pPr>
            <a:r>
              <a:rPr lang="en-US" altLang="en-US" b="1" dirty="0"/>
              <a:t>Data Quality, Data Cleaning and Data Integration</a:t>
            </a:r>
            <a:endParaRPr lang="en-US" altLang="en-US" b="1" dirty="0"/>
          </a:p>
          <a:p>
            <a:pPr>
              <a:spcBef>
                <a:spcPts val="1200"/>
              </a:spcBef>
              <a:spcAft>
                <a:spcPts val="600"/>
              </a:spcAft>
              <a:tabLst>
                <a:tab pos="6178550" algn="l"/>
              </a:tabLst>
            </a:pPr>
            <a:r>
              <a:rPr lang="en-US" altLang="en-US" b="1" dirty="0"/>
              <a:t>Data Transformation</a:t>
            </a:r>
            <a:endParaRPr lang="en-US" altLang="en-US" b="1" dirty="0"/>
          </a:p>
          <a:p>
            <a:pPr>
              <a:spcBef>
                <a:spcPts val="1200"/>
              </a:spcBef>
              <a:spcAft>
                <a:spcPts val="600"/>
              </a:spcAft>
              <a:tabLst>
                <a:tab pos="6178550" algn="l"/>
              </a:tabLst>
            </a:pPr>
            <a:r>
              <a:rPr lang="en-US" altLang="en-US" b="1" dirty="0"/>
              <a:t>Dimensionality Reduction</a:t>
            </a:r>
            <a:endParaRPr lang="en-US" altLang="en-US" b="1" dirty="0"/>
          </a:p>
          <a:p>
            <a:pPr>
              <a:spcBef>
                <a:spcPts val="1200"/>
              </a:spcBef>
              <a:spcAft>
                <a:spcPts val="600"/>
              </a:spcAft>
              <a:tabLst>
                <a:tab pos="6178550" algn="l"/>
              </a:tabLst>
            </a:pPr>
            <a:r>
              <a:rPr lang="en-US" b="1" i="0" u="none" strike="noStrike" baseline="0" dirty="0"/>
              <a:t>Summary</a:t>
            </a:r>
            <a:endParaRPr lang="en-US" altLang="en-US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1452282" y="304800"/>
            <a:ext cx="9269506" cy="685800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r>
              <a:rPr lang="en-US" altLang="en-US" dirty="0"/>
              <a:t>Types of Data Sets: (1) Record Data</a:t>
            </a:r>
            <a:endParaRPr lang="en-US" altLang="en-US" dirty="0"/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56664" y="1168214"/>
            <a:ext cx="10954871" cy="5365377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marL="523875" indent="-342900">
              <a:spcBef>
                <a:spcPts val="0"/>
              </a:spcBef>
            </a:pPr>
            <a:r>
              <a:rPr lang="en-US" altLang="en-US" sz="2400" dirty="0">
                <a:cs typeface="Times New Roman" panose="02020603050405020304" pitchFamily="18" charset="0"/>
              </a:rPr>
              <a:t>Relational records</a:t>
            </a:r>
            <a:endParaRPr lang="en-US" altLang="en-US" sz="2400" dirty="0">
              <a:cs typeface="Times New Roman" panose="02020603050405020304" pitchFamily="18" charset="0"/>
            </a:endParaRPr>
          </a:p>
          <a:p>
            <a:pPr marL="800100" lvl="1" indent="-342900">
              <a:spcBef>
                <a:spcPts val="0"/>
              </a:spcBef>
            </a:pPr>
            <a:r>
              <a:rPr lang="en-US" altLang="en-US" sz="2400" dirty="0">
                <a:cs typeface="Times New Roman" panose="02020603050405020304" pitchFamily="18" charset="0"/>
              </a:rPr>
              <a:t>Relational tables, highly structured</a:t>
            </a:r>
            <a:endParaRPr lang="en-US" altLang="en-US" sz="2400" dirty="0">
              <a:cs typeface="Times New Roman" panose="02020603050405020304" pitchFamily="18" charset="0"/>
            </a:endParaRPr>
          </a:p>
          <a:p>
            <a:pPr marL="523875" indent="-342900">
              <a:spcBef>
                <a:spcPts val="0"/>
              </a:spcBef>
            </a:pPr>
            <a:r>
              <a:rPr lang="en-US" altLang="en-US" sz="2400" dirty="0">
                <a:cs typeface="Times New Roman" panose="02020603050405020304" pitchFamily="18" charset="0"/>
              </a:rPr>
              <a:t>Data matrix, e.g., numerical matrix, crosstabs</a:t>
            </a:r>
            <a:endParaRPr lang="en-US" altLang="en-US" sz="2400" dirty="0">
              <a:cs typeface="Times New Roman" panose="02020603050405020304" pitchFamily="18" charset="0"/>
            </a:endParaRPr>
          </a:p>
          <a:p>
            <a:pPr marL="523875" indent="-342900">
              <a:spcBef>
                <a:spcPts val="0"/>
              </a:spcBef>
            </a:pPr>
            <a:endParaRPr lang="en-US" altLang="en-US" sz="2400" dirty="0">
              <a:cs typeface="Times New Roman" panose="02020603050405020304" pitchFamily="18" charset="0"/>
            </a:endParaRPr>
          </a:p>
          <a:p>
            <a:pPr marL="523875" indent="-342900">
              <a:spcBef>
                <a:spcPts val="0"/>
              </a:spcBef>
            </a:pPr>
            <a:endParaRPr lang="en-US" altLang="en-US" sz="2400" dirty="0">
              <a:cs typeface="Times New Roman" panose="02020603050405020304" pitchFamily="18" charset="0"/>
            </a:endParaRPr>
          </a:p>
          <a:p>
            <a:pPr marL="180975" indent="0">
              <a:spcBef>
                <a:spcPts val="0"/>
              </a:spcBef>
              <a:buNone/>
            </a:pPr>
            <a:endParaRPr lang="en-US" altLang="en-US" sz="2400" dirty="0">
              <a:cs typeface="Times New Roman" panose="02020603050405020304" pitchFamily="18" charset="0"/>
            </a:endParaRPr>
          </a:p>
          <a:p>
            <a:pPr marL="523875" indent="-342900">
              <a:spcBef>
                <a:spcPts val="0"/>
              </a:spcBef>
            </a:pPr>
            <a:endParaRPr lang="en-US" altLang="en-US" sz="2400" dirty="0">
              <a:cs typeface="Times New Roman" panose="02020603050405020304" pitchFamily="18" charset="0"/>
            </a:endParaRPr>
          </a:p>
          <a:p>
            <a:pPr marL="523875" indent="-342900">
              <a:spcBef>
                <a:spcPts val="0"/>
              </a:spcBef>
            </a:pPr>
            <a:endParaRPr lang="en-US" altLang="en-US" sz="2400" dirty="0">
              <a:cs typeface="Times New Roman" panose="02020603050405020304" pitchFamily="18" charset="0"/>
            </a:endParaRPr>
          </a:p>
          <a:p>
            <a:pPr marL="523875" indent="-342900">
              <a:spcBef>
                <a:spcPts val="0"/>
              </a:spcBef>
            </a:pPr>
            <a:r>
              <a:rPr lang="en-US" altLang="en-US" sz="2400" dirty="0">
                <a:cs typeface="Times New Roman" panose="02020603050405020304" pitchFamily="18" charset="0"/>
              </a:rPr>
              <a:t>Transaction data</a:t>
            </a:r>
            <a:endParaRPr lang="en-US" altLang="en-US" sz="2400" dirty="0">
              <a:cs typeface="Times New Roman" panose="02020603050405020304" pitchFamily="18" charset="0"/>
            </a:endParaRPr>
          </a:p>
          <a:p>
            <a:pPr marL="523875" indent="-342900">
              <a:spcBef>
                <a:spcPts val="0"/>
              </a:spcBef>
            </a:pPr>
            <a:endParaRPr lang="en-US" altLang="en-US" sz="2400" dirty="0">
              <a:cs typeface="Times New Roman" panose="02020603050405020304" pitchFamily="18" charset="0"/>
            </a:endParaRPr>
          </a:p>
          <a:p>
            <a:pPr marL="523875" indent="-342900">
              <a:spcBef>
                <a:spcPts val="0"/>
              </a:spcBef>
            </a:pPr>
            <a:endParaRPr lang="en-US" altLang="en-US" sz="2400" dirty="0">
              <a:cs typeface="Times New Roman" panose="02020603050405020304" pitchFamily="18" charset="0"/>
            </a:endParaRPr>
          </a:p>
          <a:p>
            <a:pPr marL="180975" indent="0">
              <a:spcBef>
                <a:spcPts val="0"/>
              </a:spcBef>
              <a:buNone/>
            </a:pPr>
            <a:endParaRPr lang="en-US" altLang="en-US" sz="2400" dirty="0">
              <a:cs typeface="Times New Roman" panose="02020603050405020304" pitchFamily="18" charset="0"/>
            </a:endParaRPr>
          </a:p>
          <a:p>
            <a:pPr marL="523875" indent="-342900">
              <a:spcBef>
                <a:spcPts val="0"/>
              </a:spcBef>
            </a:pPr>
            <a:endParaRPr lang="en-US" altLang="en-US" sz="2400" dirty="0">
              <a:cs typeface="Times New Roman" panose="02020603050405020304" pitchFamily="18" charset="0"/>
            </a:endParaRPr>
          </a:p>
          <a:p>
            <a:pPr marL="523875" indent="-342900">
              <a:spcBef>
                <a:spcPts val="0"/>
              </a:spcBef>
            </a:pPr>
            <a:r>
              <a:rPr lang="en-US" altLang="en-US" sz="2400" dirty="0">
                <a:cs typeface="Times New Roman" panose="02020603050405020304" pitchFamily="18" charset="0"/>
              </a:rPr>
              <a:t>Document data: Term-frequency vector (matrix) of text documents</a:t>
            </a:r>
            <a:endParaRPr lang="en-US" altLang="en-US" sz="2400" dirty="0">
              <a:cs typeface="Times New Roman" panose="02020603050405020304" pitchFamily="18" charset="0"/>
            </a:endParaRPr>
          </a:p>
          <a:p>
            <a:pPr marL="523875" indent="-342900">
              <a:spcBef>
                <a:spcPts val="0"/>
              </a:spcBef>
            </a:pPr>
            <a:endParaRPr lang="en-US" altLang="en-US" sz="2400" dirty="0"/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5354451" y="4081502"/>
          <a:ext cx="4117788" cy="18266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Visio" r:id="rId1" imgW="5986145" imgH="2727960" progId="Visio.Drawing.6">
                  <p:embed/>
                </p:oleObj>
              </mc:Choice>
              <mc:Fallback>
                <p:oleObj name="Visio" r:id="rId1" imgW="5986145" imgH="2727960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4451" y="4081502"/>
                        <a:ext cx="4117788" cy="18266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/>
          <p:cNvGraphicFramePr>
            <a:graphicFrameLocks noChangeAspect="1"/>
          </p:cNvGraphicFramePr>
          <p:nvPr/>
        </p:nvGraphicFramePr>
        <p:xfrm>
          <a:off x="1524000" y="4502116"/>
          <a:ext cx="2881406" cy="15065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Document" r:id="rId3" imgW="3823970" imgH="1999615" progId="Word.Document.8">
                  <p:embed/>
                </p:oleObj>
              </mc:Choice>
              <mc:Fallback>
                <p:oleObj name="Document" r:id="rId3" imgW="3823970" imgH="1999615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502116"/>
                        <a:ext cx="2881406" cy="15065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4818" name="Picture 2" descr="http://2.bp.blogspot.com/-HXyE2OrQHKo/Utp0EdlSh7I/AAAAAAAAAK8/fEOu1tXGZEQ/s1600/hvbugogvpujij%5D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1083" y="1168214"/>
            <a:ext cx="4280133" cy="2850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824" name="Picture 8" descr="http://www.ibm.com/support/knowledgecenter/SS4JCV_7.5.5/com.businessobjects.integration.eclipse.designer.doc/html/images/xtab5.gif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0253" y="2289977"/>
            <a:ext cx="4284382" cy="179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656665" y="304800"/>
            <a:ext cx="10954870" cy="685800"/>
          </a:xfrm>
          <a:noFill/>
        </p:spPr>
        <p:txBody>
          <a:bodyPr vert="horz" lIns="92075" tIns="46038" rIns="92075" bIns="46038" rtlCol="0" anchor="ctr">
            <a:normAutofit fontScale="90000"/>
          </a:bodyPr>
          <a:lstStyle/>
          <a:p>
            <a:r>
              <a:rPr lang="en-US" altLang="en-US" dirty="0"/>
              <a:t>Types of Data Sets: (2) Graphs and Networks</a:t>
            </a:r>
            <a:endParaRPr lang="en-US" altLang="en-US" dirty="0"/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56665" y="1116106"/>
            <a:ext cx="8747312" cy="1578968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marL="523875" indent="-342900">
              <a:lnSpc>
                <a:spcPct val="200000"/>
              </a:lnSpc>
              <a:spcBef>
                <a:spcPts val="0"/>
              </a:spcBef>
            </a:pPr>
            <a:r>
              <a:rPr lang="en-US" altLang="en-US" sz="2400" dirty="0">
                <a:cs typeface="Times New Roman" panose="02020603050405020304" pitchFamily="18" charset="0"/>
              </a:rPr>
              <a:t>Transportation network</a:t>
            </a:r>
            <a:endParaRPr lang="en-US" altLang="en-US" sz="2400" dirty="0">
              <a:cs typeface="Times New Roman" panose="02020603050405020304" pitchFamily="18" charset="0"/>
            </a:endParaRPr>
          </a:p>
          <a:p>
            <a:pPr marL="523875" indent="-342900">
              <a:lnSpc>
                <a:spcPct val="200000"/>
              </a:lnSpc>
              <a:spcBef>
                <a:spcPts val="0"/>
              </a:spcBef>
            </a:pPr>
            <a:r>
              <a:rPr lang="en-US" altLang="en-US" sz="2400" dirty="0">
                <a:cs typeface="Times New Roman" panose="02020603050405020304" pitchFamily="18" charset="0"/>
              </a:rPr>
              <a:t>World Wide Web</a:t>
            </a:r>
            <a:endParaRPr lang="en-US" altLang="en-US" sz="2400" dirty="0">
              <a:cs typeface="Times New Roman" panose="02020603050405020304" pitchFamily="18" charset="0"/>
            </a:endParaRPr>
          </a:p>
        </p:txBody>
      </p:sp>
      <p:pic>
        <p:nvPicPr>
          <p:cNvPr id="35846" name="Picture 6" descr="http://www.hotelsneardcmetro.com/wp-content/uploads/2013/03/washington-dc-metro-station-with-hotels-close-by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8974" y="1263315"/>
            <a:ext cx="3110252" cy="2789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848" name="Picture 8" descr="http://www.vlib.us/web/opte.org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7725" y="1232639"/>
            <a:ext cx="2672455" cy="2850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850" name="Picture 10" descr="http://chem.ch.huji.ac.il/pics/bino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418" y="2658018"/>
            <a:ext cx="2842421" cy="2588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656665" y="5156102"/>
            <a:ext cx="4952342" cy="1788460"/>
          </a:xfrm>
          <a:prstGeom prst="rect">
            <a:avLst/>
          </a:prstGeom>
          <a:noFill/>
        </p:spPr>
        <p:txBody>
          <a:bodyPr vert="horz" lIns="92075" tIns="46038" rIns="92075" bIns="46038" rtlCol="0">
            <a:noAutofit/>
          </a:bodyPr>
          <a:lstStyle>
            <a:lvl1pPr marL="461645" indent="-46164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7870" indent="-53784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520" indent="-47434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270" indent="-52197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045" indent="-508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23875" indent="-342900">
              <a:lnSpc>
                <a:spcPct val="200000"/>
              </a:lnSpc>
              <a:spcBef>
                <a:spcPts val="0"/>
              </a:spcBef>
            </a:pPr>
            <a:r>
              <a:rPr lang="en-US" altLang="en-US" sz="2400" dirty="0">
                <a:cs typeface="Times New Roman" panose="02020603050405020304" pitchFamily="18" charset="0"/>
              </a:rPr>
              <a:t>Molecular Structures</a:t>
            </a:r>
            <a:endParaRPr lang="en-US" altLang="en-US" sz="2400" dirty="0">
              <a:cs typeface="Times New Roman" panose="02020603050405020304" pitchFamily="18" charset="0"/>
            </a:endParaRPr>
          </a:p>
          <a:p>
            <a:pPr marL="523875" indent="-342900">
              <a:lnSpc>
                <a:spcPct val="200000"/>
              </a:lnSpc>
              <a:spcBef>
                <a:spcPts val="0"/>
              </a:spcBef>
            </a:pPr>
            <a:r>
              <a:rPr lang="en-US" altLang="en-US" sz="2400" dirty="0">
                <a:cs typeface="Times New Roman" panose="02020603050405020304" pitchFamily="18" charset="0"/>
              </a:rPr>
              <a:t>Social or information networks</a:t>
            </a:r>
            <a:endParaRPr lang="en-US" altLang="en-US" sz="2400" dirty="0">
              <a:cs typeface="Times New Roman" panose="02020603050405020304" pitchFamily="18" charset="0"/>
            </a:endParaRPr>
          </a:p>
        </p:txBody>
      </p:sp>
      <p:pic>
        <p:nvPicPr>
          <p:cNvPr id="35852" name="Picture 12" descr="http://cdn1.tnwcdn.com/wp-content/blogs.dir/1/files/2013/11/social-network-links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9007" y="4199929"/>
            <a:ext cx="4670924" cy="2627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656665" y="304800"/>
            <a:ext cx="10954870" cy="685800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r>
              <a:rPr lang="en-US" altLang="en-US" dirty="0"/>
              <a:t>Types of Data Sets: (3) </a:t>
            </a:r>
            <a:r>
              <a:rPr lang="en-US" altLang="en-US" dirty="0">
                <a:cs typeface="Times New Roman" panose="02020603050405020304" pitchFamily="18" charset="0"/>
              </a:rPr>
              <a:t>Ordered Data</a:t>
            </a:r>
            <a:endParaRPr lang="en-US" altLang="en-US" dirty="0"/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56666" y="1151556"/>
            <a:ext cx="5768198" cy="5525970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marL="523875" indent="-342900">
              <a:spcBef>
                <a:spcPts val="0"/>
              </a:spcBef>
            </a:pPr>
            <a:r>
              <a:rPr lang="en-US" altLang="en-US" sz="2400" dirty="0">
                <a:cs typeface="Times New Roman" panose="02020603050405020304" pitchFamily="18" charset="0"/>
              </a:rPr>
              <a:t>Video data: sequence of images</a:t>
            </a:r>
            <a:endParaRPr lang="en-US" altLang="en-US" sz="2400" dirty="0">
              <a:cs typeface="Times New Roman" panose="02020603050405020304" pitchFamily="18" charset="0"/>
            </a:endParaRPr>
          </a:p>
          <a:p>
            <a:pPr marL="180975" indent="0">
              <a:spcBef>
                <a:spcPts val="0"/>
              </a:spcBef>
              <a:buNone/>
            </a:pPr>
            <a:endParaRPr lang="en-US" altLang="en-US" sz="2400" dirty="0">
              <a:cs typeface="Times New Roman" panose="02020603050405020304" pitchFamily="18" charset="0"/>
            </a:endParaRPr>
          </a:p>
          <a:p>
            <a:pPr marL="523875" indent="-342900">
              <a:spcBef>
                <a:spcPts val="0"/>
              </a:spcBef>
            </a:pPr>
            <a:r>
              <a:rPr lang="en-US" altLang="en-US" sz="2400" dirty="0">
                <a:cs typeface="Times New Roman" panose="02020603050405020304" pitchFamily="18" charset="0"/>
              </a:rPr>
              <a:t>Temporal data: time-series</a:t>
            </a:r>
            <a:endParaRPr lang="en-US" altLang="en-US" sz="2400" dirty="0">
              <a:cs typeface="Times New Roman" panose="02020603050405020304" pitchFamily="18" charset="0"/>
            </a:endParaRPr>
          </a:p>
          <a:p>
            <a:pPr marL="523875" indent="-342900">
              <a:spcBef>
                <a:spcPts val="0"/>
              </a:spcBef>
            </a:pPr>
            <a:endParaRPr lang="en-US" altLang="en-US" sz="2400" dirty="0">
              <a:cs typeface="Times New Roman" panose="02020603050405020304" pitchFamily="18" charset="0"/>
            </a:endParaRPr>
          </a:p>
          <a:p>
            <a:pPr marL="523875" indent="-342900">
              <a:spcBef>
                <a:spcPts val="0"/>
              </a:spcBef>
            </a:pPr>
            <a:endParaRPr lang="en-US" altLang="en-US" sz="2400" dirty="0">
              <a:cs typeface="Times New Roman" panose="02020603050405020304" pitchFamily="18" charset="0"/>
            </a:endParaRPr>
          </a:p>
          <a:p>
            <a:pPr marL="523875" indent="-342900">
              <a:spcBef>
                <a:spcPts val="0"/>
              </a:spcBef>
            </a:pPr>
            <a:endParaRPr lang="en-US" altLang="en-US" sz="2400" dirty="0">
              <a:cs typeface="Times New Roman" panose="02020603050405020304" pitchFamily="18" charset="0"/>
            </a:endParaRPr>
          </a:p>
          <a:p>
            <a:pPr marL="523875" indent="-342900">
              <a:spcBef>
                <a:spcPts val="0"/>
              </a:spcBef>
            </a:pPr>
            <a:endParaRPr lang="en-US" altLang="en-US" sz="2400" dirty="0">
              <a:cs typeface="Times New Roman" panose="02020603050405020304" pitchFamily="18" charset="0"/>
            </a:endParaRPr>
          </a:p>
          <a:p>
            <a:pPr marL="523875" indent="-342900">
              <a:spcBef>
                <a:spcPts val="0"/>
              </a:spcBef>
            </a:pPr>
            <a:endParaRPr lang="en-US" altLang="en-US" sz="2400" dirty="0">
              <a:cs typeface="Times New Roman" panose="02020603050405020304" pitchFamily="18" charset="0"/>
            </a:endParaRPr>
          </a:p>
          <a:p>
            <a:pPr marL="523875" indent="-342900">
              <a:spcBef>
                <a:spcPts val="0"/>
              </a:spcBef>
            </a:pPr>
            <a:endParaRPr lang="en-US" altLang="en-US" sz="2400" dirty="0">
              <a:cs typeface="Times New Roman" panose="02020603050405020304" pitchFamily="18" charset="0"/>
            </a:endParaRPr>
          </a:p>
          <a:p>
            <a:pPr marL="523875" indent="-342900">
              <a:spcBef>
                <a:spcPts val="0"/>
              </a:spcBef>
            </a:pPr>
            <a:endParaRPr lang="en-US" altLang="en-US" sz="2400" dirty="0">
              <a:cs typeface="Times New Roman" panose="02020603050405020304" pitchFamily="18" charset="0"/>
            </a:endParaRPr>
          </a:p>
          <a:p>
            <a:pPr marL="523875" indent="-342900">
              <a:spcBef>
                <a:spcPts val="0"/>
              </a:spcBef>
            </a:pPr>
            <a:r>
              <a:rPr lang="en-US" altLang="en-US" sz="2400" dirty="0">
                <a:cs typeface="Times New Roman" panose="02020603050405020304" pitchFamily="18" charset="0"/>
              </a:rPr>
              <a:t>Sequential Data: transaction sequences</a:t>
            </a:r>
            <a:endParaRPr lang="en-US" altLang="en-US" sz="2400" dirty="0">
              <a:cs typeface="Times New Roman" panose="02020603050405020304" pitchFamily="18" charset="0"/>
            </a:endParaRPr>
          </a:p>
          <a:p>
            <a:pPr marL="180975" indent="0">
              <a:spcBef>
                <a:spcPts val="0"/>
              </a:spcBef>
              <a:buNone/>
            </a:pPr>
            <a:endParaRPr lang="en-US" altLang="en-US" sz="2400" dirty="0">
              <a:cs typeface="Times New Roman" panose="02020603050405020304" pitchFamily="18" charset="0"/>
            </a:endParaRPr>
          </a:p>
          <a:p>
            <a:pPr marL="180975" indent="0">
              <a:spcBef>
                <a:spcPts val="0"/>
              </a:spcBef>
              <a:buNone/>
            </a:pPr>
            <a:endParaRPr lang="en-US" altLang="en-US" sz="2400" dirty="0">
              <a:cs typeface="Times New Roman" panose="02020603050405020304" pitchFamily="18" charset="0"/>
            </a:endParaRPr>
          </a:p>
          <a:p>
            <a:pPr marL="523875" indent="-342900">
              <a:spcBef>
                <a:spcPts val="0"/>
              </a:spcBef>
            </a:pPr>
            <a:r>
              <a:rPr lang="en-US" altLang="en-US" sz="2400" dirty="0">
                <a:cs typeface="Times New Roman" panose="02020603050405020304" pitchFamily="18" charset="0"/>
              </a:rPr>
              <a:t>Genetic sequence data</a:t>
            </a:r>
            <a:endParaRPr lang="en-US" altLang="en-US" sz="2400" dirty="0">
              <a:cs typeface="Times New Roman" panose="02020603050405020304" pitchFamily="18" charset="0"/>
            </a:endParaRPr>
          </a:p>
        </p:txBody>
      </p:sp>
      <p:pic>
        <p:nvPicPr>
          <p:cNvPr id="37892" name="Picture 4" descr="http://www.panspermia.org/cllu2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8612" y="3637815"/>
            <a:ext cx="5179096" cy="3039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894" name="Picture 6" descr="http://www.albertbelle.net/pictures/jimart/belleartbb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9451" y="1684625"/>
            <a:ext cx="6688257" cy="1872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896" name="Picture 8" descr="https://onlinecourses.science.psu.edu/stat510/sites/onlinecourses.science.psu.edu.stat510/files/L01/graph_01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641" y="2474064"/>
            <a:ext cx="3245990" cy="2166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-254670" y="232610"/>
            <a:ext cx="12777537" cy="685800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r>
              <a:rPr lang="en-US" altLang="en-US" sz="3600" dirty="0"/>
              <a:t>Types of Data Sets: (4) </a:t>
            </a:r>
            <a:r>
              <a:rPr lang="en-US" altLang="en-US" sz="3600" dirty="0">
                <a:cs typeface="Times New Roman" panose="02020603050405020304" pitchFamily="18" charset="0"/>
              </a:rPr>
              <a:t>Spatial, image and multimedia Data</a:t>
            </a:r>
            <a:endParaRPr lang="en-US" altLang="en-US" sz="3600" dirty="0"/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56664" y="1204996"/>
            <a:ext cx="3530325" cy="3696527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marL="523875" indent="-342900">
              <a:lnSpc>
                <a:spcPct val="200000"/>
              </a:lnSpc>
              <a:spcBef>
                <a:spcPts val="0"/>
              </a:spcBef>
            </a:pPr>
            <a:r>
              <a:rPr lang="en-US" altLang="en-US" sz="2400" dirty="0">
                <a:cs typeface="Times New Roman" panose="02020603050405020304" pitchFamily="18" charset="0"/>
              </a:rPr>
              <a:t>Spatial data: maps</a:t>
            </a:r>
            <a:endParaRPr lang="en-US" altLang="en-US" sz="2400" dirty="0">
              <a:cs typeface="Times New Roman" panose="02020603050405020304" pitchFamily="18" charset="0"/>
            </a:endParaRPr>
          </a:p>
          <a:p>
            <a:pPr marL="523875" indent="-342900">
              <a:lnSpc>
                <a:spcPct val="200000"/>
              </a:lnSpc>
              <a:spcBef>
                <a:spcPts val="0"/>
              </a:spcBef>
            </a:pPr>
            <a:endParaRPr lang="en-US" altLang="en-US" sz="2400" dirty="0">
              <a:cs typeface="Times New Roman" panose="02020603050405020304" pitchFamily="18" charset="0"/>
            </a:endParaRPr>
          </a:p>
          <a:p>
            <a:pPr marL="523875" indent="-342900">
              <a:lnSpc>
                <a:spcPct val="200000"/>
              </a:lnSpc>
              <a:spcBef>
                <a:spcPts val="0"/>
              </a:spcBef>
            </a:pPr>
            <a:endParaRPr lang="en-US" altLang="en-US" sz="2400" dirty="0">
              <a:cs typeface="Times New Roman" panose="02020603050405020304" pitchFamily="18" charset="0"/>
            </a:endParaRPr>
          </a:p>
          <a:p>
            <a:pPr marL="523875" indent="-342900">
              <a:lnSpc>
                <a:spcPct val="200000"/>
              </a:lnSpc>
              <a:spcBef>
                <a:spcPts val="0"/>
              </a:spcBef>
            </a:pPr>
            <a:endParaRPr lang="en-US" altLang="en-US" sz="2400" dirty="0">
              <a:cs typeface="Times New Roman" panose="02020603050405020304" pitchFamily="18" charset="0"/>
            </a:endParaRPr>
          </a:p>
          <a:p>
            <a:pPr marL="523875" indent="-342900">
              <a:lnSpc>
                <a:spcPct val="200000"/>
              </a:lnSpc>
              <a:spcBef>
                <a:spcPts val="0"/>
              </a:spcBef>
            </a:pPr>
            <a:endParaRPr lang="en-US" altLang="en-US" sz="2400" dirty="0">
              <a:cs typeface="Times New Roman" panose="02020603050405020304" pitchFamily="18" charset="0"/>
            </a:endParaRPr>
          </a:p>
          <a:p>
            <a:pPr marL="523875" indent="-342900">
              <a:lnSpc>
                <a:spcPct val="200000"/>
              </a:lnSpc>
              <a:spcBef>
                <a:spcPts val="0"/>
              </a:spcBef>
            </a:pPr>
            <a:r>
              <a:rPr lang="en-US" altLang="en-US" sz="2400" dirty="0">
                <a:cs typeface="Times New Roman" panose="02020603050405020304" pitchFamily="18" charset="0"/>
              </a:rPr>
              <a:t>Image data: </a:t>
            </a:r>
            <a:endParaRPr lang="en-US" altLang="en-US" sz="2400" dirty="0">
              <a:cs typeface="Times New Roman" panose="02020603050405020304" pitchFamily="18" charset="0"/>
            </a:endParaRPr>
          </a:p>
          <a:p>
            <a:pPr marL="523875" indent="-342900">
              <a:lnSpc>
                <a:spcPct val="200000"/>
              </a:lnSpc>
              <a:spcBef>
                <a:spcPts val="0"/>
              </a:spcBef>
            </a:pPr>
            <a:r>
              <a:rPr lang="en-US" altLang="en-US" sz="2400" dirty="0">
                <a:cs typeface="Times New Roman" panose="02020603050405020304" pitchFamily="18" charset="0"/>
              </a:rPr>
              <a:t>Video data:</a:t>
            </a:r>
            <a:endParaRPr lang="en-US" altLang="en-US" sz="2400" dirty="0">
              <a:cs typeface="Times New Roman" panose="02020603050405020304" pitchFamily="18" charset="0"/>
            </a:endParaRPr>
          </a:p>
        </p:txBody>
      </p:sp>
      <p:pic>
        <p:nvPicPr>
          <p:cNvPr id="36866" name="Picture 2" descr="https://learn.arcgis.com/en/arcgis-book/images/ch5/05-fig-5-4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5586" y="1204996"/>
            <a:ext cx="5305425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868" name="Picture 4" descr="http://nda.membershipsoftware.org/files/iStock_000032315954_Lar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6905" y="1913020"/>
            <a:ext cx="4677193" cy="3116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553453" y="228600"/>
            <a:ext cx="11044989" cy="7620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dirty="0"/>
              <a:t>Important Characteristics of Structured Data</a:t>
            </a:r>
            <a:endParaRPr lang="en-US" altLang="en-US" dirty="0"/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8175" y="1447800"/>
            <a:ext cx="10858500" cy="5029200"/>
          </a:xfrm>
          <a:noFill/>
        </p:spPr>
        <p:txBody>
          <a:bodyPr vert="horz" lIns="90488" tIns="44450" rIns="90488" bIns="44450" rtlCol="0">
            <a:noAutofit/>
          </a:bodyPr>
          <a:lstStyle/>
          <a:p>
            <a:pPr marL="285750" indent="-285750">
              <a:lnSpc>
                <a:spcPct val="115000"/>
              </a:lnSpc>
            </a:pPr>
            <a:r>
              <a:rPr lang="en-US" altLang="en-US" dirty="0"/>
              <a:t> Dimensionality</a:t>
            </a:r>
            <a:endParaRPr lang="en-US" altLang="en-US" dirty="0"/>
          </a:p>
          <a:p>
            <a:pPr marL="800100" lvl="1" indent="-342900">
              <a:lnSpc>
                <a:spcPct val="115000"/>
              </a:lnSpc>
            </a:pPr>
            <a:r>
              <a:rPr lang="en-US" altLang="en-US" dirty="0"/>
              <a:t>Curse of dimensionality</a:t>
            </a:r>
            <a:endParaRPr lang="en-US" altLang="en-US" dirty="0"/>
          </a:p>
          <a:p>
            <a:pPr marL="285750" indent="-285750">
              <a:lnSpc>
                <a:spcPct val="115000"/>
              </a:lnSpc>
            </a:pPr>
            <a:r>
              <a:rPr lang="en-US" altLang="en-US" dirty="0"/>
              <a:t> Sparsity</a:t>
            </a:r>
            <a:endParaRPr lang="en-US" altLang="en-US" dirty="0"/>
          </a:p>
          <a:p>
            <a:pPr marL="800100" lvl="1" indent="-342900">
              <a:lnSpc>
                <a:spcPct val="115000"/>
              </a:lnSpc>
            </a:pPr>
            <a:r>
              <a:rPr lang="en-US" altLang="en-US" dirty="0"/>
              <a:t>Only presence counts</a:t>
            </a:r>
            <a:endParaRPr lang="en-US" altLang="en-US" dirty="0"/>
          </a:p>
          <a:p>
            <a:pPr marL="285750" indent="-285750">
              <a:lnSpc>
                <a:spcPct val="115000"/>
              </a:lnSpc>
            </a:pPr>
            <a:r>
              <a:rPr lang="en-US" altLang="en-US" dirty="0"/>
              <a:t> Resolution</a:t>
            </a:r>
            <a:endParaRPr lang="en-US" altLang="en-US" dirty="0"/>
          </a:p>
          <a:p>
            <a:pPr marL="800100" lvl="1" indent="-342900">
              <a:lnSpc>
                <a:spcPct val="115000"/>
              </a:lnSpc>
            </a:pPr>
            <a:r>
              <a:rPr lang="en-US" altLang="en-US" dirty="0"/>
              <a:t>Patterns depend on the scale</a:t>
            </a:r>
            <a:r>
              <a:rPr lang="en-US" altLang="en-US" sz="3200" dirty="0"/>
              <a:t> </a:t>
            </a:r>
            <a:endParaRPr lang="en-US" altLang="en-US" sz="3200" dirty="0"/>
          </a:p>
          <a:p>
            <a:pPr marL="285750" indent="-285750">
              <a:lnSpc>
                <a:spcPct val="115000"/>
              </a:lnSpc>
            </a:pPr>
            <a:r>
              <a:rPr lang="en-US" altLang="en-US" dirty="0"/>
              <a:t> Distribution</a:t>
            </a:r>
            <a:endParaRPr lang="en-US" altLang="en-US" dirty="0"/>
          </a:p>
          <a:p>
            <a:pPr marL="800100" lvl="1" indent="-342900">
              <a:lnSpc>
                <a:spcPct val="115000"/>
              </a:lnSpc>
            </a:pPr>
            <a:r>
              <a:rPr lang="en-US" altLang="en-US" dirty="0"/>
              <a:t>Centrality and dispersion</a:t>
            </a:r>
            <a:endParaRPr lang="en-US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Data Objects</a:t>
            </a:r>
            <a:endParaRPr lang="en-US" altLang="en-US" dirty="0"/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Data sets are made up of data objects</a:t>
            </a:r>
            <a:endParaRPr lang="en-US" altLang="en-US" sz="2400" dirty="0"/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A </a:t>
            </a:r>
            <a:r>
              <a:rPr lang="en-US" altLang="en-US" sz="2400" b="1" dirty="0"/>
              <a:t>data object</a:t>
            </a:r>
            <a:r>
              <a:rPr lang="en-US" altLang="en-US" sz="2400" dirty="0"/>
              <a:t> represents an entity</a:t>
            </a:r>
            <a:endParaRPr lang="en-US" altLang="en-US" sz="2400" dirty="0"/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Examples: </a:t>
            </a:r>
            <a:endParaRPr lang="en-US" altLang="en-US" sz="2400" dirty="0"/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 dirty="0"/>
              <a:t>sales database:  customers, store items, sales</a:t>
            </a:r>
            <a:endParaRPr lang="en-US" altLang="en-US" sz="2400" dirty="0"/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 dirty="0"/>
              <a:t>medical database: patients, treatments</a:t>
            </a:r>
            <a:endParaRPr lang="en-US" altLang="en-US" sz="2400" dirty="0"/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 dirty="0"/>
              <a:t>university database: students, professors, courses</a:t>
            </a:r>
            <a:endParaRPr lang="en-US" altLang="en-US" sz="2400" dirty="0"/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Also called </a:t>
            </a:r>
            <a:r>
              <a:rPr lang="en-US" altLang="en-US" sz="2400" i="1" dirty="0"/>
              <a:t>samples , examples, instances, data points, objects, tuples</a:t>
            </a:r>
            <a:endParaRPr lang="en-US" altLang="en-US" sz="2400" dirty="0"/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Data objects are described by </a:t>
            </a:r>
            <a:r>
              <a:rPr lang="en-US" altLang="en-US" sz="2400" b="1" dirty="0"/>
              <a:t>attributes</a:t>
            </a:r>
            <a:endParaRPr lang="en-US" altLang="en-US" sz="2400" dirty="0"/>
          </a:p>
          <a:p>
            <a:pPr>
              <a:lnSpc>
                <a:spcPct val="120000"/>
              </a:lnSpc>
            </a:pPr>
            <a:r>
              <a:rPr lang="en-US" altLang="en-US" sz="2400" dirty="0"/>
              <a:t>Database rows </a:t>
            </a:r>
            <a:r>
              <a:rPr lang="en-US" altLang="en-US" sz="2400" dirty="0">
                <a:latin typeface="Calibri" panose="020F0502020204030204" pitchFamily="34" charset="0"/>
              </a:rPr>
              <a:t>→</a:t>
            </a:r>
            <a:r>
              <a:rPr lang="en-US" altLang="en-US" sz="2400" dirty="0"/>
              <a:t> data objects; columns </a:t>
            </a:r>
            <a:r>
              <a:rPr lang="en-US" altLang="en-US" sz="2400" dirty="0">
                <a:latin typeface="Calibri" panose="020F0502020204030204" pitchFamily="34" charset="0"/>
              </a:rPr>
              <a:t>→ </a:t>
            </a:r>
            <a:r>
              <a:rPr lang="en-US" altLang="en-US" sz="2400" dirty="0"/>
              <a:t>attributes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Attributes</a:t>
            </a:r>
            <a:endParaRPr lang="en-US" altLang="en-US" dirty="0"/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0924" y="1175084"/>
            <a:ext cx="11130024" cy="5596908"/>
          </a:xfrm>
        </p:spPr>
        <p:txBody>
          <a:bodyPr/>
          <a:lstStyle/>
          <a:p>
            <a:pPr eaLnBrk="1" hangingPunct="1"/>
            <a:r>
              <a:rPr lang="en-US" altLang="en-US" sz="2400" b="1" dirty="0"/>
              <a:t>Attribute (</a:t>
            </a:r>
            <a:r>
              <a:rPr lang="en-US" altLang="en-US" sz="2400" dirty="0"/>
              <a:t>or</a:t>
            </a:r>
            <a:r>
              <a:rPr lang="en-US" altLang="en-US" sz="2400" b="1" dirty="0"/>
              <a:t> dimensions, features, variables</a:t>
            </a:r>
            <a:r>
              <a:rPr lang="en-US" altLang="en-US" sz="2400" dirty="0"/>
              <a:t>) </a:t>
            </a:r>
            <a:endParaRPr lang="en-US" altLang="en-US" sz="2400" dirty="0"/>
          </a:p>
          <a:p>
            <a:pPr lvl="1"/>
            <a:r>
              <a:rPr lang="en-US" altLang="en-US" sz="2400" dirty="0"/>
              <a:t>A data field, representing a characteristic or feature of a data object.</a:t>
            </a:r>
            <a:endParaRPr lang="en-US" altLang="en-US" sz="2400" dirty="0"/>
          </a:p>
          <a:p>
            <a:pPr lvl="1" eaLnBrk="1" hangingPunct="1"/>
            <a:r>
              <a:rPr lang="en-US" altLang="en-US" sz="2400" i="1" dirty="0"/>
              <a:t>E.g., customer _ID, name, address</a:t>
            </a:r>
            <a:endParaRPr lang="en-US" altLang="en-US" sz="2400" i="1" dirty="0"/>
          </a:p>
          <a:p>
            <a:pPr eaLnBrk="1" hangingPunct="1"/>
            <a:r>
              <a:rPr lang="en-US" altLang="en-US" sz="2400" dirty="0"/>
              <a:t>Types:</a:t>
            </a:r>
            <a:endParaRPr lang="en-US" altLang="en-US" sz="2400" dirty="0"/>
          </a:p>
          <a:p>
            <a:pPr lvl="1" eaLnBrk="1" hangingPunct="1"/>
            <a:r>
              <a:rPr lang="en-US" altLang="en-US" sz="2400" dirty="0"/>
              <a:t>Nominal (e.g., red, blue)</a:t>
            </a:r>
            <a:endParaRPr lang="en-US" altLang="en-US" sz="2400" dirty="0"/>
          </a:p>
          <a:p>
            <a:pPr lvl="1" eaLnBrk="1" hangingPunct="1"/>
            <a:r>
              <a:rPr lang="en-US" altLang="en-US" sz="2400" dirty="0"/>
              <a:t>Binary (e.g., {true, false})</a:t>
            </a:r>
            <a:endParaRPr lang="en-US" altLang="en-US" sz="2400" dirty="0"/>
          </a:p>
          <a:p>
            <a:pPr lvl="1" eaLnBrk="1" hangingPunct="1"/>
            <a:r>
              <a:rPr lang="en-US" altLang="en-US" sz="2400" dirty="0"/>
              <a:t>Ordinal (e.g., {freshman, sophomore, junior, senior})</a:t>
            </a:r>
            <a:endParaRPr lang="en-US" altLang="en-US" sz="2400" dirty="0"/>
          </a:p>
          <a:p>
            <a:pPr lvl="1" eaLnBrk="1" hangingPunct="1"/>
            <a:r>
              <a:rPr lang="en-US" altLang="en-US" sz="2400" dirty="0"/>
              <a:t>Numeric: quantitative</a:t>
            </a:r>
            <a:endParaRPr lang="en-US" altLang="en-US" sz="2400" dirty="0"/>
          </a:p>
          <a:p>
            <a:pPr lvl="2" eaLnBrk="1" hangingPunct="1"/>
            <a:r>
              <a:rPr lang="en-US" altLang="en-US" sz="2400" dirty="0"/>
              <a:t>Interval-scaled: 100</a:t>
            </a:r>
            <a:r>
              <a:rPr lang="en-US" altLang="en-US" sz="2400" baseline="30000" dirty="0"/>
              <a:t>○</a:t>
            </a:r>
            <a:r>
              <a:rPr lang="en-US" altLang="en-US" sz="2400" dirty="0"/>
              <a:t>C is interval scales</a:t>
            </a:r>
            <a:endParaRPr lang="en-US" altLang="en-US" sz="2400" dirty="0"/>
          </a:p>
          <a:p>
            <a:pPr lvl="2"/>
            <a:r>
              <a:rPr lang="en-US" altLang="en-US" sz="2400" dirty="0"/>
              <a:t>Ratio-scaled: 100</a:t>
            </a:r>
            <a:r>
              <a:rPr lang="en-US" altLang="en-US" sz="2400" baseline="30000" dirty="0"/>
              <a:t>○</a:t>
            </a:r>
            <a:r>
              <a:rPr lang="en-US" altLang="en-US" sz="2400" dirty="0"/>
              <a:t>K is ratio scaled since it is twice as high as 50</a:t>
            </a:r>
            <a:r>
              <a:rPr lang="en-US" altLang="en-US" sz="2400" baseline="30000" dirty="0"/>
              <a:t> ○</a:t>
            </a:r>
            <a:r>
              <a:rPr lang="en-US" altLang="en-US" sz="2400" dirty="0"/>
              <a:t>K</a:t>
            </a:r>
            <a:endParaRPr lang="en-US" altLang="en-US" sz="2400" dirty="0"/>
          </a:p>
          <a:p>
            <a:pPr lvl="1"/>
            <a:r>
              <a:rPr lang="en-US" sz="2400" dirty="0"/>
              <a:t>Discrete vs. Continuous Attributes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Attribute Types </a:t>
            </a:r>
            <a:endParaRPr lang="en-US" altLang="en-US" dirty="0"/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9583" y="1152525"/>
            <a:ext cx="10907567" cy="5562600"/>
          </a:xfrm>
        </p:spPr>
        <p:txBody>
          <a:bodyPr/>
          <a:lstStyle/>
          <a:p>
            <a:pPr marL="292100" indent="-292100">
              <a:lnSpc>
                <a:spcPct val="90000"/>
              </a:lnSpc>
            </a:pPr>
            <a:r>
              <a:rPr lang="en-US" altLang="en-US" sz="2400" b="1" dirty="0"/>
              <a:t>Nominal:</a:t>
            </a:r>
            <a:r>
              <a:rPr lang="en-US" altLang="en-US" sz="2400" dirty="0"/>
              <a:t> categories, states, or “names of things”</a:t>
            </a:r>
            <a:endParaRPr lang="en-US" altLang="en-US" sz="2400" dirty="0"/>
          </a:p>
          <a:p>
            <a:pPr marL="749300" lvl="1" indent="-342900">
              <a:lnSpc>
                <a:spcPct val="90000"/>
              </a:lnSpc>
            </a:pPr>
            <a:r>
              <a:rPr lang="en-US" altLang="en-US" sz="2400" i="1" dirty="0" err="1"/>
              <a:t>Hair_color</a:t>
            </a:r>
            <a:r>
              <a:rPr lang="en-US" altLang="en-US" sz="2400" i="1" dirty="0"/>
              <a:t> = </a:t>
            </a:r>
            <a:r>
              <a:rPr lang="en-US" altLang="en-US" sz="2400" dirty="0"/>
              <a:t>{</a:t>
            </a:r>
            <a:r>
              <a:rPr lang="en-US" altLang="en-US" sz="2400" i="1" dirty="0"/>
              <a:t>auburn, black, blond, brown, grey, red, white</a:t>
            </a:r>
            <a:r>
              <a:rPr lang="en-US" altLang="en-US" sz="2400" dirty="0"/>
              <a:t>}</a:t>
            </a:r>
            <a:endParaRPr lang="en-US" altLang="en-US" sz="2400" dirty="0"/>
          </a:p>
          <a:p>
            <a:pPr marL="749300" lvl="1" indent="-342900">
              <a:lnSpc>
                <a:spcPct val="90000"/>
              </a:lnSpc>
            </a:pPr>
            <a:r>
              <a:rPr lang="en-US" altLang="en-US" sz="2400" dirty="0"/>
              <a:t>marital status, occupation, ID numbers, zip codes</a:t>
            </a:r>
            <a:endParaRPr lang="en-US" altLang="en-US" sz="2400" dirty="0"/>
          </a:p>
          <a:p>
            <a:pPr marL="292100" indent="-292100">
              <a:lnSpc>
                <a:spcPct val="90000"/>
              </a:lnSpc>
            </a:pPr>
            <a:r>
              <a:rPr lang="en-US" altLang="en-US" sz="2400" b="1" dirty="0"/>
              <a:t>Binary</a:t>
            </a:r>
            <a:endParaRPr lang="en-US" altLang="en-US" sz="2400" b="1" dirty="0"/>
          </a:p>
          <a:p>
            <a:pPr marL="749300" lvl="1" indent="-342900">
              <a:lnSpc>
                <a:spcPct val="90000"/>
              </a:lnSpc>
            </a:pPr>
            <a:r>
              <a:rPr lang="en-US" altLang="en-US" sz="2400" dirty="0"/>
              <a:t>Nominal attribute with only 2 states (0 and 1)</a:t>
            </a:r>
            <a:endParaRPr lang="en-US" altLang="en-US" sz="2400" dirty="0"/>
          </a:p>
          <a:p>
            <a:pPr marL="749300" lvl="1" indent="-342900">
              <a:lnSpc>
                <a:spcPct val="90000"/>
              </a:lnSpc>
            </a:pPr>
            <a:r>
              <a:rPr lang="en-US" altLang="en-US" sz="2400" u="sng" dirty="0"/>
              <a:t>Symmetric binary</a:t>
            </a:r>
            <a:r>
              <a:rPr lang="en-US" altLang="en-US" sz="2400" dirty="0"/>
              <a:t>: both outcomes equally important</a:t>
            </a:r>
            <a:endParaRPr lang="en-US" altLang="en-US" sz="2400" dirty="0"/>
          </a:p>
          <a:p>
            <a:pPr marL="1257300" lvl="2" indent="-393700">
              <a:lnSpc>
                <a:spcPct val="90000"/>
              </a:lnSpc>
            </a:pPr>
            <a:r>
              <a:rPr lang="en-US" altLang="en-US" sz="2400" dirty="0"/>
              <a:t>e.g., gender</a:t>
            </a:r>
            <a:endParaRPr lang="en-US" altLang="en-US" sz="2400" dirty="0"/>
          </a:p>
          <a:p>
            <a:pPr marL="749300" lvl="1" indent="-342900">
              <a:lnSpc>
                <a:spcPct val="90000"/>
              </a:lnSpc>
            </a:pPr>
            <a:r>
              <a:rPr lang="en-US" altLang="en-US" sz="2400" u="sng" dirty="0"/>
              <a:t>Asymmetric binary</a:t>
            </a:r>
            <a:r>
              <a:rPr lang="en-US" altLang="en-US" sz="2400" dirty="0"/>
              <a:t>: outcomes not equally important.  </a:t>
            </a:r>
            <a:endParaRPr lang="en-US" altLang="en-US" sz="2400" dirty="0"/>
          </a:p>
          <a:p>
            <a:pPr marL="1257300" lvl="2" indent="-393700">
              <a:lnSpc>
                <a:spcPct val="90000"/>
              </a:lnSpc>
            </a:pPr>
            <a:r>
              <a:rPr lang="en-US" altLang="en-US" sz="2400" dirty="0"/>
              <a:t>e.g., medical test (positive vs. negative)</a:t>
            </a:r>
            <a:endParaRPr lang="en-US" altLang="en-US" sz="2400" dirty="0"/>
          </a:p>
          <a:p>
            <a:pPr marL="1257300" lvl="2" indent="-393700">
              <a:lnSpc>
                <a:spcPct val="90000"/>
              </a:lnSpc>
            </a:pPr>
            <a:r>
              <a:rPr lang="en-US" altLang="en-US" sz="2400" dirty="0"/>
              <a:t>Convention: assign 1 to most important outcome (e.g., HIV positive)</a:t>
            </a:r>
            <a:endParaRPr lang="en-US" altLang="en-US" sz="2400" dirty="0"/>
          </a:p>
          <a:p>
            <a:pPr marL="292100" indent="-292100">
              <a:lnSpc>
                <a:spcPct val="90000"/>
              </a:lnSpc>
            </a:pPr>
            <a:r>
              <a:rPr lang="en-US" altLang="en-US" sz="2400" b="1" dirty="0"/>
              <a:t>Ordinal</a:t>
            </a:r>
            <a:endParaRPr lang="en-US" altLang="en-US" sz="2400" b="1" dirty="0"/>
          </a:p>
          <a:p>
            <a:pPr marL="749300" lvl="1" indent="-342900">
              <a:lnSpc>
                <a:spcPct val="90000"/>
              </a:lnSpc>
            </a:pPr>
            <a:r>
              <a:rPr lang="en-US" altLang="en-US" sz="2400" dirty="0"/>
              <a:t>Values have a meaningful order (ranking) but magnitude between successive values is not known</a:t>
            </a:r>
            <a:endParaRPr lang="en-US" altLang="en-US" sz="2400" dirty="0"/>
          </a:p>
          <a:p>
            <a:pPr marL="749300" lvl="1" indent="-342900">
              <a:lnSpc>
                <a:spcPct val="90000"/>
              </a:lnSpc>
            </a:pPr>
            <a:r>
              <a:rPr lang="en-US" altLang="en-US" sz="2400" i="1" dirty="0"/>
              <a:t>Size = </a:t>
            </a:r>
            <a:r>
              <a:rPr lang="en-US" altLang="en-US" sz="2400" dirty="0"/>
              <a:t>{</a:t>
            </a:r>
            <a:r>
              <a:rPr lang="en-US" altLang="en-US" sz="2400" i="1" dirty="0"/>
              <a:t>small, medium, large</a:t>
            </a:r>
            <a:r>
              <a:rPr lang="en-US" altLang="en-US" sz="2400" dirty="0"/>
              <a:t>}</a:t>
            </a:r>
            <a:r>
              <a:rPr lang="en-US" altLang="en-US" sz="2400" i="1" dirty="0"/>
              <a:t>,</a:t>
            </a:r>
            <a:r>
              <a:rPr lang="en-US" altLang="en-US" sz="2400" dirty="0"/>
              <a:t> grades, army rankings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Numeric Attribute Types </a:t>
            </a:r>
            <a:endParaRPr lang="en-US" altLang="en-US" dirty="0"/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2903" y="1142999"/>
            <a:ext cx="10923297" cy="5591175"/>
          </a:xfrm>
        </p:spPr>
        <p:txBody>
          <a:bodyPr/>
          <a:lstStyle/>
          <a:p>
            <a:pPr marL="292100" indent="-292100">
              <a:spcAft>
                <a:spcPts val="600"/>
              </a:spcAft>
            </a:pPr>
            <a:r>
              <a:rPr lang="en-US" altLang="en-US" sz="2400" dirty="0"/>
              <a:t>Quantity (integer or real-valued)</a:t>
            </a:r>
            <a:endParaRPr lang="en-US" altLang="en-US" sz="2400" dirty="0"/>
          </a:p>
          <a:p>
            <a:pPr marL="292100" indent="-292100">
              <a:spcAft>
                <a:spcPts val="600"/>
              </a:spcAft>
            </a:pPr>
            <a:r>
              <a:rPr lang="en-US" altLang="en-US" sz="2400" b="1" dirty="0"/>
              <a:t>Interval</a:t>
            </a:r>
            <a:endParaRPr lang="en-US" altLang="en-US" sz="2400" b="1" dirty="0"/>
          </a:p>
          <a:p>
            <a:pPr marL="1257300" lvl="2" indent="-393700">
              <a:spcAft>
                <a:spcPts val="600"/>
              </a:spcAft>
            </a:pPr>
            <a:r>
              <a:rPr lang="en-US" altLang="en-US" sz="2400" dirty="0"/>
              <a:t>Measured on a scale of </a:t>
            </a:r>
            <a:r>
              <a:rPr lang="en-US" altLang="en-US" sz="2400" b="1" dirty="0"/>
              <a:t>equal-sized units</a:t>
            </a:r>
            <a:endParaRPr lang="en-US" altLang="en-US" sz="2400" b="1" dirty="0"/>
          </a:p>
          <a:p>
            <a:pPr marL="1257300" lvl="2" indent="-393700">
              <a:spcAft>
                <a:spcPts val="600"/>
              </a:spcAft>
            </a:pPr>
            <a:r>
              <a:rPr lang="en-US" altLang="en-US" sz="2400" dirty="0"/>
              <a:t>Values have order</a:t>
            </a:r>
            <a:endParaRPr lang="en-US" altLang="en-US" sz="2400" dirty="0"/>
          </a:p>
          <a:p>
            <a:pPr marL="1714500" lvl="3" indent="-393700">
              <a:spcAft>
                <a:spcPts val="600"/>
              </a:spcAft>
            </a:pPr>
            <a:r>
              <a:rPr lang="en-US" altLang="en-US" sz="2400" dirty="0"/>
              <a:t>E.g., </a:t>
            </a:r>
            <a:r>
              <a:rPr lang="en-US" altLang="en-US" sz="2400" i="1" dirty="0"/>
              <a:t>temperature in </a:t>
            </a:r>
            <a:r>
              <a:rPr lang="en-US" altLang="en-US" sz="2400" i="1" dirty="0" err="1"/>
              <a:t>C</a:t>
            </a:r>
            <a:r>
              <a:rPr lang="en-US" altLang="en-US" sz="2400" i="1" dirty="0" err="1">
                <a:cs typeface="Tahoma" panose="020B0604030504040204" pitchFamily="34" charset="0"/>
              </a:rPr>
              <a:t>˚</a:t>
            </a:r>
            <a:r>
              <a:rPr lang="en-US" altLang="en-US" sz="2400" i="1" dirty="0" err="1"/>
              <a:t>or</a:t>
            </a:r>
            <a:r>
              <a:rPr lang="en-US" altLang="en-US" sz="2400" i="1" dirty="0"/>
              <a:t> F</a:t>
            </a:r>
            <a:r>
              <a:rPr lang="en-US" altLang="en-US" sz="2400" i="1" dirty="0">
                <a:cs typeface="Tahoma" panose="020B0604030504040204" pitchFamily="34" charset="0"/>
              </a:rPr>
              <a:t>˚</a:t>
            </a:r>
            <a:r>
              <a:rPr lang="en-US" altLang="en-US" sz="2400" i="1" dirty="0"/>
              <a:t>, calendar dates</a:t>
            </a:r>
            <a:endParaRPr lang="en-US" altLang="en-US" sz="2400" i="1" dirty="0"/>
          </a:p>
          <a:p>
            <a:pPr marL="1257300" lvl="2" indent="-393700">
              <a:spcAft>
                <a:spcPts val="600"/>
              </a:spcAft>
            </a:pPr>
            <a:r>
              <a:rPr lang="en-US" altLang="en-US" sz="2400" dirty="0"/>
              <a:t>No true zero-point</a:t>
            </a:r>
            <a:endParaRPr lang="en-US" altLang="en-US" sz="2400" dirty="0"/>
          </a:p>
          <a:p>
            <a:pPr marL="292100" indent="-292100">
              <a:spcAft>
                <a:spcPts val="600"/>
              </a:spcAft>
            </a:pPr>
            <a:r>
              <a:rPr lang="en-US" altLang="en-US" sz="2400" b="1" dirty="0"/>
              <a:t>Ratio</a:t>
            </a:r>
            <a:endParaRPr lang="en-US" altLang="en-US" sz="2400" b="1" dirty="0"/>
          </a:p>
          <a:p>
            <a:pPr marL="1257300" lvl="2" indent="-393700">
              <a:spcAft>
                <a:spcPts val="600"/>
              </a:spcAft>
            </a:pPr>
            <a:r>
              <a:rPr lang="en-US" altLang="en-US" sz="2400" dirty="0"/>
              <a:t>Inherent </a:t>
            </a:r>
            <a:r>
              <a:rPr lang="en-US" altLang="en-US" sz="2400" b="1" dirty="0"/>
              <a:t>zero-point</a:t>
            </a:r>
            <a:endParaRPr lang="en-US" altLang="en-US" sz="2400" b="1" dirty="0"/>
          </a:p>
          <a:p>
            <a:pPr marL="1257300" lvl="2" indent="-393700">
              <a:spcAft>
                <a:spcPts val="600"/>
              </a:spcAft>
            </a:pPr>
            <a:r>
              <a:rPr lang="en-US" altLang="en-US" sz="2400" dirty="0"/>
              <a:t>We can speak of values as being an order of magnitude larger than the unit of measurement (10 K</a:t>
            </a:r>
            <a:r>
              <a:rPr lang="en-US" altLang="en-US" sz="2400" dirty="0">
                <a:cs typeface="Tahoma" panose="020B0604030504040204" pitchFamily="34" charset="0"/>
              </a:rPr>
              <a:t>˚</a:t>
            </a:r>
            <a:r>
              <a:rPr lang="en-US" altLang="en-US" sz="2400" dirty="0"/>
              <a:t> is twice as high as 5 K</a:t>
            </a:r>
            <a:r>
              <a:rPr lang="en-US" altLang="en-US" sz="2400" dirty="0">
                <a:cs typeface="Tahoma" panose="020B0604030504040204" pitchFamily="34" charset="0"/>
              </a:rPr>
              <a:t>˚</a:t>
            </a:r>
            <a:r>
              <a:rPr lang="en-US" altLang="en-US" sz="2400" dirty="0"/>
              <a:t>).</a:t>
            </a:r>
            <a:endParaRPr lang="en-US" altLang="en-US" sz="2400" dirty="0"/>
          </a:p>
          <a:p>
            <a:pPr marL="1714500" lvl="3" indent="-393700">
              <a:spcAft>
                <a:spcPts val="600"/>
              </a:spcAft>
            </a:pPr>
            <a:r>
              <a:rPr lang="en-US" altLang="en-US" sz="2400" dirty="0"/>
              <a:t>e.g., </a:t>
            </a:r>
            <a:r>
              <a:rPr lang="en-US" altLang="en-US" sz="2400" i="1" dirty="0"/>
              <a:t>temperature in Kelvin, length, counts, monetary quantities</a:t>
            </a:r>
            <a:endParaRPr lang="en-US" altLang="en-US" sz="2400" i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Discrete vs. Continuous Attributes </a:t>
            </a:r>
            <a:endParaRPr lang="en-US" altLang="en-US"/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5753" y="1171575"/>
            <a:ext cx="11094747" cy="5524500"/>
          </a:xfrm>
        </p:spPr>
        <p:txBody>
          <a:bodyPr/>
          <a:lstStyle/>
          <a:p>
            <a:pPr eaLnBrk="1" hangingPunct="1">
              <a:spcAft>
                <a:spcPts val="600"/>
              </a:spcAft>
            </a:pPr>
            <a:r>
              <a:rPr lang="en-US" altLang="en-US" sz="2400" b="1" dirty="0"/>
              <a:t>Discrete</a:t>
            </a:r>
            <a:r>
              <a:rPr lang="en-US" altLang="en-US" sz="2400" dirty="0"/>
              <a:t> </a:t>
            </a:r>
            <a:r>
              <a:rPr lang="en-US" altLang="en-US" sz="2400" b="1" dirty="0"/>
              <a:t>Attribute</a:t>
            </a:r>
            <a:endParaRPr lang="en-US" altLang="en-US" sz="2400" b="1" dirty="0"/>
          </a:p>
          <a:p>
            <a:pPr lvl="1" eaLnBrk="1" hangingPunct="1">
              <a:spcAft>
                <a:spcPts val="600"/>
              </a:spcAft>
            </a:pPr>
            <a:r>
              <a:rPr lang="en-US" altLang="en-US" sz="2400" dirty="0"/>
              <a:t>Has only a finite or countably infinite set of values</a:t>
            </a:r>
            <a:endParaRPr lang="en-US" altLang="en-US" sz="2400" dirty="0"/>
          </a:p>
          <a:p>
            <a:pPr lvl="2" eaLnBrk="1" hangingPunct="1">
              <a:spcAft>
                <a:spcPts val="600"/>
              </a:spcAft>
            </a:pPr>
            <a:r>
              <a:rPr lang="en-US" altLang="en-US" sz="2400" dirty="0"/>
              <a:t>E.g., zip codes, profession, or the set of words in a collection of documents </a:t>
            </a:r>
            <a:endParaRPr lang="en-US" altLang="en-US" sz="2400" dirty="0"/>
          </a:p>
          <a:p>
            <a:pPr lvl="1" eaLnBrk="1" hangingPunct="1">
              <a:spcAft>
                <a:spcPts val="600"/>
              </a:spcAft>
            </a:pPr>
            <a:r>
              <a:rPr lang="en-US" altLang="en-US" sz="2400" dirty="0"/>
              <a:t>Sometimes, represented as integer variables</a:t>
            </a:r>
            <a:endParaRPr lang="en-US" altLang="en-US" sz="2400" dirty="0"/>
          </a:p>
          <a:p>
            <a:pPr lvl="1" eaLnBrk="1" hangingPunct="1">
              <a:spcAft>
                <a:spcPts val="600"/>
              </a:spcAft>
            </a:pPr>
            <a:r>
              <a:rPr lang="en-US" altLang="en-US" sz="2400" dirty="0"/>
              <a:t>Note: Binary attributes are a special case of discrete attributes </a:t>
            </a:r>
            <a:endParaRPr lang="en-US" altLang="en-US" sz="2400" dirty="0"/>
          </a:p>
          <a:p>
            <a:pPr eaLnBrk="1" hangingPunct="1">
              <a:spcAft>
                <a:spcPts val="600"/>
              </a:spcAft>
            </a:pPr>
            <a:r>
              <a:rPr lang="en-US" altLang="en-US" sz="2400" b="1" dirty="0"/>
              <a:t>Continuous</a:t>
            </a:r>
            <a:r>
              <a:rPr lang="en-US" altLang="en-US" sz="2400" dirty="0"/>
              <a:t> </a:t>
            </a:r>
            <a:r>
              <a:rPr lang="en-US" altLang="en-US" sz="2400" b="1" dirty="0"/>
              <a:t>Attribute</a:t>
            </a:r>
            <a:endParaRPr lang="en-US" altLang="en-US" sz="2400" b="1" dirty="0"/>
          </a:p>
          <a:p>
            <a:pPr lvl="1" eaLnBrk="1" hangingPunct="1">
              <a:spcAft>
                <a:spcPts val="600"/>
              </a:spcAft>
            </a:pPr>
            <a:r>
              <a:rPr lang="en-US" altLang="en-US" sz="2400" dirty="0"/>
              <a:t>Has real numbers as attribute values</a:t>
            </a:r>
            <a:endParaRPr lang="en-US" altLang="en-US" sz="2400" dirty="0"/>
          </a:p>
          <a:p>
            <a:pPr lvl="2" eaLnBrk="1" hangingPunct="1">
              <a:spcAft>
                <a:spcPts val="600"/>
              </a:spcAft>
            </a:pPr>
            <a:r>
              <a:rPr lang="en-US" altLang="en-US" sz="2400" dirty="0"/>
              <a:t>E.g., temperature, height, or weight</a:t>
            </a:r>
            <a:endParaRPr lang="en-US" altLang="en-US" sz="2400" dirty="0"/>
          </a:p>
          <a:p>
            <a:pPr lvl="1" eaLnBrk="1" hangingPunct="1">
              <a:spcAft>
                <a:spcPts val="600"/>
              </a:spcAft>
            </a:pPr>
            <a:r>
              <a:rPr lang="en-US" altLang="en-US" sz="2400" dirty="0"/>
              <a:t>Practically, real values can only be measured and represented using a finite number of digits</a:t>
            </a:r>
            <a:endParaRPr lang="en-US" altLang="en-US" sz="2400" dirty="0"/>
          </a:p>
          <a:p>
            <a:pPr lvl="1" eaLnBrk="1" hangingPunct="1">
              <a:spcAft>
                <a:spcPts val="600"/>
              </a:spcAft>
            </a:pPr>
            <a:r>
              <a:rPr lang="en-US" altLang="en-US" sz="2400" dirty="0"/>
              <a:t>Continuous attributes are typically represented as floating-point variables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571500" y="228600"/>
            <a:ext cx="11106150" cy="838200"/>
          </a:xfrm>
        </p:spPr>
        <p:txBody>
          <a:bodyPr>
            <a:normAutofit/>
          </a:bodyPr>
          <a:lstStyle/>
          <a:p>
            <a:r>
              <a:rPr lang="en-US" altLang="en-US" sz="4400" dirty="0"/>
              <a:t>Statics of Data</a:t>
            </a:r>
            <a:endParaRPr lang="en-US" altLang="en-US" dirty="0"/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3388" y="1294960"/>
            <a:ext cx="10865223" cy="5257800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altLang="en-US" sz="3200" dirty="0"/>
              <a:t>Measuring the Central Tendency </a:t>
            </a:r>
            <a:endParaRPr lang="en-US" altLang="en-US" sz="3200" dirty="0"/>
          </a:p>
          <a:p>
            <a:pPr>
              <a:lnSpc>
                <a:spcPct val="200000"/>
              </a:lnSpc>
            </a:pPr>
            <a:r>
              <a:rPr lang="en-US" altLang="en-US" sz="3200" dirty="0"/>
              <a:t>Measuring the Dispersion of Data</a:t>
            </a:r>
            <a:endParaRPr lang="en-US" altLang="en-US" sz="3200" dirty="0"/>
          </a:p>
          <a:p>
            <a:pPr>
              <a:lnSpc>
                <a:spcPct val="200000"/>
              </a:lnSpc>
            </a:pPr>
            <a:r>
              <a:rPr lang="en-US" altLang="en-US" sz="3200" dirty="0"/>
              <a:t>Covariance and Correlation Analysis</a:t>
            </a:r>
            <a:endParaRPr lang="en-US" altLang="en-US" sz="3200" dirty="0"/>
          </a:p>
          <a:p>
            <a:pPr>
              <a:lnSpc>
                <a:spcPct val="200000"/>
              </a:lnSpc>
            </a:pPr>
            <a:r>
              <a:rPr lang="en-US" altLang="en-US" sz="3200" dirty="0"/>
              <a:t>Graphic Displays of Basic Statics of Data</a:t>
            </a:r>
            <a:endParaRPr lang="en-US" altLang="en-US" sz="3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30480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/>
              <a:t>Basic Statistical Descriptions of Data</a:t>
            </a:r>
            <a:endParaRPr lang="en-US" altLang="en-US"/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164557"/>
            <a:ext cx="10928684" cy="848729"/>
          </a:xfrm>
        </p:spPr>
        <p:txBody>
          <a:bodyPr/>
          <a:lstStyle/>
          <a:p>
            <a:pPr eaLnBrk="1" hangingPunct="1">
              <a:buSzPct val="80000"/>
            </a:pPr>
            <a:r>
              <a:rPr lang="en-US" altLang="en-US" sz="2400" u="sng" dirty="0"/>
              <a:t>Motivation</a:t>
            </a:r>
            <a:endParaRPr lang="en-US" altLang="en-US" sz="2400" u="sng" dirty="0"/>
          </a:p>
          <a:p>
            <a:pPr lvl="1" eaLnBrk="1" hangingPunct="1">
              <a:buSzPct val="80000"/>
            </a:pPr>
            <a:r>
              <a:rPr lang="en-US" altLang="en-US" sz="2400" dirty="0"/>
              <a:t>To better understand the data: central tendency, variation and spread</a:t>
            </a:r>
            <a:endParaRPr lang="en-US" altLang="en-US" sz="2400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09600" y="2111043"/>
            <a:ext cx="7620000" cy="4085220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461645" indent="-46164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7870" indent="-53784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520" indent="-47434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270" indent="-52197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045" indent="-508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u="sng" dirty="0"/>
              <a:t>Data dispersion characteristics</a:t>
            </a:r>
            <a:r>
              <a:rPr lang="en-US" altLang="en-US" sz="2400" dirty="0"/>
              <a:t> </a:t>
            </a:r>
            <a:endParaRPr lang="en-US" altLang="en-US" sz="2400" dirty="0"/>
          </a:p>
          <a:p>
            <a:pPr lvl="1"/>
            <a:r>
              <a:rPr lang="en-US" altLang="en-US" sz="2400" dirty="0"/>
              <a:t>Median, max, min, quantiles, outliers, variance, ...</a:t>
            </a:r>
            <a:endParaRPr lang="en-US" altLang="en-US" sz="2400" dirty="0"/>
          </a:p>
          <a:p>
            <a:r>
              <a:rPr lang="en-US" altLang="en-US" sz="2400" u="sng" dirty="0"/>
              <a:t>Numerical dimensions</a:t>
            </a:r>
            <a:r>
              <a:rPr lang="en-US" altLang="en-US" sz="2400" dirty="0"/>
              <a:t> correspond to sorted intervals</a:t>
            </a:r>
            <a:endParaRPr lang="en-US" altLang="en-US" sz="2400" dirty="0"/>
          </a:p>
          <a:p>
            <a:pPr lvl="1"/>
            <a:r>
              <a:rPr lang="en-US" altLang="en-US" sz="2400" dirty="0"/>
              <a:t>Data dispersion: </a:t>
            </a:r>
            <a:endParaRPr lang="en-US" altLang="en-US" sz="2400" dirty="0"/>
          </a:p>
          <a:p>
            <a:pPr lvl="2"/>
            <a:r>
              <a:rPr lang="en-US" altLang="en-US" sz="2400" dirty="0"/>
              <a:t>Analyzed with multiple granularities of precision</a:t>
            </a:r>
            <a:endParaRPr lang="en-US" altLang="en-US" sz="2400" dirty="0"/>
          </a:p>
          <a:p>
            <a:pPr lvl="1"/>
            <a:r>
              <a:rPr lang="en-US" altLang="en-US" sz="2400" dirty="0"/>
              <a:t>Boxplot or quantile analysis on sorted intervals</a:t>
            </a:r>
            <a:endParaRPr lang="en-US" altLang="en-US" sz="2400" dirty="0"/>
          </a:p>
          <a:p>
            <a:r>
              <a:rPr lang="en-US" altLang="en-US" sz="2400" u="sng" dirty="0"/>
              <a:t>Dispersion analysis on computed measures</a:t>
            </a:r>
            <a:endParaRPr lang="en-US" altLang="en-US" sz="2400" dirty="0"/>
          </a:p>
          <a:p>
            <a:pPr lvl="1"/>
            <a:r>
              <a:rPr lang="en-US" altLang="en-US" sz="2400" dirty="0"/>
              <a:t>Folding measures into numerical dimensions</a:t>
            </a:r>
            <a:endParaRPr lang="en-US" altLang="en-US" sz="2400" dirty="0"/>
          </a:p>
          <a:p>
            <a:pPr lvl="1"/>
            <a:r>
              <a:rPr lang="en-US" altLang="en-US" sz="2400" dirty="0"/>
              <a:t>Boxplot or quantile analysis on the transformed cube</a:t>
            </a:r>
            <a:endParaRPr lang="en-US" altLang="en-US" sz="2000" dirty="0"/>
          </a:p>
        </p:txBody>
      </p:sp>
      <p:pic>
        <p:nvPicPr>
          <p:cNvPr id="38916" name="Picture 4" descr="https://upload.wikimedia.org/wikipedia/commons/thumb/7/74/Normal_Distribution_PDF.svg/2000px-Normal_Distribution_PDF.svg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9084" y="2478504"/>
            <a:ext cx="4423322" cy="2826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altLang="en-US" dirty="0"/>
              <a:t>Measuring the Central Tendency:  (1) Mean</a:t>
            </a:r>
            <a:endParaRPr lang="en-US" altLang="en-US" sz="4000" dirty="0"/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61975" y="1143000"/>
            <a:ext cx="10531141" cy="5029200"/>
          </a:xfrm>
        </p:spPr>
        <p:txBody>
          <a:bodyPr/>
          <a:lstStyle/>
          <a:p>
            <a:pPr eaLnBrk="1" hangingPunct="1">
              <a:spcBef>
                <a:spcPts val="400"/>
              </a:spcBef>
              <a:buSzPct val="80000"/>
            </a:pPr>
            <a:r>
              <a:rPr lang="en-US" altLang="en-US" u="sng" dirty="0">
                <a:latin typeface="Calibri" panose="020F0502020204030204" pitchFamily="34" charset="0"/>
              </a:rPr>
              <a:t>Mean (algebraic measure) (sample vs. population):</a:t>
            </a:r>
            <a:endParaRPr lang="en-US" altLang="en-US" u="sng" dirty="0">
              <a:latin typeface="Calibri" panose="020F0502020204030204" pitchFamily="34" charset="0"/>
            </a:endParaRPr>
          </a:p>
          <a:p>
            <a:pPr lvl="1" eaLnBrk="1" hangingPunct="1">
              <a:spcBef>
                <a:spcPts val="400"/>
              </a:spcBef>
              <a:buSzPct val="80000"/>
              <a:buFont typeface="Wingdings" panose="05000000000000000000" pitchFamily="2" charset="2"/>
              <a:buNone/>
            </a:pPr>
            <a:r>
              <a:rPr lang="en-US" altLang="en-US" dirty="0">
                <a:latin typeface="Calibri" panose="020F0502020204030204" pitchFamily="34" charset="0"/>
              </a:rPr>
              <a:t>Note: </a:t>
            </a:r>
            <a:r>
              <a:rPr lang="en-US" altLang="en-US" i="1" dirty="0">
                <a:latin typeface="Calibri" panose="020F0502020204030204" pitchFamily="34" charset="0"/>
              </a:rPr>
              <a:t>n</a:t>
            </a:r>
            <a:r>
              <a:rPr lang="en-US" altLang="en-US" dirty="0">
                <a:latin typeface="Calibri" panose="020F0502020204030204" pitchFamily="34" charset="0"/>
              </a:rPr>
              <a:t> is sample size and </a:t>
            </a:r>
            <a:r>
              <a:rPr lang="en-US" altLang="en-US" i="1" dirty="0">
                <a:latin typeface="Calibri" panose="020F0502020204030204" pitchFamily="34" charset="0"/>
              </a:rPr>
              <a:t>N</a:t>
            </a:r>
            <a:r>
              <a:rPr lang="en-US" altLang="en-US" dirty="0">
                <a:latin typeface="Calibri" panose="020F0502020204030204" pitchFamily="34" charset="0"/>
              </a:rPr>
              <a:t> is population size. </a:t>
            </a:r>
            <a:endParaRPr lang="en-US" altLang="en-US" dirty="0">
              <a:latin typeface="Calibri" panose="020F0502020204030204" pitchFamily="34" charset="0"/>
            </a:endParaRPr>
          </a:p>
          <a:p>
            <a:pPr marL="200025" lvl="1" indent="0" eaLnBrk="1" hangingPunct="1">
              <a:spcBef>
                <a:spcPts val="400"/>
              </a:spcBef>
              <a:buSzPct val="80000"/>
              <a:buNone/>
            </a:pPr>
            <a:endParaRPr lang="en-US" altLang="en-US" dirty="0">
              <a:latin typeface="Calibri" panose="020F0502020204030204" pitchFamily="34" charset="0"/>
            </a:endParaRPr>
          </a:p>
          <a:p>
            <a:pPr marL="200025" lvl="1" indent="0" eaLnBrk="1" hangingPunct="1">
              <a:spcBef>
                <a:spcPts val="400"/>
              </a:spcBef>
              <a:buSzPct val="80000"/>
              <a:buNone/>
            </a:pPr>
            <a:endParaRPr lang="en-US" altLang="en-US" dirty="0">
              <a:latin typeface="Calibri" panose="020F0502020204030204" pitchFamily="34" charset="0"/>
            </a:endParaRPr>
          </a:p>
          <a:p>
            <a:pPr>
              <a:spcBef>
                <a:spcPts val="400"/>
              </a:spcBef>
            </a:pPr>
            <a:endParaRPr lang="en-US" altLang="en-US" dirty="0">
              <a:latin typeface="Calibri" panose="020F0502020204030204" pitchFamily="34" charset="0"/>
            </a:endParaRPr>
          </a:p>
          <a:p>
            <a:pPr>
              <a:spcBef>
                <a:spcPts val="400"/>
              </a:spcBef>
            </a:pPr>
            <a:endParaRPr lang="en-US" altLang="en-US" dirty="0">
              <a:latin typeface="Calibri" panose="020F0502020204030204" pitchFamily="34" charset="0"/>
            </a:endParaRPr>
          </a:p>
          <a:p>
            <a:pPr>
              <a:spcBef>
                <a:spcPts val="400"/>
              </a:spcBef>
            </a:pPr>
            <a:r>
              <a:rPr lang="en-US" altLang="en-US" dirty="0">
                <a:latin typeface="Calibri" panose="020F0502020204030204" pitchFamily="34" charset="0"/>
              </a:rPr>
              <a:t>Weighted arithmetic mean:</a:t>
            </a:r>
            <a:endParaRPr lang="en-US" altLang="en-US" dirty="0">
              <a:latin typeface="Calibri" panose="020F0502020204030204" pitchFamily="34" charset="0"/>
            </a:endParaRPr>
          </a:p>
          <a:p>
            <a:pPr>
              <a:spcBef>
                <a:spcPts val="400"/>
              </a:spcBef>
            </a:pPr>
            <a:endParaRPr lang="en-US" altLang="en-US" dirty="0">
              <a:latin typeface="Calibri" panose="020F0502020204030204" pitchFamily="34" charset="0"/>
            </a:endParaRPr>
          </a:p>
          <a:p>
            <a:pPr>
              <a:spcBef>
                <a:spcPts val="400"/>
              </a:spcBef>
            </a:pPr>
            <a:endParaRPr lang="en-US" altLang="en-US" dirty="0">
              <a:latin typeface="Calibri" panose="020F0502020204030204" pitchFamily="34" charset="0"/>
            </a:endParaRPr>
          </a:p>
          <a:p>
            <a:pPr marL="0" indent="0">
              <a:spcBef>
                <a:spcPts val="400"/>
              </a:spcBef>
              <a:buNone/>
            </a:pPr>
            <a:endParaRPr lang="en-US" altLang="en-US" dirty="0">
              <a:latin typeface="Calibri" panose="020F0502020204030204" pitchFamily="34" charset="0"/>
            </a:endParaRPr>
          </a:p>
          <a:p>
            <a:pPr>
              <a:spcBef>
                <a:spcPts val="400"/>
              </a:spcBef>
            </a:pPr>
            <a:r>
              <a:rPr lang="en-US" altLang="en-US" dirty="0">
                <a:latin typeface="Calibri" panose="020F0502020204030204" pitchFamily="34" charset="0"/>
              </a:rPr>
              <a:t>Trimmed mean: </a:t>
            </a:r>
            <a:endParaRPr lang="en-US" altLang="en-US" dirty="0">
              <a:latin typeface="Calibri" panose="020F0502020204030204" pitchFamily="34" charset="0"/>
            </a:endParaRPr>
          </a:p>
          <a:p>
            <a:pPr lvl="1">
              <a:spcBef>
                <a:spcPts val="400"/>
              </a:spcBef>
            </a:pPr>
            <a:r>
              <a:rPr lang="en-US" altLang="en-US" dirty="0">
                <a:latin typeface="Calibri" panose="020F0502020204030204" pitchFamily="34" charset="0"/>
              </a:rPr>
              <a:t>Chopping extreme values (e.g., Olympics gymnastics score computation)</a:t>
            </a:r>
            <a:endParaRPr lang="en-US" altLang="en-US" dirty="0">
              <a:latin typeface="Calibri" panose="020F0502020204030204" pitchFamily="34" charset="0"/>
            </a:endParaRPr>
          </a:p>
        </p:txBody>
      </p:sp>
      <p:graphicFrame>
        <p:nvGraphicFramePr>
          <p:cNvPr id="18437" name="Object 4"/>
          <p:cNvGraphicFramePr>
            <a:graphicFrameLocks noChangeAspect="1"/>
          </p:cNvGraphicFramePr>
          <p:nvPr/>
        </p:nvGraphicFramePr>
        <p:xfrm>
          <a:off x="2794566" y="2210251"/>
          <a:ext cx="2231802" cy="10774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Microsoft Equation 3.0" r:id="rId1" imgW="711200" imgH="431800" progId="Equation.3">
                  <p:embed/>
                </p:oleObj>
              </mc:Choice>
              <mc:Fallback>
                <p:oleObj name="Microsoft Equation 3.0" r:id="rId1" imgW="711200" imgH="431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4566" y="2210251"/>
                        <a:ext cx="2231802" cy="10774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8" name="Object 5"/>
          <p:cNvGraphicFramePr>
            <a:graphicFrameLocks noChangeAspect="1"/>
          </p:cNvGraphicFramePr>
          <p:nvPr/>
        </p:nvGraphicFramePr>
        <p:xfrm>
          <a:off x="4788568" y="3406938"/>
          <a:ext cx="2292913" cy="2074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3" imgW="749300" imgH="838200" progId="Equation.3">
                  <p:embed/>
                </p:oleObj>
              </mc:Choice>
              <mc:Fallback>
                <p:oleObj name="Equation" r:id="rId3" imgW="749300" imgH="838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8568" y="3406938"/>
                        <a:ext cx="2292913" cy="20745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1" name="Object 8"/>
          <p:cNvGraphicFramePr>
            <a:graphicFrameLocks noGrp="1" noChangeAspect="1"/>
          </p:cNvGraphicFramePr>
          <p:nvPr>
            <p:ph sz="half" idx="2"/>
          </p:nvPr>
        </p:nvGraphicFramePr>
        <p:xfrm>
          <a:off x="6112539" y="2210251"/>
          <a:ext cx="1654679" cy="1196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5" imgW="596900" imgH="431800" progId="Equation.3">
                  <p:embed/>
                </p:oleObj>
              </mc:Choice>
              <mc:Fallback>
                <p:oleObj name="Equation" r:id="rId5" imgW="596900" imgH="4318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2539" y="2210251"/>
                        <a:ext cx="1654679" cy="1196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wn Arrow 1"/>
          <p:cNvSpPr/>
          <p:nvPr/>
        </p:nvSpPr>
        <p:spPr>
          <a:xfrm rot="17220723">
            <a:off x="2746279" y="1801512"/>
            <a:ext cx="349754" cy="827719"/>
          </a:xfrm>
          <a:prstGeom prst="down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own Arrow 13"/>
          <p:cNvSpPr/>
          <p:nvPr/>
        </p:nvSpPr>
        <p:spPr>
          <a:xfrm rot="16483461">
            <a:off x="3991877" y="3979935"/>
            <a:ext cx="349754" cy="827719"/>
          </a:xfrm>
          <a:prstGeom prst="downArrow">
            <a:avLst/>
          </a:prstGeom>
          <a:solidFill>
            <a:srgbClr val="FFC00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own Arrow 14"/>
          <p:cNvSpPr/>
          <p:nvPr/>
        </p:nvSpPr>
        <p:spPr>
          <a:xfrm rot="16914701">
            <a:off x="5502384" y="1769736"/>
            <a:ext cx="349754" cy="827719"/>
          </a:xfrm>
          <a:prstGeom prst="downArrow">
            <a:avLst/>
          </a:prstGeom>
          <a:solidFill>
            <a:srgbClr val="00B0F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altLang="en-US" dirty="0"/>
              <a:t>Measuring the Central Tendency: (2) Median</a:t>
            </a:r>
            <a:endParaRPr lang="en-US" altLang="en-US" sz="4000" dirty="0"/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53911" y="1212431"/>
            <a:ext cx="11333289" cy="1880813"/>
          </a:xfrm>
        </p:spPr>
        <p:txBody>
          <a:bodyPr/>
          <a:lstStyle/>
          <a:p>
            <a:pPr eaLnBrk="1" hangingPunct="1">
              <a:spcBef>
                <a:spcPts val="400"/>
              </a:spcBef>
              <a:buSzPct val="80000"/>
            </a:pPr>
            <a:r>
              <a:rPr lang="en-US" altLang="en-US" u="sng" dirty="0">
                <a:latin typeface="Calibri" panose="020F0502020204030204" pitchFamily="34" charset="0"/>
              </a:rPr>
              <a:t>Median</a:t>
            </a:r>
            <a:r>
              <a:rPr lang="en-US" altLang="en-US" dirty="0">
                <a:latin typeface="Calibri" panose="020F0502020204030204" pitchFamily="34" charset="0"/>
              </a:rPr>
              <a:t>: </a:t>
            </a:r>
            <a:endParaRPr lang="en-US" altLang="en-US" dirty="0">
              <a:latin typeface="Calibri" panose="020F0502020204030204" pitchFamily="34" charset="0"/>
            </a:endParaRPr>
          </a:p>
          <a:p>
            <a:pPr lvl="1">
              <a:spcBef>
                <a:spcPts val="400"/>
              </a:spcBef>
            </a:pPr>
            <a:r>
              <a:rPr lang="en-US" altLang="en-US" dirty="0">
                <a:latin typeface="Calibri" panose="020F0502020204030204" pitchFamily="34" charset="0"/>
              </a:rPr>
              <a:t>Middle value if odd number of values, or average of the middle two values otherwise</a:t>
            </a:r>
            <a:endParaRPr lang="en-US" altLang="en-US" dirty="0">
              <a:latin typeface="Calibri" panose="020F0502020204030204" pitchFamily="34" charset="0"/>
            </a:endParaRPr>
          </a:p>
          <a:p>
            <a:pPr>
              <a:spcBef>
                <a:spcPts val="400"/>
              </a:spcBef>
            </a:pPr>
            <a:r>
              <a:rPr lang="en-US" altLang="en-US" dirty="0">
                <a:latin typeface="Calibri" panose="020F0502020204030204" pitchFamily="34" charset="0"/>
              </a:rPr>
              <a:t>Estimated by interpolation (for </a:t>
            </a:r>
            <a:r>
              <a:rPr lang="en-US" altLang="en-US" i="1" dirty="0">
                <a:solidFill>
                  <a:srgbClr val="FF0000"/>
                </a:solidFill>
                <a:latin typeface="Calibri" panose="020F0502020204030204" pitchFamily="34" charset="0"/>
              </a:rPr>
              <a:t>grouped data</a:t>
            </a:r>
            <a:r>
              <a:rPr lang="en-US" altLang="en-US" dirty="0">
                <a:latin typeface="Calibri" panose="020F0502020204030204" pitchFamily="34" charset="0"/>
              </a:rPr>
              <a:t>):</a:t>
            </a:r>
            <a:endParaRPr lang="en-US" altLang="en-US" dirty="0">
              <a:latin typeface="Calibri" panose="020F0502020204030204" pitchFamily="34" charset="0"/>
            </a:endParaRPr>
          </a:p>
          <a:p>
            <a:pPr eaLnBrk="1" hangingPunct="1">
              <a:spcBef>
                <a:spcPts val="400"/>
              </a:spcBef>
              <a:buSzPct val="80000"/>
            </a:pPr>
            <a:endParaRPr lang="en-US" altLang="en-US" u="sng" dirty="0">
              <a:latin typeface="Calibri" panose="020F0502020204030204" pitchFamily="34" charset="0"/>
            </a:endParaRPr>
          </a:p>
          <a:p>
            <a:pPr eaLnBrk="1" hangingPunct="1">
              <a:spcBef>
                <a:spcPts val="400"/>
              </a:spcBef>
              <a:buSzPct val="80000"/>
            </a:pPr>
            <a:endParaRPr lang="en-US" altLang="en-US" dirty="0"/>
          </a:p>
        </p:txBody>
      </p:sp>
      <p:graphicFrame>
        <p:nvGraphicFramePr>
          <p:cNvPr id="18439" name="Object 6"/>
          <p:cNvGraphicFramePr>
            <a:graphicFrameLocks noChangeAspect="1"/>
          </p:cNvGraphicFramePr>
          <p:nvPr/>
        </p:nvGraphicFramePr>
        <p:xfrm>
          <a:off x="1979766" y="5440174"/>
          <a:ext cx="5917905" cy="11641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1" imgW="2387600" imgH="469900" progId="Equation.3">
                  <p:embed/>
                </p:oleObj>
              </mc:Choice>
              <mc:Fallback>
                <p:oleObj name="Equation" r:id="rId1" imgW="2387600" imgH="4699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66" y="5440174"/>
                        <a:ext cx="5917905" cy="11641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442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9501" y="2490933"/>
            <a:ext cx="2541054" cy="2272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63387" y="4957482"/>
            <a:ext cx="1837765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Approximate median</a:t>
            </a:r>
            <a:endParaRPr lang="en-US" sz="2400" dirty="0"/>
          </a:p>
        </p:txBody>
      </p:sp>
      <p:sp>
        <p:nvSpPr>
          <p:cNvPr id="3" name="Curved Right Arrow 2"/>
          <p:cNvSpPr/>
          <p:nvPr/>
        </p:nvSpPr>
        <p:spPr>
          <a:xfrm rot="19277405">
            <a:off x="1366863" y="5742471"/>
            <a:ext cx="430813" cy="733667"/>
          </a:xfrm>
          <a:prstGeom prst="curved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74759" y="6478100"/>
            <a:ext cx="1837765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Low interval limit</a:t>
            </a:r>
            <a:endParaRPr lang="en-US" sz="1800" dirty="0"/>
          </a:p>
        </p:txBody>
      </p:sp>
      <p:sp>
        <p:nvSpPr>
          <p:cNvPr id="11" name="TextBox 10"/>
          <p:cNvSpPr txBox="1"/>
          <p:nvPr/>
        </p:nvSpPr>
        <p:spPr>
          <a:xfrm>
            <a:off x="6996717" y="5405682"/>
            <a:ext cx="2344506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Interval width (L</a:t>
            </a:r>
            <a:r>
              <a:rPr lang="en-US" sz="1800" baseline="-25000" dirty="0"/>
              <a:t>2</a:t>
            </a:r>
            <a:r>
              <a:rPr lang="en-US" sz="1800" dirty="0"/>
              <a:t> – L</a:t>
            </a:r>
            <a:r>
              <a:rPr lang="en-US" sz="1800" baseline="-25000" dirty="0"/>
              <a:t>1</a:t>
            </a:r>
            <a:r>
              <a:rPr lang="en-US" sz="1800" dirty="0"/>
              <a:t>)</a:t>
            </a:r>
            <a:endParaRPr lang="en-US" sz="1800" dirty="0"/>
          </a:p>
        </p:txBody>
      </p:sp>
      <p:sp>
        <p:nvSpPr>
          <p:cNvPr id="5" name="Right Arrow 4"/>
          <p:cNvSpPr/>
          <p:nvPr/>
        </p:nvSpPr>
        <p:spPr>
          <a:xfrm rot="7632380">
            <a:off x="7962272" y="5744057"/>
            <a:ext cx="233082" cy="277906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4355939" y="4857107"/>
            <a:ext cx="3378522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Sum before the median interval</a:t>
            </a:r>
            <a:endParaRPr lang="en-US" sz="1800" dirty="0"/>
          </a:p>
        </p:txBody>
      </p:sp>
      <p:sp>
        <p:nvSpPr>
          <p:cNvPr id="14" name="Right Arrow 13"/>
          <p:cNvSpPr/>
          <p:nvPr/>
        </p:nvSpPr>
        <p:spPr>
          <a:xfrm rot="5400000">
            <a:off x="5928659" y="5236532"/>
            <a:ext cx="233082" cy="277906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14"/>
          <p:cNvSpPr/>
          <p:nvPr/>
        </p:nvSpPr>
        <p:spPr>
          <a:xfrm rot="16200000">
            <a:off x="3577100" y="6258809"/>
            <a:ext cx="233082" cy="277906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altLang="en-US" dirty="0"/>
              <a:t>Measuring the Central Tendency: (3) Mode</a:t>
            </a:r>
            <a:endParaRPr lang="en-US" altLang="en-US" sz="4000" dirty="0"/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61974" y="1142999"/>
            <a:ext cx="7058025" cy="4361329"/>
          </a:xfrm>
        </p:spPr>
        <p:txBody>
          <a:bodyPr/>
          <a:lstStyle/>
          <a:p>
            <a:pPr>
              <a:spcBef>
                <a:spcPts val="400"/>
              </a:spcBef>
            </a:pPr>
            <a:r>
              <a:rPr lang="en-US" altLang="en-US" dirty="0">
                <a:latin typeface="Calibri" panose="020F0502020204030204" pitchFamily="34" charset="0"/>
              </a:rPr>
              <a:t>Mode: Value that occurs most frequently in the data</a:t>
            </a:r>
            <a:endParaRPr lang="en-US" altLang="en-US" dirty="0">
              <a:latin typeface="Calibri" panose="020F0502020204030204" pitchFamily="34" charset="0"/>
            </a:endParaRPr>
          </a:p>
          <a:p>
            <a:pPr>
              <a:spcBef>
                <a:spcPts val="400"/>
              </a:spcBef>
            </a:pPr>
            <a:endParaRPr lang="en-US" altLang="en-US" dirty="0">
              <a:latin typeface="Calibri" panose="020F0502020204030204" pitchFamily="34" charset="0"/>
            </a:endParaRPr>
          </a:p>
          <a:p>
            <a:pPr>
              <a:spcBef>
                <a:spcPts val="400"/>
              </a:spcBef>
            </a:pPr>
            <a:r>
              <a:rPr lang="en-US" altLang="en-US" dirty="0">
                <a:latin typeface="Calibri" panose="020F0502020204030204" pitchFamily="34" charset="0"/>
              </a:rPr>
              <a:t>Unimodal</a:t>
            </a:r>
            <a:endParaRPr lang="en-US" altLang="en-US" dirty="0">
              <a:latin typeface="Calibri" panose="020F0502020204030204" pitchFamily="34" charset="0"/>
            </a:endParaRPr>
          </a:p>
          <a:p>
            <a:pPr lvl="1">
              <a:spcBef>
                <a:spcPts val="400"/>
              </a:spcBef>
            </a:pPr>
            <a:r>
              <a:rPr lang="en-US" altLang="en-US" dirty="0">
                <a:latin typeface="Calibri" panose="020F0502020204030204" pitchFamily="34" charset="0"/>
              </a:rPr>
              <a:t>Empirical formula:</a:t>
            </a:r>
            <a:endParaRPr lang="en-US" altLang="en-US" dirty="0">
              <a:latin typeface="Calibri" panose="020F0502020204030204" pitchFamily="34" charset="0"/>
            </a:endParaRPr>
          </a:p>
          <a:p>
            <a:pPr>
              <a:spcBef>
                <a:spcPts val="400"/>
              </a:spcBef>
            </a:pPr>
            <a:endParaRPr lang="en-US" altLang="en-US" dirty="0">
              <a:latin typeface="Calibri" panose="020F0502020204030204" pitchFamily="34" charset="0"/>
            </a:endParaRPr>
          </a:p>
          <a:p>
            <a:pPr>
              <a:spcBef>
                <a:spcPts val="400"/>
              </a:spcBef>
            </a:pPr>
            <a:endParaRPr lang="en-US" altLang="en-US" dirty="0">
              <a:latin typeface="Calibri" panose="020F0502020204030204" pitchFamily="34" charset="0"/>
            </a:endParaRPr>
          </a:p>
          <a:p>
            <a:pPr>
              <a:spcBef>
                <a:spcPts val="400"/>
              </a:spcBef>
            </a:pPr>
            <a:endParaRPr lang="en-US" altLang="en-US" dirty="0">
              <a:latin typeface="Calibri" panose="020F0502020204030204" pitchFamily="34" charset="0"/>
            </a:endParaRPr>
          </a:p>
        </p:txBody>
      </p:sp>
      <p:graphicFrame>
        <p:nvGraphicFramePr>
          <p:cNvPr id="18440" name="Object 7"/>
          <p:cNvGraphicFramePr>
            <a:graphicFrameLocks noChangeAspect="1"/>
          </p:cNvGraphicFramePr>
          <p:nvPr/>
        </p:nvGraphicFramePr>
        <p:xfrm>
          <a:off x="1875423" y="2869740"/>
          <a:ext cx="4449763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1" imgW="2197100" imgH="203200" progId="Equation.3">
                  <p:embed/>
                </p:oleObj>
              </mc:Choice>
              <mc:Fallback>
                <p:oleObj name="Equation" r:id="rId1" imgW="2197100" imgH="203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5423" y="2869740"/>
                        <a:ext cx="4449763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3023" name="Picture 15" descr="http://www.statisticshowto.com/wp-content/uploads/2013/09/right-skewed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5095" y="2080019"/>
            <a:ext cx="4468955" cy="1825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63" name="Picture 6" descr="rightskewed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362700" y="2932115"/>
            <a:ext cx="4800600" cy="4048125"/>
          </a:xfrm>
          <a:noFill/>
        </p:spPr>
      </p:pic>
      <p:pic>
        <p:nvPicPr>
          <p:cNvPr id="19465" name="Picture 10" descr="ha02skew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101604"/>
            <a:ext cx="3810000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8" name="Date Placeholder 5"/>
          <p:cNvSpPr>
            <a:spLocks noGrp="1"/>
          </p:cNvSpPr>
          <p:nvPr>
            <p:ph type="dt" sz="quarter" idx="4294967295"/>
          </p:nvPr>
        </p:nvSpPr>
        <p:spPr bwMode="auto">
          <a:xfrm>
            <a:off x="1676400" y="6477000"/>
            <a:ext cx="1905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200" dirty="0"/>
          </a:p>
        </p:txBody>
      </p:sp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7391400" cy="685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 </a:t>
            </a:r>
            <a:r>
              <a:rPr lang="en-US" altLang="en-US" dirty="0"/>
              <a:t>Symmetric vs. Skewed Data</a:t>
            </a:r>
            <a:endParaRPr lang="en-US" altLang="en-US" sz="3200" dirty="0"/>
          </a:p>
        </p:txBody>
      </p:sp>
      <p:sp>
        <p:nvSpPr>
          <p:cNvPr id="1946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23900" y="1295401"/>
            <a:ext cx="6438900" cy="1255713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Median, mean and mode of symmetric, positively and negatively skewed data</a:t>
            </a:r>
            <a:endParaRPr lang="en-US" altLang="en-US" dirty="0">
              <a:latin typeface="Calibri" panose="020F0502020204030204" pitchFamily="34" charset="0"/>
            </a:endParaRPr>
          </a:p>
        </p:txBody>
      </p:sp>
      <p:pic>
        <p:nvPicPr>
          <p:cNvPr id="19464" name="Picture 8" descr="leftskewed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1950" y="3170240"/>
            <a:ext cx="4876800" cy="3771900"/>
          </a:xfrm>
          <a:noFill/>
        </p:spPr>
      </p:pic>
      <p:sp>
        <p:nvSpPr>
          <p:cNvPr id="19466" name="Rectangle 11"/>
          <p:cNvSpPr>
            <a:spLocks noChangeArrowheads="1"/>
          </p:cNvSpPr>
          <p:nvPr/>
        </p:nvSpPr>
        <p:spPr bwMode="auto">
          <a:xfrm>
            <a:off x="2628900" y="4675195"/>
            <a:ext cx="253365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positively skewed</a:t>
            </a:r>
            <a:endParaRPr lang="en-US" altLang="en-US" sz="2400" dirty="0"/>
          </a:p>
        </p:txBody>
      </p:sp>
      <p:sp>
        <p:nvSpPr>
          <p:cNvPr id="19467" name="Rectangle 12"/>
          <p:cNvSpPr>
            <a:spLocks noChangeArrowheads="1"/>
          </p:cNvSpPr>
          <p:nvPr/>
        </p:nvSpPr>
        <p:spPr bwMode="auto">
          <a:xfrm>
            <a:off x="6977062" y="4672018"/>
            <a:ext cx="2657475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negatively skewed</a:t>
            </a:r>
            <a:endParaRPr lang="en-US" altLang="en-US" sz="2400" dirty="0"/>
          </a:p>
        </p:txBody>
      </p:sp>
      <p:sp>
        <p:nvSpPr>
          <p:cNvPr id="19468" name="Rectangle 13"/>
          <p:cNvSpPr>
            <a:spLocks noChangeArrowheads="1"/>
          </p:cNvSpPr>
          <p:nvPr/>
        </p:nvSpPr>
        <p:spPr bwMode="auto">
          <a:xfrm>
            <a:off x="7772400" y="995368"/>
            <a:ext cx="1981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symmetric</a:t>
            </a:r>
            <a:endParaRPr lang="en-US" altLang="en-US" sz="2400" dirty="0"/>
          </a:p>
        </p:txBody>
      </p:sp>
    </p:spTree>
  </p:cSld>
  <p:clrMapOvr>
    <a:masterClrMapping/>
  </p:clrMapOvr>
  <p:transition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466725" y="380999"/>
            <a:ext cx="11077575" cy="714376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Properties of Normal Distribution Curve</a:t>
            </a:r>
            <a:endParaRPr lang="en-US" altLang="en-US" dirty="0"/>
          </a:p>
        </p:txBody>
      </p:sp>
      <p:pic>
        <p:nvPicPr>
          <p:cNvPr id="7" name="Picture 2" descr="https://upload.wikimedia.org/wikipedia/commons/a/a9/Empirical_Rule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3977" y="1611444"/>
            <a:ext cx="6600382" cy="4789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870321" y="1226723"/>
            <a:ext cx="6427693" cy="38472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libri" panose="020F0502020204030204" pitchFamily="34" charset="0"/>
              </a:rPr>
              <a:t>← — ————</a:t>
            </a:r>
            <a:r>
              <a:rPr lang="en-US" dirty="0"/>
              <a:t>Represent data dispersion, spread </a:t>
            </a:r>
            <a:r>
              <a:rPr lang="en-US" dirty="0">
                <a:latin typeface="Calibri" panose="020F0502020204030204" pitchFamily="34" charset="0"/>
              </a:rPr>
              <a:t>— ————→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620871" y="6400799"/>
            <a:ext cx="3116414" cy="384721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Represent central tendency</a:t>
            </a:r>
            <a:endParaRPr lang="en-US" dirty="0"/>
          </a:p>
        </p:txBody>
      </p:sp>
      <p:sp>
        <p:nvSpPr>
          <p:cNvPr id="3" name="Curved Up Arrow 2"/>
          <p:cNvSpPr/>
          <p:nvPr/>
        </p:nvSpPr>
        <p:spPr>
          <a:xfrm rot="11778644" flipV="1">
            <a:off x="4969544" y="6506625"/>
            <a:ext cx="797220" cy="304196"/>
          </a:xfrm>
          <a:prstGeom prst="curvedUp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-252663" y="1"/>
            <a:ext cx="12669252" cy="938462"/>
          </a:xfrm>
        </p:spPr>
        <p:txBody>
          <a:bodyPr>
            <a:noAutofit/>
          </a:bodyPr>
          <a:lstStyle/>
          <a:p>
            <a:r>
              <a:rPr lang="en-US" altLang="en-US" sz="3600" dirty="0"/>
              <a:t>Measures Data Distribution: Variance and Standard Deviation</a:t>
            </a:r>
            <a:endParaRPr lang="en-US" altLang="en-US" sz="3600" dirty="0"/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71500" y="1142999"/>
            <a:ext cx="10788162" cy="1825891"/>
          </a:xfrm>
        </p:spPr>
        <p:txBody>
          <a:bodyPr/>
          <a:lstStyle/>
          <a:p>
            <a:pPr eaLnBrk="1" hangingPunct="1">
              <a:buSzPct val="80000"/>
            </a:pPr>
            <a:r>
              <a:rPr lang="en-US" altLang="en-US" dirty="0">
                <a:latin typeface="Calibri" panose="020F0502020204030204" pitchFamily="34" charset="0"/>
              </a:rPr>
              <a:t>Variance and standard deviation (</a:t>
            </a:r>
            <a:r>
              <a:rPr lang="en-US" altLang="en-US" i="1" dirty="0">
                <a:latin typeface="Calibri" panose="020F0502020204030204" pitchFamily="34" charset="0"/>
              </a:rPr>
              <a:t>sample:</a:t>
            </a:r>
            <a:r>
              <a:rPr lang="en-US" altLang="en-US" dirty="0">
                <a:latin typeface="Calibri" panose="020F0502020204030204" pitchFamily="34" charset="0"/>
              </a:rPr>
              <a:t> </a:t>
            </a:r>
            <a:r>
              <a:rPr lang="en-US" altLang="en-US" i="1" dirty="0">
                <a:latin typeface="Calibri" panose="020F0502020204030204" pitchFamily="34" charset="0"/>
              </a:rPr>
              <a:t>s, population: </a:t>
            </a:r>
            <a:r>
              <a:rPr lang="el-GR" altLang="en-US" i="1" dirty="0">
                <a:latin typeface="Calibri" panose="020F0502020204030204" pitchFamily="34" charset="0"/>
              </a:rPr>
              <a:t>σ</a:t>
            </a:r>
            <a:r>
              <a:rPr lang="en-US" altLang="en-US" i="1" dirty="0">
                <a:latin typeface="Calibri" panose="020F0502020204030204" pitchFamily="34" charset="0"/>
              </a:rPr>
              <a:t>)</a:t>
            </a:r>
            <a:endParaRPr lang="en-US" altLang="en-US" dirty="0">
              <a:latin typeface="Calibri" panose="020F0502020204030204" pitchFamily="34" charset="0"/>
            </a:endParaRPr>
          </a:p>
          <a:p>
            <a:pPr lvl="1" eaLnBrk="1" hangingPunct="1">
              <a:buSzPct val="80000"/>
            </a:pPr>
            <a:r>
              <a:rPr lang="en-US" altLang="en-US" b="1" dirty="0">
                <a:latin typeface="Calibri" panose="020F0502020204030204" pitchFamily="34" charset="0"/>
              </a:rPr>
              <a:t>Variance</a:t>
            </a:r>
            <a:r>
              <a:rPr lang="en-US" altLang="en-US" dirty="0">
                <a:latin typeface="Calibri" panose="020F0502020204030204" pitchFamily="34" charset="0"/>
              </a:rPr>
              <a:t>: (algebraic, scalable computation)</a:t>
            </a:r>
            <a:endParaRPr lang="en-US" altLang="en-US" dirty="0">
              <a:latin typeface="Calibri" panose="020F0502020204030204" pitchFamily="34" charset="0"/>
            </a:endParaRPr>
          </a:p>
          <a:p>
            <a:pPr lvl="3"/>
            <a:r>
              <a:rPr lang="en-US" altLang="en-US" dirty="0">
                <a:latin typeface="Calibri" panose="020F0502020204030204" pitchFamily="34" charset="0"/>
              </a:rPr>
              <a:t>Q: Can you compute it incrementally and efficiently?</a:t>
            </a:r>
            <a:endParaRPr lang="en-US" altLang="en-US" dirty="0">
              <a:latin typeface="Calibri" panose="020F0502020204030204" pitchFamily="34" charset="0"/>
            </a:endParaRPr>
          </a:p>
          <a:p>
            <a:pPr marL="200025" lvl="1" indent="0" eaLnBrk="1" hangingPunct="1">
              <a:buSzPct val="80000"/>
              <a:buNone/>
            </a:pPr>
            <a:endParaRPr lang="en-US" altLang="en-US" dirty="0">
              <a:latin typeface="Calibri" panose="020F0502020204030204" pitchFamily="34" charset="0"/>
            </a:endParaRPr>
          </a:p>
          <a:p>
            <a:pPr lvl="1" eaLnBrk="1" hangingPunct="1">
              <a:buSzPct val="80000"/>
            </a:pPr>
            <a:endParaRPr lang="en-US" altLang="en-US" b="1" dirty="0">
              <a:latin typeface="Calibri" panose="020F0502020204030204" pitchFamily="34" charset="0"/>
            </a:endParaRPr>
          </a:p>
          <a:p>
            <a:pPr lvl="1" eaLnBrk="1" hangingPunct="1">
              <a:buSzPct val="80000"/>
            </a:pPr>
            <a:endParaRPr lang="en-US" altLang="en-US" b="1" dirty="0">
              <a:latin typeface="Calibri" panose="020F0502020204030204" pitchFamily="34" charset="0"/>
            </a:endParaRPr>
          </a:p>
          <a:p>
            <a:pPr lvl="1" eaLnBrk="1" hangingPunct="1">
              <a:buSzPct val="80000"/>
            </a:pPr>
            <a:endParaRPr lang="en-US" altLang="en-US" b="1" dirty="0">
              <a:latin typeface="Calibri" panose="020F0502020204030204" pitchFamily="34" charset="0"/>
            </a:endParaRPr>
          </a:p>
          <a:p>
            <a:pPr lvl="1" eaLnBrk="1" hangingPunct="1">
              <a:buSzPct val="80000"/>
            </a:pPr>
            <a:endParaRPr lang="en-US" altLang="en-US" b="1" dirty="0">
              <a:latin typeface="Calibri" panose="020F0502020204030204" pitchFamily="34" charset="0"/>
            </a:endParaRPr>
          </a:p>
          <a:p>
            <a:pPr lvl="1" eaLnBrk="1" hangingPunct="1">
              <a:buSzPct val="80000"/>
            </a:pPr>
            <a:endParaRPr lang="en-US" altLang="en-US" b="1" dirty="0">
              <a:latin typeface="Calibri" panose="020F0502020204030204" pitchFamily="34" charset="0"/>
            </a:endParaRPr>
          </a:p>
          <a:p>
            <a:pPr lvl="1" eaLnBrk="1" hangingPunct="1">
              <a:buSzPct val="80000"/>
            </a:pPr>
            <a:endParaRPr lang="en-US" altLang="en-US" b="1" dirty="0">
              <a:latin typeface="Calibri" panose="020F0502020204030204" pitchFamily="34" charset="0"/>
            </a:endParaRPr>
          </a:p>
          <a:p>
            <a:pPr lvl="1" eaLnBrk="1" hangingPunct="1">
              <a:buSzPct val="80000"/>
            </a:pPr>
            <a:r>
              <a:rPr lang="en-US" altLang="en-US" b="1" dirty="0">
                <a:latin typeface="Calibri" panose="020F0502020204030204" pitchFamily="34" charset="0"/>
              </a:rPr>
              <a:t>Standard deviation</a:t>
            </a:r>
            <a:r>
              <a:rPr lang="en-US" altLang="en-US" i="1" dirty="0">
                <a:latin typeface="Calibri" panose="020F0502020204030204" pitchFamily="34" charset="0"/>
              </a:rPr>
              <a:t> s (or </a:t>
            </a:r>
            <a:r>
              <a:rPr lang="el-GR" altLang="en-US" i="1" dirty="0">
                <a:latin typeface="Calibri" panose="020F0502020204030204" pitchFamily="34" charset="0"/>
              </a:rPr>
              <a:t>σ</a:t>
            </a:r>
            <a:r>
              <a:rPr lang="en-US" altLang="en-US" i="1" dirty="0">
                <a:latin typeface="Calibri" panose="020F0502020204030204" pitchFamily="34" charset="0"/>
              </a:rPr>
              <a:t>) </a:t>
            </a:r>
            <a:r>
              <a:rPr lang="en-US" altLang="en-US" dirty="0">
                <a:latin typeface="Calibri" panose="020F0502020204030204" pitchFamily="34" charset="0"/>
              </a:rPr>
              <a:t>is the square root of variance </a:t>
            </a:r>
            <a:r>
              <a:rPr lang="en-US" altLang="en-US" i="1" dirty="0">
                <a:latin typeface="Calibri" panose="020F0502020204030204" pitchFamily="34" charset="0"/>
              </a:rPr>
              <a:t>s</a:t>
            </a:r>
            <a:r>
              <a:rPr lang="en-US" altLang="en-US" i="1" baseline="30000" dirty="0">
                <a:latin typeface="Calibri" panose="020F0502020204030204" pitchFamily="34" charset="0"/>
              </a:rPr>
              <a:t>2 (</a:t>
            </a:r>
            <a:r>
              <a:rPr lang="en-US" altLang="en-US" i="1" dirty="0">
                <a:latin typeface="Calibri" panose="020F0502020204030204" pitchFamily="34" charset="0"/>
              </a:rPr>
              <a:t>or</a:t>
            </a:r>
            <a:r>
              <a:rPr lang="en-US" altLang="en-US" i="1" baseline="30000" dirty="0">
                <a:latin typeface="Calibri" panose="020F0502020204030204" pitchFamily="34" charset="0"/>
              </a:rPr>
              <a:t> </a:t>
            </a:r>
            <a:r>
              <a:rPr lang="el-GR" altLang="en-US" i="1" dirty="0">
                <a:latin typeface="Calibri" panose="020F0502020204030204" pitchFamily="34" charset="0"/>
              </a:rPr>
              <a:t>σ</a:t>
            </a:r>
            <a:r>
              <a:rPr lang="en-US" altLang="en-US" i="1" baseline="30000" dirty="0">
                <a:latin typeface="Calibri" panose="020F0502020204030204" pitchFamily="34" charset="0"/>
              </a:rPr>
              <a:t>2)</a:t>
            </a:r>
            <a:endParaRPr lang="en-US" altLang="en-US" i="1" baseline="30000" dirty="0">
              <a:latin typeface="Calibri" panose="020F0502020204030204" pitchFamily="34" charset="0"/>
            </a:endParaRPr>
          </a:p>
        </p:txBody>
      </p:sp>
      <p:graphicFrame>
        <p:nvGraphicFramePr>
          <p:cNvPr id="20485" name="Object 10"/>
          <p:cNvGraphicFramePr>
            <a:graphicFrameLocks noChangeAspect="1"/>
          </p:cNvGraphicFramePr>
          <p:nvPr/>
        </p:nvGraphicFramePr>
        <p:xfrm>
          <a:off x="1342128" y="2661057"/>
          <a:ext cx="7119846" cy="11628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1" imgW="2959100" imgH="431800" progId="Equation.3">
                  <p:embed/>
                </p:oleObj>
              </mc:Choice>
              <mc:Fallback>
                <p:oleObj name="Equation" r:id="rId1" imgW="2959100" imgH="4318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2128" y="2661057"/>
                        <a:ext cx="7119846" cy="11628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6" name="Object 11"/>
          <p:cNvGraphicFramePr>
            <a:graphicFrameLocks noGrp="1" noChangeAspect="1"/>
          </p:cNvGraphicFramePr>
          <p:nvPr>
            <p:ph sz="half" idx="2"/>
          </p:nvPr>
        </p:nvGraphicFramePr>
        <p:xfrm>
          <a:off x="1342128" y="4030749"/>
          <a:ext cx="6594783" cy="11886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3" imgW="2235200" imgH="431800" progId="Equation.3">
                  <p:embed/>
                </p:oleObj>
              </mc:Choice>
              <mc:Fallback>
                <p:oleObj name="Equation" r:id="rId3" imgW="2235200" imgH="4318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2128" y="4030749"/>
                        <a:ext cx="6594783" cy="11886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triped Right Arrow 7"/>
          <p:cNvSpPr/>
          <p:nvPr/>
        </p:nvSpPr>
        <p:spPr>
          <a:xfrm rot="17157603">
            <a:off x="1217626" y="5083121"/>
            <a:ext cx="855682" cy="272578"/>
          </a:xfrm>
          <a:prstGeom prst="striped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8370277" y="3749646"/>
            <a:ext cx="3659160" cy="126188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Note: The subtle difference of formulae for sample vs. population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 : the size of the sample 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 : the size of the population</a:t>
            </a:r>
            <a:endParaRPr lang="en-US" dirty="0"/>
          </a:p>
        </p:txBody>
      </p:sp>
      <p:sp>
        <p:nvSpPr>
          <p:cNvPr id="9" name="Striped Right Arrow 7"/>
          <p:cNvSpPr/>
          <p:nvPr/>
        </p:nvSpPr>
        <p:spPr>
          <a:xfrm rot="3572962" flipV="1">
            <a:off x="1974932" y="2211644"/>
            <a:ext cx="931952" cy="258023"/>
          </a:xfrm>
          <a:prstGeom prst="striped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  <p:transition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66675" y="1"/>
            <a:ext cx="12125325" cy="1076324"/>
          </a:xfrm>
        </p:spPr>
        <p:txBody>
          <a:bodyPr>
            <a:normAutofit/>
          </a:bodyPr>
          <a:lstStyle/>
          <a:p>
            <a:r>
              <a:rPr lang="en-US" altLang="en-US" dirty="0"/>
              <a:t>Variance for Single Variable (Numerical Data)</a:t>
            </a:r>
            <a:endParaRPr lang="en-US" altLang="en-US" dirty="0"/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3793" y="1246525"/>
            <a:ext cx="10981853" cy="5450312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sz="2400" dirty="0">
                <a:latin typeface="Calibri" panose="020F0502020204030204" pitchFamily="34" charset="0"/>
              </a:rPr>
              <a:t>The variance of a random variable </a:t>
            </a:r>
            <a:r>
              <a:rPr lang="en-US" altLang="en-US" sz="2400" i="1" dirty="0">
                <a:latin typeface="Calibri" panose="020F0502020204030204" pitchFamily="34" charset="0"/>
              </a:rPr>
              <a:t>X</a:t>
            </a:r>
            <a:r>
              <a:rPr lang="en-US" altLang="en-US" sz="2400" dirty="0">
                <a:latin typeface="Calibri" panose="020F0502020204030204" pitchFamily="34" charset="0"/>
              </a:rPr>
              <a:t> provides a measure of how much the value of </a:t>
            </a:r>
            <a:r>
              <a:rPr lang="en-US" altLang="en-US" sz="2400" i="1" dirty="0">
                <a:latin typeface="Calibri" panose="020F0502020204030204" pitchFamily="34" charset="0"/>
              </a:rPr>
              <a:t>X</a:t>
            </a:r>
            <a:r>
              <a:rPr lang="en-US" altLang="en-US" sz="2400" dirty="0">
                <a:latin typeface="Calibri" panose="020F0502020204030204" pitchFamily="34" charset="0"/>
              </a:rPr>
              <a:t> deviates from the mean or expected value of </a:t>
            </a:r>
            <a:r>
              <a:rPr lang="en-US" altLang="en-US" sz="2400" i="1" dirty="0">
                <a:latin typeface="Calibri" panose="020F0502020204030204" pitchFamily="34" charset="0"/>
              </a:rPr>
              <a:t>X:</a:t>
            </a:r>
            <a:endParaRPr lang="en-US" altLang="en-US" sz="2400" i="1" dirty="0">
              <a:latin typeface="Calibri" panose="020F0502020204030204" pitchFamily="34" charset="0"/>
            </a:endParaRPr>
          </a:p>
          <a:p>
            <a:pPr lvl="2">
              <a:lnSpc>
                <a:spcPct val="110000"/>
              </a:lnSpc>
              <a:buNone/>
            </a:pPr>
            <a:r>
              <a:rPr lang="en-US" altLang="en-US" sz="2400" dirty="0">
                <a:latin typeface="Calibri" panose="020F0502020204030204" pitchFamily="34" charset="0"/>
              </a:rPr>
              <a:t> </a:t>
            </a:r>
            <a:endParaRPr lang="en-US" altLang="en-US" sz="2400" dirty="0">
              <a:latin typeface="Calibri" panose="020F0502020204030204" pitchFamily="34" charset="0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altLang="en-US" sz="2400" b="1" dirty="0">
              <a:latin typeface="Calibri" panose="020F0502020204030204" pitchFamily="34" charset="0"/>
            </a:endParaRPr>
          </a:p>
          <a:p>
            <a:pPr lvl="1">
              <a:lnSpc>
                <a:spcPct val="110000"/>
              </a:lnSpc>
            </a:pPr>
            <a:endParaRPr lang="en-US" altLang="en-US" sz="2400" dirty="0">
              <a:latin typeface="Calibri" panose="020F0502020204030204" pitchFamily="34" charset="0"/>
            </a:endParaRPr>
          </a:p>
          <a:p>
            <a:pPr lvl="1">
              <a:lnSpc>
                <a:spcPct val="110000"/>
              </a:lnSpc>
            </a:pPr>
            <a:r>
              <a:rPr lang="en-US" altLang="en-US" sz="2400" dirty="0">
                <a:latin typeface="Calibri" panose="020F0502020204030204" pitchFamily="34" charset="0"/>
              </a:rPr>
              <a:t> where</a:t>
            </a:r>
            <a:r>
              <a:rPr lang="en-US" altLang="en-US" sz="2400" b="1" dirty="0">
                <a:latin typeface="Calibri" panose="020F0502020204030204" pitchFamily="34" charset="0"/>
              </a:rPr>
              <a:t> </a:t>
            </a:r>
            <a:r>
              <a:rPr lang="el-GR" altLang="en-US" sz="2400" dirty="0">
                <a:latin typeface="Calibri" panose="020F0502020204030204" pitchFamily="34" charset="0"/>
              </a:rPr>
              <a:t>σ</a:t>
            </a:r>
            <a:r>
              <a:rPr lang="en-US" altLang="en-US" sz="2400" baseline="30000" dirty="0">
                <a:latin typeface="Calibri" panose="020F0502020204030204" pitchFamily="34" charset="0"/>
              </a:rPr>
              <a:t>2</a:t>
            </a:r>
            <a:r>
              <a:rPr lang="en-US" altLang="en-US" sz="2400" dirty="0">
                <a:latin typeface="Calibri" panose="020F0502020204030204" pitchFamily="34" charset="0"/>
              </a:rPr>
              <a:t> is the variance of X, </a:t>
            </a:r>
            <a:r>
              <a:rPr lang="el-GR" altLang="en-US" sz="2400" dirty="0">
                <a:latin typeface="Calibri" panose="020F0502020204030204" pitchFamily="34" charset="0"/>
              </a:rPr>
              <a:t>σ</a:t>
            </a:r>
            <a:r>
              <a:rPr lang="en-US" altLang="en-US" sz="2400" dirty="0">
                <a:latin typeface="Calibri" panose="020F0502020204030204" pitchFamily="34" charset="0"/>
              </a:rPr>
              <a:t> is called </a:t>
            </a:r>
            <a:r>
              <a:rPr lang="en-US" altLang="en-US" sz="2400" i="1" dirty="0">
                <a:latin typeface="Calibri" panose="020F0502020204030204" pitchFamily="34" charset="0"/>
              </a:rPr>
              <a:t>standard deviation</a:t>
            </a:r>
            <a:endParaRPr lang="en-US" altLang="en-US" sz="2400" i="1" dirty="0">
              <a:latin typeface="Calibri" panose="020F0502020204030204" pitchFamily="34" charset="0"/>
            </a:endParaRPr>
          </a:p>
          <a:p>
            <a:pPr marL="733425" lvl="4" indent="0">
              <a:lnSpc>
                <a:spcPct val="110000"/>
              </a:lnSpc>
              <a:buNone/>
            </a:pPr>
            <a:r>
              <a:rPr lang="el-GR" altLang="en-US" sz="2400" dirty="0">
                <a:latin typeface="Calibri" panose="020F0502020204030204" pitchFamily="34" charset="0"/>
              </a:rPr>
              <a:t>µ</a:t>
            </a:r>
            <a:r>
              <a:rPr lang="en-US" altLang="en-US" sz="2400" dirty="0">
                <a:latin typeface="Calibri" panose="020F0502020204030204" pitchFamily="34" charset="0"/>
              </a:rPr>
              <a:t> is the mean, and </a:t>
            </a:r>
            <a:r>
              <a:rPr lang="el-GR" altLang="en-US" sz="2400" dirty="0">
                <a:latin typeface="Calibri" panose="020F0502020204030204" pitchFamily="34" charset="0"/>
              </a:rPr>
              <a:t>µ</a:t>
            </a:r>
            <a:r>
              <a:rPr lang="en-US" altLang="en-US" sz="2400" dirty="0">
                <a:latin typeface="Calibri" panose="020F0502020204030204" pitchFamily="34" charset="0"/>
              </a:rPr>
              <a:t> = E[X] is the expected value of X</a:t>
            </a:r>
            <a:endParaRPr lang="en-US" altLang="en-US" sz="2400" dirty="0">
              <a:latin typeface="Calibri" panose="020F0502020204030204" pitchFamily="34" charset="0"/>
            </a:endParaRPr>
          </a:p>
          <a:p>
            <a:pPr lvl="1">
              <a:lnSpc>
                <a:spcPct val="110000"/>
              </a:lnSpc>
            </a:pPr>
            <a:r>
              <a:rPr lang="en-US" altLang="en-US" sz="2400" dirty="0">
                <a:latin typeface="Calibri" panose="020F0502020204030204" pitchFamily="34" charset="0"/>
              </a:rPr>
              <a:t> That is, variance is the expected value of the square deviation from the mean</a:t>
            </a:r>
            <a:endParaRPr lang="en-US" altLang="en-US" sz="2400" dirty="0">
              <a:latin typeface="Calibri" panose="020F0502020204030204" pitchFamily="34" charset="0"/>
            </a:endParaRPr>
          </a:p>
          <a:p>
            <a:pPr lvl="1">
              <a:lnSpc>
                <a:spcPct val="110000"/>
              </a:lnSpc>
            </a:pPr>
            <a:r>
              <a:rPr lang="en-US" altLang="en-US" sz="2400" dirty="0">
                <a:latin typeface="Calibri" panose="020F0502020204030204" pitchFamily="34" charset="0"/>
              </a:rPr>
              <a:t> It can also be written as:</a:t>
            </a:r>
            <a:endParaRPr lang="en-US" altLang="en-US" sz="2400" dirty="0">
              <a:latin typeface="Calibri" panose="020F050202020403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altLang="en-US" sz="2400" dirty="0">
                <a:latin typeface="Calibri" panose="020F0502020204030204" pitchFamily="34" charset="0"/>
              </a:rPr>
              <a:t>Sample variance</a:t>
            </a:r>
            <a:endParaRPr lang="en-US" altLang="en-US" sz="2400" dirty="0">
              <a:latin typeface="Calibri" panose="020F0502020204030204" pitchFamily="34" charset="0"/>
            </a:endParaRPr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1785648" y="2179236"/>
          <a:ext cx="7134131" cy="1356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1" imgW="100279200" imgH="20116800" progId="Equation.DSMT4">
                  <p:embed/>
                </p:oleObj>
              </mc:Choice>
              <mc:Fallback>
                <p:oleObj name="Equation" r:id="rId1" imgW="100279200" imgH="20116800" progId="Equation.DSMT4">
                  <p:embed/>
                  <p:pic>
                    <p:nvPicPr>
                      <p:cNvPr id="0" name="Object 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85648" y="2179236"/>
                        <a:ext cx="7134131" cy="1356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4598987" y="5029200"/>
          <a:ext cx="6780213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3" imgW="85344000" imgH="5486400" progId="Equation.DSMT4">
                  <p:embed/>
                </p:oleObj>
              </mc:Choice>
              <mc:Fallback>
                <p:oleObj name="Equation" r:id="rId3" imgW="85344000" imgH="5486400" progId="Equation.DSMT4">
                  <p:embed/>
                  <p:pic>
                    <p:nvPicPr>
                      <p:cNvPr id="0" name="Object 1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98987" y="5029200"/>
                        <a:ext cx="6780213" cy="412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/>
              <p:nvPr/>
            </p:nvSpPr>
            <p:spPr>
              <a:xfrm>
                <a:off x="2565197" y="5666130"/>
                <a:ext cx="8414918" cy="9326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trlP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alt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en-US" sz="2000" i="1">
                          <a:latin typeface="Cambria Math" panose="02040503050406030204" pitchFamily="18" charset="0"/>
                        </a:rPr>
                        <m:t>                           </m:t>
                      </m:r>
                      <m:sSup>
                        <m:sSupPr>
                          <m:ctrlPr>
                            <a:rPr lang="en-US" alt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trlP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alt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5197" y="5666130"/>
                <a:ext cx="8414918" cy="932628"/>
              </a:xfrm>
              <a:prstGeom prst="rect">
                <a:avLst/>
              </a:prstGeom>
              <a:blipFill rotWithShape="1">
                <a:blip r:embed="rId5"/>
                <a:stretch>
                  <a:fillRect l="-5" t="-3" r="4" b="5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711200" y="228600"/>
            <a:ext cx="10668000" cy="762000"/>
          </a:xfrm>
        </p:spPr>
        <p:txBody>
          <a:bodyPr>
            <a:normAutofit/>
          </a:bodyPr>
          <a:lstStyle/>
          <a:p>
            <a:r>
              <a:rPr lang="en-US" altLang="en-US" dirty="0"/>
              <a:t>Covariance for Two Variables </a:t>
            </a:r>
            <a:endParaRPr lang="en-US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00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552262" y="1151932"/>
                <a:ext cx="11184626" cy="5450312"/>
              </a:xfrm>
            </p:spPr>
            <p:txBody>
              <a:bodyPr/>
              <a:lstStyle/>
              <a:p>
                <a:pPr>
                  <a:lnSpc>
                    <a:spcPct val="110000"/>
                  </a:lnSpc>
                </a:pPr>
                <a:r>
                  <a:rPr lang="en-US" altLang="en-US" sz="2400" dirty="0">
                    <a:latin typeface="Calibri" panose="020F0502020204030204" pitchFamily="34" charset="0"/>
                  </a:rPr>
                  <a:t>Covariance between two variables </a:t>
                </a:r>
                <a:r>
                  <a:rPr lang="en-US" altLang="en-US" sz="2400" i="1" dirty="0">
                    <a:latin typeface="Calibri" panose="020F0502020204030204" pitchFamily="34" charset="0"/>
                  </a:rPr>
                  <a:t>X</a:t>
                </a:r>
                <a:r>
                  <a:rPr lang="en-US" altLang="en-US" sz="2400" baseline="-25000" dirty="0">
                    <a:latin typeface="Calibri" panose="020F0502020204030204" pitchFamily="34" charset="0"/>
                  </a:rPr>
                  <a:t>1</a:t>
                </a:r>
                <a:r>
                  <a:rPr lang="en-US" altLang="en-US" sz="2400" dirty="0">
                    <a:latin typeface="Calibri" panose="020F0502020204030204" pitchFamily="34" charset="0"/>
                  </a:rPr>
                  <a:t> and </a:t>
                </a:r>
                <a:r>
                  <a:rPr lang="en-US" altLang="en-US" sz="2400" i="1" dirty="0">
                    <a:latin typeface="Calibri" panose="020F0502020204030204" pitchFamily="34" charset="0"/>
                  </a:rPr>
                  <a:t>X</a:t>
                </a:r>
                <a:r>
                  <a:rPr lang="en-US" altLang="en-US" sz="2400" baseline="-25000" dirty="0">
                    <a:latin typeface="Calibri" panose="020F0502020204030204" pitchFamily="34" charset="0"/>
                  </a:rPr>
                  <a:t>2</a:t>
                </a:r>
                <a:r>
                  <a:rPr lang="en-US" altLang="en-US" sz="2400" dirty="0">
                    <a:latin typeface="Calibri" panose="020F0502020204030204" pitchFamily="34" charset="0"/>
                  </a:rPr>
                  <a:t> </a:t>
                </a:r>
                <a:endParaRPr lang="en-US" altLang="en-US" sz="2400" dirty="0">
                  <a:latin typeface="Calibri" panose="020F0502020204030204" pitchFamily="34" charset="0"/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altLang="en-US" sz="2400" dirty="0">
                  <a:latin typeface="Calibri" panose="020F0502020204030204" pitchFamily="34" charset="0"/>
                </a:endParaRPr>
              </a:p>
              <a:p>
                <a:pPr lvl="2">
                  <a:lnSpc>
                    <a:spcPct val="110000"/>
                  </a:lnSpc>
                  <a:buNone/>
                </a:pPr>
                <a:r>
                  <a:rPr lang="en-US" altLang="en-US" sz="2400" dirty="0">
                    <a:latin typeface="Calibri" panose="020F0502020204030204" pitchFamily="34" charset="0"/>
                  </a:rPr>
                  <a:t>where µ</a:t>
                </a:r>
                <a:r>
                  <a:rPr lang="en-US" altLang="en-US" sz="2400" baseline="-25000" dirty="0">
                    <a:latin typeface="Calibri" panose="020F0502020204030204" pitchFamily="34" charset="0"/>
                  </a:rPr>
                  <a:t>1</a:t>
                </a:r>
                <a:r>
                  <a:rPr lang="en-US" altLang="en-US" sz="2400" dirty="0">
                    <a:latin typeface="Calibri" panose="020F0502020204030204" pitchFamily="34" charset="0"/>
                  </a:rPr>
                  <a:t> = E[</a:t>
                </a:r>
                <a:r>
                  <a:rPr lang="en-US" altLang="en-US" sz="2400" i="1" dirty="0">
                    <a:latin typeface="Calibri" panose="020F0502020204030204" pitchFamily="34" charset="0"/>
                  </a:rPr>
                  <a:t>X</a:t>
                </a:r>
                <a:r>
                  <a:rPr lang="en-US" altLang="en-US" sz="2400" baseline="-25000" dirty="0">
                    <a:latin typeface="Calibri" panose="020F0502020204030204" pitchFamily="34" charset="0"/>
                  </a:rPr>
                  <a:t>1</a:t>
                </a:r>
                <a:r>
                  <a:rPr lang="en-US" altLang="en-US" sz="2400" dirty="0">
                    <a:latin typeface="Calibri" panose="020F0502020204030204" pitchFamily="34" charset="0"/>
                  </a:rPr>
                  <a:t>] is the respective mean or </a:t>
                </a:r>
                <a:r>
                  <a:rPr lang="en-US" altLang="en-US" sz="2400" b="1" dirty="0">
                    <a:latin typeface="Calibri" panose="020F0502020204030204" pitchFamily="34" charset="0"/>
                  </a:rPr>
                  <a:t>expected value</a:t>
                </a:r>
                <a:r>
                  <a:rPr lang="en-US" altLang="en-US" sz="2400" dirty="0">
                    <a:latin typeface="Calibri" panose="020F0502020204030204" pitchFamily="34" charset="0"/>
                  </a:rPr>
                  <a:t> of </a:t>
                </a:r>
                <a:r>
                  <a:rPr lang="en-US" altLang="en-US" sz="2400" i="1" dirty="0">
                    <a:latin typeface="Calibri" panose="020F0502020204030204" pitchFamily="34" charset="0"/>
                  </a:rPr>
                  <a:t>X</a:t>
                </a:r>
                <a:r>
                  <a:rPr lang="en-US" altLang="en-US" sz="2400" baseline="-25000" dirty="0">
                    <a:latin typeface="Calibri" panose="020F0502020204030204" pitchFamily="34" charset="0"/>
                  </a:rPr>
                  <a:t>1</a:t>
                </a:r>
                <a:r>
                  <a:rPr lang="en-US" altLang="en-US" sz="2400" dirty="0">
                    <a:latin typeface="Calibri" panose="020F0502020204030204" pitchFamily="34" charset="0"/>
                  </a:rPr>
                  <a:t>; similarly for µ</a:t>
                </a:r>
                <a:r>
                  <a:rPr lang="en-US" altLang="en-US" sz="2400" baseline="-25000" dirty="0">
                    <a:latin typeface="Calibri" panose="020F0502020204030204" pitchFamily="34" charset="0"/>
                  </a:rPr>
                  <a:t>2</a:t>
                </a:r>
                <a:r>
                  <a:rPr lang="en-US" altLang="en-US" sz="2400" dirty="0">
                    <a:latin typeface="Calibri" panose="020F0502020204030204" pitchFamily="34" charset="0"/>
                  </a:rPr>
                  <a:t>  </a:t>
                </a:r>
                <a:endParaRPr lang="en-US" altLang="en-US" sz="2400" dirty="0">
                  <a:latin typeface="Calibri" panose="020F0502020204030204" pitchFamily="34" charset="0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en-US" altLang="en-US" sz="2400" dirty="0">
                    <a:latin typeface="Calibri" panose="020F0502020204030204" pitchFamily="34" charset="0"/>
                  </a:rPr>
                  <a:t>Sample covariance between X</a:t>
                </a:r>
                <a:r>
                  <a:rPr lang="en-US" altLang="en-US" sz="2400" baseline="-25000" dirty="0">
                    <a:latin typeface="Calibri" panose="020F0502020204030204" pitchFamily="34" charset="0"/>
                  </a:rPr>
                  <a:t>1</a:t>
                </a:r>
                <a:r>
                  <a:rPr lang="en-US" altLang="en-US" sz="2400" dirty="0">
                    <a:latin typeface="Calibri" panose="020F0502020204030204" pitchFamily="34" charset="0"/>
                  </a:rPr>
                  <a:t> and X</a:t>
                </a:r>
                <a:r>
                  <a:rPr lang="en-US" altLang="en-US" sz="2400" baseline="-25000" dirty="0">
                    <a:latin typeface="Calibri" panose="020F0502020204030204" pitchFamily="34" charset="0"/>
                  </a:rPr>
                  <a:t>2</a:t>
                </a:r>
                <a:r>
                  <a:rPr lang="en-US" altLang="en-US" sz="2400" dirty="0">
                    <a:latin typeface="Calibri" panose="020F0502020204030204" pitchFamily="34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trlPr>
                              <a:rPr lang="en-US" alt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en-US" sz="24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altLang="en-US" sz="24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ctrlP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trlPr>
                                  <a:rPr lang="en-US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alt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sz="2400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en-US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acc>
                          </m:e>
                        </m:d>
                        <m:d>
                          <m:dPr>
                            <m:ctrlPr>
                              <a:rPr lang="en-US" alt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trlPr>
                                  <a:rPr lang="en-US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alt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US" sz="2400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acc>
                          </m:e>
                        </m:d>
                      </m:e>
                    </m:nary>
                    <m:r>
                      <a:rPr lang="en-US" altLang="en-US" sz="2400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en-US" altLang="en-US" sz="2400" dirty="0">
                  <a:latin typeface="Calibri" panose="020F0502020204030204" pitchFamily="34" charset="0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en-US" altLang="en-US" sz="2400" dirty="0">
                    <a:latin typeface="Calibri" panose="020F0502020204030204" pitchFamily="34" charset="0"/>
                  </a:rPr>
                  <a:t>Sample covariance is a generalization of the sample variance:</a:t>
                </a:r>
                <a:br>
                  <a:rPr lang="en-US" altLang="en-US" sz="240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trlPr>
                                <a:rPr lang="en-US" alt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alt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en-US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alt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trlPr>
                                    <a:rPr lang="en-US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alt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2400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en-US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  <m:d>
                            <m:dPr>
                              <m:ctrlPr>
                                <a:rPr lang="en-US" alt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en-US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trlPr>
                                    <a:rPr lang="en-US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alt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2400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en-US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</m:e>
                      </m:nary>
                    </m:oMath>
                  </m:oMathPara>
                </a14:m>
                <a:endParaRPr lang="en-US" altLang="en-US" sz="2400" b="1" dirty="0">
                  <a:latin typeface="Calibri" panose="020F0502020204030204" pitchFamily="34" charset="0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en-US" altLang="en-US" sz="2400" b="1" dirty="0">
                    <a:latin typeface="Calibri" panose="020F0502020204030204" pitchFamily="34" charset="0"/>
                  </a:rPr>
                  <a:t>Positive covariance:</a:t>
                </a:r>
                <a:r>
                  <a:rPr lang="en-US" altLang="en-US" sz="2400" dirty="0">
                    <a:latin typeface="Calibri" panose="020F0502020204030204" pitchFamily="34" charset="0"/>
                  </a:rPr>
                  <a:t> If </a:t>
                </a:r>
                <a:r>
                  <a:rPr lang="el-GR" altLang="en-US" sz="2400" dirty="0">
                    <a:latin typeface="Calibri" panose="020F0502020204030204" pitchFamily="34" charset="0"/>
                  </a:rPr>
                  <a:t>σ</a:t>
                </a:r>
                <a:r>
                  <a:rPr lang="en-US" altLang="en-US" sz="2400" baseline="-25000" dirty="0">
                    <a:latin typeface="Calibri" panose="020F0502020204030204" pitchFamily="34" charset="0"/>
                  </a:rPr>
                  <a:t>12 </a:t>
                </a:r>
                <a:r>
                  <a:rPr lang="en-US" altLang="en-US" sz="2400" dirty="0">
                    <a:latin typeface="Calibri" panose="020F0502020204030204" pitchFamily="34" charset="0"/>
                  </a:rPr>
                  <a:t>&gt; 0</a:t>
                </a:r>
                <a:endParaRPr lang="en-US" altLang="en-US" sz="2400" dirty="0">
                  <a:latin typeface="Calibri" panose="020F0502020204030204" pitchFamily="34" charset="0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en-US" altLang="en-US" sz="2400" b="1" dirty="0">
                    <a:latin typeface="Calibri" panose="020F0502020204030204" pitchFamily="34" charset="0"/>
                  </a:rPr>
                  <a:t>Negative covariance</a:t>
                </a:r>
                <a:r>
                  <a:rPr lang="en-US" altLang="en-US" sz="2400" dirty="0">
                    <a:latin typeface="Calibri" panose="020F0502020204030204" pitchFamily="34" charset="0"/>
                  </a:rPr>
                  <a:t>: If </a:t>
                </a:r>
                <a:r>
                  <a:rPr lang="el-GR" altLang="en-US" sz="2400" dirty="0">
                    <a:latin typeface="Calibri" panose="020F0502020204030204" pitchFamily="34" charset="0"/>
                  </a:rPr>
                  <a:t>σ</a:t>
                </a:r>
                <a:r>
                  <a:rPr lang="en-US" altLang="en-US" sz="2400" baseline="-25000" dirty="0">
                    <a:latin typeface="Calibri" panose="020F0502020204030204" pitchFamily="34" charset="0"/>
                  </a:rPr>
                  <a:t>12  </a:t>
                </a:r>
                <a:r>
                  <a:rPr lang="en-US" altLang="en-US" sz="2400" dirty="0">
                    <a:latin typeface="Calibri" panose="020F0502020204030204" pitchFamily="34" charset="0"/>
                  </a:rPr>
                  <a:t>&lt; 0 </a:t>
                </a:r>
                <a:endParaRPr lang="en-US" altLang="en-US" sz="2400" dirty="0">
                  <a:latin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4100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52262" y="1151932"/>
                <a:ext cx="11184626" cy="5450312"/>
              </a:xfrm>
              <a:blipFill rotWithShape="1">
                <a:blip r:embed="rId1"/>
                <a:stretch>
                  <a:fillRect l="-4" t="-1" r="2" b="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1878014" y="1637035"/>
          <a:ext cx="8116887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2" imgW="105156000" imgH="5486400" progId="Equation.DSMT4">
                  <p:embed/>
                </p:oleObj>
              </mc:Choice>
              <mc:Fallback>
                <p:oleObj name="Equation" r:id="rId2" imgW="105156000" imgH="5486400" progId="Equation.DSMT4">
                  <p:embed/>
                  <p:pic>
                    <p:nvPicPr>
                      <p:cNvPr id="0" name="Object 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878014" y="1637035"/>
                        <a:ext cx="8116887" cy="422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Covariance for Two Variables 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80000"/>
                  </a:lnSpc>
                </a:pPr>
                <a:r>
                  <a:rPr lang="en-US" altLang="en-US" sz="2400" b="1" dirty="0">
                    <a:latin typeface="Calibri" panose="020F0502020204030204" pitchFamily="34" charset="0"/>
                  </a:rPr>
                  <a:t>Independence</a:t>
                </a:r>
                <a:r>
                  <a:rPr lang="en-US" altLang="en-US" sz="2400" dirty="0">
                    <a:latin typeface="Calibri" panose="020F0502020204030204" pitchFamily="34" charset="0"/>
                  </a:rPr>
                  <a:t>: If X</a:t>
                </a:r>
                <a:r>
                  <a:rPr lang="en-US" altLang="en-US" sz="2400" baseline="-25000" dirty="0">
                    <a:latin typeface="Calibri" panose="020F0502020204030204" pitchFamily="34" charset="0"/>
                  </a:rPr>
                  <a:t>1</a:t>
                </a:r>
                <a:r>
                  <a:rPr lang="en-US" altLang="en-US" sz="2400" dirty="0">
                    <a:latin typeface="Calibri" panose="020F0502020204030204" pitchFamily="34" charset="0"/>
                  </a:rPr>
                  <a:t> and X</a:t>
                </a:r>
                <a:r>
                  <a:rPr lang="en-US" altLang="en-US" sz="2400" baseline="-25000" dirty="0">
                    <a:latin typeface="Calibri" panose="020F0502020204030204" pitchFamily="34" charset="0"/>
                  </a:rPr>
                  <a:t>2 </a:t>
                </a:r>
                <a:r>
                  <a:rPr lang="en-US" altLang="en-US" sz="2400" dirty="0">
                    <a:latin typeface="Calibri" panose="020F0502020204030204" pitchFamily="34" charset="0"/>
                  </a:rPr>
                  <a:t>are</a:t>
                </a:r>
                <a:r>
                  <a:rPr lang="en-US" altLang="en-US" sz="2400" baseline="-25000" dirty="0">
                    <a:latin typeface="Calibri" panose="020F0502020204030204" pitchFamily="34" charset="0"/>
                  </a:rPr>
                  <a:t> </a:t>
                </a:r>
                <a:r>
                  <a:rPr lang="en-US" altLang="en-US" sz="2400" dirty="0">
                    <a:latin typeface="Calibri" panose="020F0502020204030204" pitchFamily="34" charset="0"/>
                  </a:rPr>
                  <a:t>independent, </a:t>
                </a:r>
                <a:r>
                  <a:rPr lang="el-GR" altLang="en-US" sz="2400" dirty="0">
                    <a:latin typeface="Calibri" panose="020F0502020204030204" pitchFamily="34" charset="0"/>
                  </a:rPr>
                  <a:t>σ</a:t>
                </a:r>
                <a:r>
                  <a:rPr lang="en-US" altLang="en-US" sz="2400" baseline="-25000" dirty="0">
                    <a:latin typeface="Calibri" panose="020F0502020204030204" pitchFamily="34" charset="0"/>
                  </a:rPr>
                  <a:t>12</a:t>
                </a:r>
                <a:r>
                  <a:rPr lang="en-US" altLang="en-US" sz="2400" dirty="0">
                    <a:latin typeface="Calibri" panose="020F0502020204030204" pitchFamily="34" charset="0"/>
                  </a:rPr>
                  <a:t> = 0 but the reverse is not true</a:t>
                </a:r>
                <a:endParaRPr lang="en-US" altLang="en-US" sz="2400" dirty="0">
                  <a:latin typeface="Calibri" panose="020F0502020204030204" pitchFamily="34" charset="0"/>
                </a:endParaRPr>
              </a:p>
              <a:p>
                <a:pPr lvl="1"/>
                <a:r>
                  <a:rPr lang="en-US" altLang="en-US" sz="2400" dirty="0">
                    <a:latin typeface="Calibri" panose="020F0502020204030204" pitchFamily="34" charset="0"/>
                  </a:rPr>
                  <a:t>Some pairs of random variables may have a covariance 0 but are not independent</a:t>
                </a:r>
                <a:endParaRPr lang="en-US" altLang="en-US" sz="2400" dirty="0">
                  <a:latin typeface="Calibri" panose="020F0502020204030204" pitchFamily="34" charset="0"/>
                </a:endParaRPr>
              </a:p>
              <a:p>
                <a:pPr lvl="1"/>
                <a:r>
                  <a:rPr lang="en-US" altLang="en-US" sz="2400" dirty="0">
                    <a:latin typeface="Calibri" panose="020F0502020204030204" pitchFamily="34" charset="0"/>
                  </a:rPr>
                  <a:t>Only under some additional assumptions (e.g., the data follow multivariate normal distributions) does a covariance of 0 imply independence</a:t>
                </a:r>
                <a:endParaRPr lang="en-US" altLang="en-US" sz="2400" dirty="0">
                  <a:latin typeface="Calibri" panose="020F0502020204030204" pitchFamily="34" charset="0"/>
                </a:endParaRPr>
              </a:p>
              <a:p>
                <a:r>
                  <a:rPr lang="en-US" dirty="0"/>
                  <a:t>Example:</a:t>
                </a: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=?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=?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=?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l="-4" t="-342" r="2" b="-4154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表格 3"/>
              <p:cNvGraphicFramePr>
                <a:graphicFrameLocks noGrp="1"/>
              </p:cNvGraphicFramePr>
              <p:nvPr/>
            </p:nvGraphicFramePr>
            <p:xfrm>
              <a:off x="907085" y="3429000"/>
              <a:ext cx="3386937" cy="89245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9379"/>
                    <a:gridCol w="1199884"/>
                    <a:gridCol w="819732"/>
                    <a:gridCol w="847942"/>
                  </a:tblGrid>
                  <a:tr h="44622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900" b="1" i="1" kern="12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900" b="1" i="1" kern="12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en-US" sz="1900" b="1" i="1" kern="12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900" b="1" kern="1200" dirty="0">
                            <a:solidFill>
                              <a:srgbClr val="00206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2060"/>
                              </a:solidFill>
                            </a:rPr>
                            <a:t>1</a:t>
                          </a:r>
                          <a:endParaRPr lang="en-US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2060"/>
                              </a:solidFill>
                            </a:rPr>
                            <a:t>-1</a:t>
                          </a:r>
                          <a:endParaRPr lang="en-US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 hMerge="1">
                      <a:tcPr/>
                    </a:tc>
                  </a:tr>
                  <a:tr h="446227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900" b="1" i="1" kern="12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900" b="1" i="1" kern="12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en-US" sz="1900" b="1" i="1" kern="1200" smtClean="0">
                                        <a:solidFill>
                                          <a:srgbClr val="002060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1900" b="1" kern="1200" dirty="0">
                            <a:solidFill>
                              <a:srgbClr val="00206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2060"/>
                              </a:solidFill>
                            </a:rPr>
                            <a:t>0</a:t>
                          </a:r>
                          <a:endParaRPr lang="en-US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900" b="1" kern="1200" dirty="0">
                              <a:solidFill>
                                <a:srgbClr val="00206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1900" b="1" kern="1200" dirty="0">
                            <a:solidFill>
                              <a:srgbClr val="00206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2060"/>
                              </a:solidFill>
                            </a:rPr>
                            <a:t>-1</a:t>
                          </a:r>
                          <a:endParaRPr lang="en-US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4" name="表格 3"/>
              <p:cNvGraphicFramePr>
                <a:graphicFrameLocks noGrp="1"/>
              </p:cNvGraphicFramePr>
              <p:nvPr/>
            </p:nvGraphicFramePr>
            <p:xfrm>
              <a:off x="907085" y="3429000"/>
              <a:ext cx="3386937" cy="89245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9379"/>
                    <a:gridCol w="1199884"/>
                    <a:gridCol w="819732"/>
                    <a:gridCol w="847942"/>
                  </a:tblGrid>
                  <a:tr h="4464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2060"/>
                              </a:solidFill>
                            </a:rPr>
                            <a:t>1</a:t>
                          </a:r>
                          <a:endParaRPr lang="en-US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2060"/>
                              </a:solidFill>
                            </a:rPr>
                            <a:t>-1</a:t>
                          </a:r>
                          <a:endParaRPr lang="en-US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 hMerge="1">
                      <a:tcPr/>
                    </a:tc>
                  </a:tr>
                  <a:tr h="4457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2060"/>
                              </a:solidFill>
                            </a:rPr>
                            <a:t>0</a:t>
                          </a:r>
                          <a:endParaRPr lang="en-US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1900" b="1" kern="1200" dirty="0">
                              <a:solidFill>
                                <a:srgbClr val="002060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en-US" sz="1900" b="1" kern="1200" dirty="0">
                            <a:solidFill>
                              <a:srgbClr val="002060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2060"/>
                              </a:solidFill>
                            </a:rPr>
                            <a:t>-1</a:t>
                          </a:r>
                          <a:endParaRPr lang="en-US" b="1" dirty="0">
                            <a:solidFill>
                              <a:srgbClr val="002060"/>
                            </a:solidFill>
                          </a:endParaRPr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graphicFrame>
        <p:nvGraphicFramePr>
          <p:cNvPr id="5" name="Object 9"/>
          <p:cNvGraphicFramePr>
            <a:graphicFrameLocks noChangeAspect="1"/>
          </p:cNvGraphicFramePr>
          <p:nvPr/>
        </p:nvGraphicFramePr>
        <p:xfrm>
          <a:off x="641745" y="4368931"/>
          <a:ext cx="8116887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3" imgW="105156000" imgH="5486400" progId="Equation.DSMT4">
                  <p:embed/>
                </p:oleObj>
              </mc:Choice>
              <mc:Fallback>
                <p:oleObj name="Equation" r:id="rId3" imgW="105156000" imgH="5486400" progId="Equation.DSMT4">
                  <p:embed/>
                  <p:pic>
                    <p:nvPicPr>
                      <p:cNvPr id="0" name="Object 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1745" y="4368931"/>
                        <a:ext cx="8116887" cy="422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711200" y="228600"/>
            <a:ext cx="10668000" cy="762000"/>
          </a:xfrm>
        </p:spPr>
        <p:txBody>
          <a:bodyPr>
            <a:normAutofit/>
          </a:bodyPr>
          <a:lstStyle/>
          <a:p>
            <a:r>
              <a:rPr lang="en-US" altLang="en-US" dirty="0"/>
              <a:t>Example:  Calculation of Covariance</a:t>
            </a:r>
            <a:endParaRPr lang="en-US" altLang="en-US" dirty="0"/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8089" y="1175180"/>
            <a:ext cx="10971759" cy="5551441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US" sz="2400" dirty="0">
                <a:latin typeface="Calibri" panose="020F0502020204030204" pitchFamily="34" charset="0"/>
              </a:rPr>
              <a:t>Suppose two stocks X</a:t>
            </a:r>
            <a:r>
              <a:rPr lang="en-US" sz="2400" baseline="-25000" dirty="0">
                <a:latin typeface="Calibri" panose="020F0502020204030204" pitchFamily="34" charset="0"/>
              </a:rPr>
              <a:t>1</a:t>
            </a:r>
            <a:r>
              <a:rPr lang="en-US" sz="2400" dirty="0">
                <a:latin typeface="Calibri" panose="020F0502020204030204" pitchFamily="34" charset="0"/>
              </a:rPr>
              <a:t> and X</a:t>
            </a:r>
            <a:r>
              <a:rPr lang="en-US" sz="2400" baseline="-25000" dirty="0">
                <a:latin typeface="Calibri" panose="020F0502020204030204" pitchFamily="34" charset="0"/>
              </a:rPr>
              <a:t>2</a:t>
            </a:r>
            <a:r>
              <a:rPr lang="en-US" sz="2400" dirty="0">
                <a:latin typeface="Calibri" panose="020F0502020204030204" pitchFamily="34" charset="0"/>
              </a:rPr>
              <a:t> have the following values in one week:  </a:t>
            </a:r>
            <a:endParaRPr lang="en-US" sz="2400" dirty="0">
              <a:latin typeface="Calibri" panose="020F0502020204030204" pitchFamily="34" charset="0"/>
            </a:endParaRPr>
          </a:p>
          <a:p>
            <a:pPr lvl="2">
              <a:spcAft>
                <a:spcPts val="600"/>
              </a:spcAft>
              <a:defRPr/>
            </a:pPr>
            <a:r>
              <a:rPr lang="en-US" sz="2400" dirty="0">
                <a:latin typeface="Calibri" panose="020F0502020204030204" pitchFamily="34" charset="0"/>
              </a:rPr>
              <a:t>(2, 5), (3, 8), (5, 10), (4, 11), (6, 14)</a:t>
            </a:r>
            <a:endParaRPr lang="en-US" sz="2400" dirty="0">
              <a:latin typeface="Calibri" panose="020F0502020204030204" pitchFamily="34" charset="0"/>
            </a:endParaRPr>
          </a:p>
          <a:p>
            <a:pPr>
              <a:spcAft>
                <a:spcPts val="600"/>
              </a:spcAft>
              <a:defRPr/>
            </a:pPr>
            <a:r>
              <a:rPr lang="en-US" sz="2400" dirty="0">
                <a:latin typeface="Calibri" panose="020F0502020204030204" pitchFamily="34" charset="0"/>
              </a:rPr>
              <a:t>Question:  If the stocks are affected by the same industry trends, will their prices rise or fall together?</a:t>
            </a:r>
            <a:endParaRPr lang="en-US" sz="2400" dirty="0">
              <a:latin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sz="2400" dirty="0">
                <a:latin typeface="Calibri" panose="020F0502020204030204" pitchFamily="34" charset="0"/>
              </a:rPr>
              <a:t>Covariance formula</a:t>
            </a:r>
            <a:endParaRPr lang="en-US" sz="2400" dirty="0">
              <a:latin typeface="Calibri" panose="020F0502020204030204" pitchFamily="34" charset="0"/>
            </a:endParaRPr>
          </a:p>
          <a:p>
            <a:pPr>
              <a:spcAft>
                <a:spcPts val="600"/>
              </a:spcAft>
              <a:defRPr/>
            </a:pPr>
            <a:endParaRPr lang="en-US" sz="2400" dirty="0">
              <a:latin typeface="Calibri" panose="020F0502020204030204" pitchFamily="34" charset="0"/>
            </a:endParaRPr>
          </a:p>
          <a:p>
            <a:pPr>
              <a:spcAft>
                <a:spcPts val="600"/>
              </a:spcAft>
              <a:defRPr/>
            </a:pPr>
            <a:r>
              <a:rPr lang="en-US" sz="2400" dirty="0">
                <a:latin typeface="Calibri" panose="020F0502020204030204" pitchFamily="34" charset="0"/>
              </a:rPr>
              <a:t>Its computation can be simplified as: </a:t>
            </a:r>
            <a:endParaRPr lang="en-US" sz="2400" dirty="0">
              <a:latin typeface="Calibri" panose="020F0502020204030204" pitchFamily="34" charset="0"/>
            </a:endParaRPr>
          </a:p>
          <a:p>
            <a:pPr lvl="1">
              <a:spcAft>
                <a:spcPts val="600"/>
              </a:spcAft>
              <a:defRPr/>
            </a:pPr>
            <a:r>
              <a:rPr lang="en-US" sz="2400" dirty="0">
                <a:latin typeface="Calibri" panose="020F0502020204030204" pitchFamily="34" charset="0"/>
              </a:rPr>
              <a:t>E(X</a:t>
            </a:r>
            <a:r>
              <a:rPr lang="en-US" sz="2400" baseline="-25000" dirty="0">
                <a:latin typeface="Calibri" panose="020F0502020204030204" pitchFamily="34" charset="0"/>
              </a:rPr>
              <a:t>1</a:t>
            </a:r>
            <a:r>
              <a:rPr lang="en-US" sz="2400" dirty="0">
                <a:latin typeface="Calibri" panose="020F0502020204030204" pitchFamily="34" charset="0"/>
              </a:rPr>
              <a:t>) = (2 + 3 + 5 + 4 + 6)/ 5 = 20/5 = 4</a:t>
            </a:r>
            <a:endParaRPr lang="en-US" sz="2400" dirty="0">
              <a:latin typeface="Calibri" panose="020F0502020204030204" pitchFamily="34" charset="0"/>
            </a:endParaRPr>
          </a:p>
          <a:p>
            <a:pPr lvl="1">
              <a:spcAft>
                <a:spcPts val="600"/>
              </a:spcAft>
              <a:defRPr/>
            </a:pPr>
            <a:r>
              <a:rPr lang="en-US" sz="2400" dirty="0">
                <a:latin typeface="Calibri" panose="020F0502020204030204" pitchFamily="34" charset="0"/>
              </a:rPr>
              <a:t>E(X</a:t>
            </a:r>
            <a:r>
              <a:rPr lang="en-US" sz="2400" baseline="-25000" dirty="0">
                <a:latin typeface="Calibri" panose="020F0502020204030204" pitchFamily="34" charset="0"/>
              </a:rPr>
              <a:t>2</a:t>
            </a:r>
            <a:r>
              <a:rPr lang="en-US" sz="2400" dirty="0">
                <a:latin typeface="Calibri" panose="020F0502020204030204" pitchFamily="34" charset="0"/>
              </a:rPr>
              <a:t>) = (5 + 8 + 10 + 11 + 14) /5 = 48/5 = 9.6</a:t>
            </a:r>
            <a:endParaRPr lang="en-US" sz="2400" dirty="0">
              <a:latin typeface="Calibri" panose="020F0502020204030204" pitchFamily="34" charset="0"/>
            </a:endParaRPr>
          </a:p>
          <a:p>
            <a:pPr lvl="1">
              <a:spcAft>
                <a:spcPts val="600"/>
              </a:spcAft>
              <a:defRPr/>
            </a:pPr>
            <a:r>
              <a:rPr lang="el-GR" altLang="en-US" sz="2400" dirty="0">
                <a:latin typeface="Calibri" panose="020F0502020204030204" pitchFamily="34" charset="0"/>
              </a:rPr>
              <a:t>σ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12</a:t>
            </a:r>
            <a:r>
              <a:rPr lang="en-US" sz="2400" dirty="0">
                <a:latin typeface="Calibri" panose="020F0502020204030204" pitchFamily="34" charset="0"/>
              </a:rPr>
              <a:t> = (2×5 + 3×8 + 5×10 + 4×11 + 6×14)/5 − 4 × 9.6 = 4</a:t>
            </a:r>
            <a:endParaRPr lang="en-US" sz="2400" dirty="0">
              <a:latin typeface="Calibri" panose="020F0502020204030204" pitchFamily="34" charset="0"/>
            </a:endParaRPr>
          </a:p>
          <a:p>
            <a:pPr>
              <a:spcAft>
                <a:spcPts val="600"/>
              </a:spcAft>
              <a:defRPr/>
            </a:pPr>
            <a:r>
              <a:rPr lang="en-US" sz="2400" dirty="0">
                <a:latin typeface="Calibri" panose="020F0502020204030204" pitchFamily="34" charset="0"/>
              </a:rPr>
              <a:t>Thus, X</a:t>
            </a:r>
            <a:r>
              <a:rPr lang="en-US" sz="2400" baseline="-25000" dirty="0">
                <a:latin typeface="Calibri" panose="020F0502020204030204" pitchFamily="34" charset="0"/>
              </a:rPr>
              <a:t>1</a:t>
            </a:r>
            <a:r>
              <a:rPr lang="en-US" sz="2400" dirty="0">
                <a:latin typeface="Calibri" panose="020F0502020204030204" pitchFamily="34" charset="0"/>
              </a:rPr>
              <a:t> and X</a:t>
            </a:r>
            <a:r>
              <a:rPr lang="en-US" sz="2400" baseline="-25000" dirty="0">
                <a:latin typeface="Calibri" panose="020F0502020204030204" pitchFamily="34" charset="0"/>
              </a:rPr>
              <a:t>2</a:t>
            </a:r>
            <a:r>
              <a:rPr lang="en-US" sz="2400" dirty="0">
                <a:latin typeface="Calibri" panose="020F0502020204030204" pitchFamily="34" charset="0"/>
              </a:rPr>
              <a:t> rise together since </a:t>
            </a:r>
            <a:r>
              <a:rPr lang="el-GR" altLang="en-US" sz="2400" dirty="0">
                <a:latin typeface="Calibri" panose="020F0502020204030204" pitchFamily="34" charset="0"/>
              </a:rPr>
              <a:t>σ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12</a:t>
            </a:r>
            <a:r>
              <a:rPr lang="en-US" sz="2400" dirty="0">
                <a:latin typeface="Calibri" panose="020F0502020204030204" pitchFamily="34" charset="0"/>
              </a:rPr>
              <a:t> &gt; 0</a:t>
            </a:r>
            <a:endParaRPr lang="en-US" sz="2400" dirty="0">
              <a:latin typeface="Calibri" panose="020F0502020204030204" pitchFamily="34" charset="0"/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1447155" y="3585335"/>
          <a:ext cx="8116887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1" imgW="105156000" imgH="5486400" progId="Equation.DSMT4">
                  <p:embed/>
                </p:oleObj>
              </mc:Choice>
              <mc:Fallback>
                <p:oleObj name="Equation" r:id="rId1" imgW="105156000" imgH="5486400" progId="Equation.DSMT4">
                  <p:embed/>
                  <p:pic>
                    <p:nvPicPr>
                      <p:cNvPr id="0" name="Object 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47155" y="3585335"/>
                        <a:ext cx="8116887" cy="422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5904990" y="4150053"/>
          <a:ext cx="334010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3" imgW="43281600" imgH="5486400" progId="Equation.DSMT4">
                  <p:embed/>
                </p:oleObj>
              </mc:Choice>
              <mc:Fallback>
                <p:oleObj name="Equation" r:id="rId3" imgW="43281600" imgH="5486400" progId="Equation.DSMT4">
                  <p:embed/>
                  <p:pic>
                    <p:nvPicPr>
                      <p:cNvPr id="0" name="Object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04990" y="4150053"/>
                        <a:ext cx="3340100" cy="422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-64656" y="191655"/>
            <a:ext cx="12302836" cy="762000"/>
          </a:xfrm>
        </p:spPr>
        <p:txBody>
          <a:bodyPr>
            <a:noAutofit/>
          </a:bodyPr>
          <a:lstStyle/>
          <a:p>
            <a:r>
              <a:rPr lang="en-US" altLang="en-US" dirty="0"/>
              <a:t>Correlation between Two Numerical Variables</a:t>
            </a:r>
            <a:endParaRPr lang="en-US" altLang="en-US" dirty="0"/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2262" y="1168754"/>
            <a:ext cx="10919301" cy="5450312"/>
          </a:xfrm>
        </p:spPr>
        <p:txBody>
          <a:bodyPr/>
          <a:lstStyle/>
          <a:p>
            <a:pPr marL="285750" lvl="1" indent="-285750">
              <a:spcAft>
                <a:spcPts val="600"/>
              </a:spcAft>
              <a:buClr>
                <a:srgbClr val="0000CC"/>
              </a:buClr>
            </a:pPr>
            <a:r>
              <a:rPr lang="en-US" altLang="en-US" sz="2400" b="1" dirty="0">
                <a:latin typeface="Calibri" panose="020F0502020204030204" pitchFamily="34" charset="0"/>
              </a:rPr>
              <a:t>Correlation</a:t>
            </a:r>
            <a:r>
              <a:rPr lang="en-US" altLang="en-US" sz="2400" dirty="0">
                <a:latin typeface="Calibri" panose="020F0502020204030204" pitchFamily="34" charset="0"/>
              </a:rPr>
              <a:t> between two variables X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 </a:t>
            </a:r>
            <a:r>
              <a:rPr lang="en-US" altLang="en-US" sz="2400" dirty="0">
                <a:latin typeface="Calibri" panose="020F0502020204030204" pitchFamily="34" charset="0"/>
              </a:rPr>
              <a:t>and X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2 </a:t>
            </a:r>
            <a:r>
              <a:rPr lang="en-US" altLang="en-US" sz="2400" dirty="0">
                <a:latin typeface="Calibri" panose="020F0502020204030204" pitchFamily="34" charset="0"/>
              </a:rPr>
              <a:t>is the standard covariance, obtained by normalizing the covariance with the standard deviation of each variable</a:t>
            </a:r>
            <a:endParaRPr lang="en-US" altLang="en-US" sz="2400" dirty="0">
              <a:latin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endParaRPr lang="en-US" altLang="en-US" sz="2400" dirty="0">
              <a:latin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en-US" sz="2400" b="1" dirty="0">
                <a:latin typeface="Calibri" panose="020F0502020204030204" pitchFamily="34" charset="0"/>
              </a:rPr>
              <a:t>Sample correlation </a:t>
            </a:r>
            <a:r>
              <a:rPr lang="en-US" altLang="en-US" sz="2400" dirty="0">
                <a:latin typeface="Calibri" panose="020F0502020204030204" pitchFamily="34" charset="0"/>
              </a:rPr>
              <a:t>for two attributes X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 </a:t>
            </a:r>
            <a:r>
              <a:rPr lang="en-US" altLang="en-US" sz="2400" dirty="0">
                <a:latin typeface="Calibri" panose="020F0502020204030204" pitchFamily="34" charset="0"/>
              </a:rPr>
              <a:t>and X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2</a:t>
            </a:r>
            <a:r>
              <a:rPr lang="en-US" altLang="en-US" sz="2400" dirty="0">
                <a:latin typeface="Calibri" panose="020F0502020204030204" pitchFamily="34" charset="0"/>
              </a:rPr>
              <a:t>: </a:t>
            </a:r>
            <a:endParaRPr lang="en-US" altLang="en-US" sz="2400" dirty="0">
              <a:latin typeface="Calibri" panose="020F0502020204030204" pitchFamily="34" charset="0"/>
            </a:endParaRPr>
          </a:p>
          <a:p>
            <a:pPr lvl="3">
              <a:spcAft>
                <a:spcPts val="600"/>
              </a:spcAft>
              <a:buNone/>
            </a:pPr>
            <a:endParaRPr lang="en-US" altLang="en-US" sz="2400" dirty="0">
              <a:latin typeface="Calibri" panose="020F0502020204030204" pitchFamily="34" charset="0"/>
            </a:endParaRPr>
          </a:p>
          <a:p>
            <a:pPr lvl="3">
              <a:spcAft>
                <a:spcPts val="600"/>
              </a:spcAft>
              <a:buNone/>
            </a:pPr>
            <a:r>
              <a:rPr lang="en-US" altLang="en-US" sz="2400" dirty="0">
                <a:latin typeface="Calibri" panose="020F0502020204030204" pitchFamily="34" charset="0"/>
              </a:rPr>
              <a:t>where n is the number of tuples, µ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</a:t>
            </a:r>
            <a:r>
              <a:rPr lang="en-US" altLang="en-US" sz="2400" dirty="0">
                <a:latin typeface="Calibri" panose="020F0502020204030204" pitchFamily="34" charset="0"/>
              </a:rPr>
              <a:t> and µ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2</a:t>
            </a:r>
            <a:r>
              <a:rPr lang="en-US" altLang="en-US" sz="2400" dirty="0">
                <a:latin typeface="Calibri" panose="020F0502020204030204" pitchFamily="34" charset="0"/>
              </a:rPr>
              <a:t> are the respective means of X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</a:t>
            </a:r>
            <a:r>
              <a:rPr lang="en-US" altLang="en-US" sz="2400" dirty="0">
                <a:latin typeface="Calibri" panose="020F0502020204030204" pitchFamily="34" charset="0"/>
              </a:rPr>
              <a:t> and X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2 </a:t>
            </a:r>
            <a:r>
              <a:rPr lang="en-US" altLang="en-US" sz="2400" dirty="0">
                <a:latin typeface="Calibri" panose="020F0502020204030204" pitchFamily="34" charset="0"/>
              </a:rPr>
              <a:t>, </a:t>
            </a:r>
            <a:r>
              <a:rPr lang="el-GR" altLang="en-US" sz="2400" dirty="0">
                <a:latin typeface="Calibri" panose="020F0502020204030204" pitchFamily="34" charset="0"/>
              </a:rPr>
              <a:t>σ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 </a:t>
            </a:r>
            <a:r>
              <a:rPr lang="en-US" altLang="en-US" sz="2400" dirty="0">
                <a:latin typeface="Calibri" panose="020F0502020204030204" pitchFamily="34" charset="0"/>
              </a:rPr>
              <a:t>and </a:t>
            </a:r>
            <a:r>
              <a:rPr lang="el-GR" altLang="en-US" sz="2400" dirty="0">
                <a:latin typeface="Calibri" panose="020F0502020204030204" pitchFamily="34" charset="0"/>
              </a:rPr>
              <a:t>σ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2 </a:t>
            </a:r>
            <a:r>
              <a:rPr lang="en-US" altLang="en-US" sz="2400" dirty="0">
                <a:latin typeface="Calibri" panose="020F0502020204030204" pitchFamily="34" charset="0"/>
              </a:rPr>
              <a:t>are the respective standard deviation of X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</a:t>
            </a:r>
            <a:r>
              <a:rPr lang="en-US" altLang="en-US" sz="2400" dirty="0">
                <a:latin typeface="Calibri" panose="020F0502020204030204" pitchFamily="34" charset="0"/>
              </a:rPr>
              <a:t> and X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2</a:t>
            </a:r>
            <a:endParaRPr lang="en-US" altLang="en-US" sz="2400" baseline="-25000" dirty="0">
              <a:latin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en-US" sz="2400" dirty="0">
                <a:latin typeface="Calibri" panose="020F0502020204030204" pitchFamily="34" charset="0"/>
              </a:rPr>
              <a:t>If </a:t>
            </a:r>
            <a:r>
              <a:rPr lang="el-GR" altLang="en-US" sz="2400" dirty="0">
                <a:latin typeface="Calibri" panose="020F0502020204030204" pitchFamily="34" charset="0"/>
              </a:rPr>
              <a:t>ρ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12</a:t>
            </a:r>
            <a:r>
              <a:rPr lang="en-US" altLang="en-US" sz="2400" dirty="0">
                <a:latin typeface="Calibri" panose="020F0502020204030204" pitchFamily="34" charset="0"/>
              </a:rPr>
              <a:t> &gt; 0: A and B are positively correlated (X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</a:t>
            </a:r>
            <a:r>
              <a:rPr lang="en-US" altLang="en-US" sz="2400" dirty="0">
                <a:latin typeface="Calibri" panose="020F0502020204030204" pitchFamily="34" charset="0"/>
              </a:rPr>
              <a:t>’s values increase as X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2</a:t>
            </a:r>
            <a:r>
              <a:rPr lang="en-US" altLang="en-US" sz="2400" dirty="0">
                <a:latin typeface="Calibri" panose="020F0502020204030204" pitchFamily="34" charset="0"/>
              </a:rPr>
              <a:t>’s)</a:t>
            </a:r>
            <a:endParaRPr lang="en-US" altLang="en-US" sz="2400" dirty="0">
              <a:latin typeface="Calibri" panose="020F0502020204030204" pitchFamily="34" charset="0"/>
            </a:endParaRPr>
          </a:p>
          <a:p>
            <a:pPr lvl="1">
              <a:spcAft>
                <a:spcPts val="600"/>
              </a:spcAft>
            </a:pPr>
            <a:r>
              <a:rPr lang="en-US" altLang="en-US" sz="2400" dirty="0">
                <a:latin typeface="Calibri" panose="020F0502020204030204" pitchFamily="34" charset="0"/>
              </a:rPr>
              <a:t> The higher, the stronger correlation</a:t>
            </a:r>
            <a:endParaRPr lang="en-US" altLang="en-US" sz="2400" dirty="0">
              <a:latin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en-US" sz="2400" dirty="0">
                <a:latin typeface="Calibri" panose="020F0502020204030204" pitchFamily="34" charset="0"/>
              </a:rPr>
              <a:t>If </a:t>
            </a:r>
            <a:r>
              <a:rPr lang="el-GR" altLang="en-US" sz="2400" dirty="0">
                <a:latin typeface="Calibri" panose="020F0502020204030204" pitchFamily="34" charset="0"/>
              </a:rPr>
              <a:t>ρ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12</a:t>
            </a:r>
            <a:r>
              <a:rPr lang="en-US" altLang="en-US" sz="2400" dirty="0">
                <a:latin typeface="Calibri" panose="020F0502020204030204" pitchFamily="34" charset="0"/>
              </a:rPr>
              <a:t> = 0: independent (under the same assumption as discussed in co-variance)</a:t>
            </a:r>
            <a:endParaRPr lang="en-US" altLang="en-US" sz="2400" dirty="0">
              <a:latin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en-US" sz="2400" dirty="0">
                <a:latin typeface="Calibri" panose="020F0502020204030204" pitchFamily="34" charset="0"/>
              </a:rPr>
              <a:t>If </a:t>
            </a:r>
            <a:r>
              <a:rPr lang="el-GR" altLang="en-US" sz="2400" dirty="0">
                <a:latin typeface="Calibri" panose="020F0502020204030204" pitchFamily="34" charset="0"/>
              </a:rPr>
              <a:t>ρ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12</a:t>
            </a:r>
            <a:r>
              <a:rPr lang="en-US" altLang="en-US" sz="2400" dirty="0">
                <a:latin typeface="Calibri" panose="020F0502020204030204" pitchFamily="34" charset="0"/>
              </a:rPr>
              <a:t> &lt; 0: negatively correlated</a:t>
            </a:r>
            <a:endParaRPr lang="en-US" altLang="en-US" sz="2400" dirty="0">
              <a:latin typeface="Calibri" panose="020F0502020204030204" pitchFamily="34" charset="0"/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3856775" y="1880689"/>
          <a:ext cx="2284307" cy="7736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1" imgW="33223200" imgH="11277600" progId="Equation.DSMT4">
                  <p:embed/>
                </p:oleObj>
              </mc:Choice>
              <mc:Fallback>
                <p:oleObj name="Equation" r:id="rId1" imgW="33223200" imgH="11277600" progId="Equation.DSMT4">
                  <p:embed/>
                  <p:pic>
                    <p:nvPicPr>
                      <p:cNvPr id="0" name="Object 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56775" y="1880689"/>
                        <a:ext cx="2284307" cy="7736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/>
              <p:nvPr/>
            </p:nvSpPr>
            <p:spPr>
              <a:xfrm>
                <a:off x="6690507" y="2732002"/>
                <a:ext cx="5435527" cy="107875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trlPr>
                                <a:rPr lang="en-US" alt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en-US" sz="2000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</m:acc>
                        </m:e>
                        <m:sub>
                          <m:r>
                            <a:rPr lang="en-US" altLang="en-US" sz="2000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alt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trlP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en-US" sz="2000" i="1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trlP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trlP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alt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en-US" sz="20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n-US" alt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trlPr>
                                            <a:rPr lang="en-US" alt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en-US" sz="2000" i="1"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d>
                            <m:dPr>
                              <m:ctrlPr>
                                <a:rPr lang="en-US" alt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trlP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en-US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alt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en-US" sz="20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trlPr>
                                                    <a:rPr lang="en-US" alt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alt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𝜇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alt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en-US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  <m:sSup>
                                <m:sSupPr>
                                  <m:ctrlP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nary>
                                    <m:naryPr>
                                      <m:chr m:val="∑"/>
                                      <m:limLoc m:val="subSup"/>
                                      <m:ctrlPr>
                                        <a:rPr lang="en-US" altLang="en-US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5"/>
                                        </m:rPr>
                                        <a:rPr lang="en-US" alt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en-US" sz="2000" b="0" i="1" smtClean="0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altLang="en-US" sz="2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alt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d>
                                        <m:dPr>
                                          <m:ctrlPr>
                                            <a:rPr lang="en-US" alt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alt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en-US" sz="200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trlPr>
                                                    <a:rPr lang="en-US" alt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altLang="en-US" sz="2000" i="1">
                                                      <a:latin typeface="Cambria Math" panose="02040503050406030204" pitchFamily="18" charset="0"/>
                                                    </a:rPr>
                                                    <m:t>𝜇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alt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nary>
                                </m:e>
                                <m:sup>
                                  <m:r>
                                    <a:rPr lang="en-US" altLang="en-U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0507" y="2732002"/>
                <a:ext cx="5435527" cy="1078757"/>
              </a:xfrm>
              <a:prstGeom prst="rect">
                <a:avLst/>
              </a:prstGeom>
              <a:blipFill rotWithShape="1">
                <a:blip r:embed="rId3"/>
                <a:stretch>
                  <a:fillRect l="-3" t="-22" r="1" b="1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12192000" cy="762000"/>
          </a:xfrm>
        </p:spPr>
        <p:txBody>
          <a:bodyPr>
            <a:normAutofit/>
          </a:bodyPr>
          <a:lstStyle/>
          <a:p>
            <a:r>
              <a:rPr lang="en-US" altLang="en-US" dirty="0"/>
              <a:t>Visualizing Changes of Correlation Coefficient</a:t>
            </a:r>
            <a:endParaRPr lang="en-US" altLang="en-US" dirty="0"/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24668" y="2496963"/>
            <a:ext cx="4997512" cy="2143534"/>
          </a:xfrm>
        </p:spPr>
        <p:txBody>
          <a:bodyPr/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000000"/>
                </a:solidFill>
              </a:rPr>
              <a:t>Correlation coefficient value range: [–1, 1]</a:t>
            </a:r>
            <a:endParaRPr lang="en-US" altLang="en-US" sz="2400" dirty="0">
              <a:solidFill>
                <a:srgbClr val="000000"/>
              </a:solidFill>
            </a:endParaRPr>
          </a:p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000000"/>
                </a:solidFill>
              </a:rPr>
              <a:t>A set of scatter plots shows sets of points and their correlation coefficients changing from –1 to 1 </a:t>
            </a:r>
            <a:r>
              <a:rPr lang="en-US" altLang="en-US" sz="2400" dirty="0"/>
              <a:t> </a:t>
            </a:r>
            <a:endParaRPr lang="en-US" altLang="en-US" sz="2400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0" y="1256281"/>
          <a:ext cx="6096000" cy="538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Bitmap Image" r:id="rId1" imgW="6035040" imgH="5783580" progId="Paint.Picture">
                  <p:embed/>
                </p:oleObj>
              </mc:Choice>
              <mc:Fallback>
                <p:oleObj name="Bitmap Image" r:id="rId1" imgW="6035040" imgH="5783580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7918"/>
                      <a:stretch>
                        <a:fillRect/>
                      </a:stretch>
                    </p:blipFill>
                    <p:spPr bwMode="auto">
                      <a:xfrm>
                        <a:off x="0" y="1256281"/>
                        <a:ext cx="6096000" cy="538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711200" y="228600"/>
            <a:ext cx="10668000" cy="762000"/>
          </a:xfrm>
        </p:spPr>
        <p:txBody>
          <a:bodyPr>
            <a:normAutofit/>
          </a:bodyPr>
          <a:lstStyle/>
          <a:p>
            <a:r>
              <a:rPr lang="en-US" altLang="en-US" dirty="0"/>
              <a:t>Covariance Matrix</a:t>
            </a:r>
            <a:endParaRPr lang="en-US" altLang="en-US" dirty="0"/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934" y="1183315"/>
            <a:ext cx="9896191" cy="3312486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2400" dirty="0">
                <a:latin typeface="Calibri" panose="020F0502020204030204" pitchFamily="34" charset="0"/>
              </a:rPr>
              <a:t>The variance and covariance information for the two variables X</a:t>
            </a:r>
            <a:r>
              <a:rPr lang="en-US" sz="2400" baseline="-25000" dirty="0">
                <a:latin typeface="Calibri" panose="020F0502020204030204" pitchFamily="34" charset="0"/>
              </a:rPr>
              <a:t>1</a:t>
            </a:r>
            <a:r>
              <a:rPr lang="en-US" sz="2400" dirty="0">
                <a:latin typeface="Calibri" panose="020F0502020204030204" pitchFamily="34" charset="0"/>
              </a:rPr>
              <a:t> and X</a:t>
            </a:r>
            <a:r>
              <a:rPr lang="en-US" sz="2400" baseline="-25000" dirty="0">
                <a:latin typeface="Calibri" panose="020F0502020204030204" pitchFamily="34" charset="0"/>
              </a:rPr>
              <a:t>2</a:t>
            </a:r>
            <a:r>
              <a:rPr lang="en-US" sz="2400" dirty="0">
                <a:latin typeface="Calibri" panose="020F0502020204030204" pitchFamily="34" charset="0"/>
              </a:rPr>
              <a:t> can be summarized as 2 X 2 covariance matrix as </a:t>
            </a:r>
            <a:endParaRPr lang="en-US" sz="2400" dirty="0">
              <a:latin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endParaRPr lang="en-US" sz="2400" dirty="0">
              <a:latin typeface="Calibri" panose="020F0502020204030204" pitchFamily="34" charset="0"/>
            </a:endParaRPr>
          </a:p>
          <a:p>
            <a:pPr marL="0" indent="0">
              <a:spcAft>
                <a:spcPts val="600"/>
              </a:spcAft>
              <a:buNone/>
              <a:defRPr/>
            </a:pPr>
            <a:endParaRPr lang="en-US" sz="2400" dirty="0">
              <a:latin typeface="Calibri" panose="020F0502020204030204" pitchFamily="34" charset="0"/>
            </a:endParaRPr>
          </a:p>
          <a:p>
            <a:pPr marL="0" indent="0">
              <a:spcAft>
                <a:spcPts val="600"/>
              </a:spcAft>
              <a:buNone/>
              <a:defRPr/>
            </a:pPr>
            <a:endParaRPr lang="en-US" sz="2400" dirty="0">
              <a:latin typeface="Calibri" panose="020F0502020204030204" pitchFamily="34" charset="0"/>
            </a:endParaRPr>
          </a:p>
          <a:p>
            <a:pPr marL="0" indent="0">
              <a:spcAft>
                <a:spcPts val="600"/>
              </a:spcAft>
              <a:buNone/>
              <a:defRPr/>
            </a:pPr>
            <a:endParaRPr lang="en-US" sz="2400" dirty="0">
              <a:latin typeface="Calibri" panose="020F0502020204030204" pitchFamily="34" charset="0"/>
            </a:endParaRPr>
          </a:p>
          <a:p>
            <a:pPr>
              <a:spcAft>
                <a:spcPts val="600"/>
              </a:spcAft>
              <a:defRPr/>
            </a:pPr>
            <a:r>
              <a:rPr lang="en-US" sz="2400" dirty="0">
                <a:latin typeface="Calibri" panose="020F0502020204030204" pitchFamily="34" charset="0"/>
              </a:rPr>
              <a:t>Generalizing it to </a:t>
            </a:r>
            <a:r>
              <a:rPr lang="en-US" sz="2400" i="1" dirty="0">
                <a:latin typeface="Calibri" panose="020F0502020204030204" pitchFamily="34" charset="0"/>
              </a:rPr>
              <a:t>d</a:t>
            </a:r>
            <a:r>
              <a:rPr lang="en-US" sz="2400" dirty="0">
                <a:latin typeface="Calibri" panose="020F0502020204030204" pitchFamily="34" charset="0"/>
              </a:rPr>
              <a:t> dimensions, we have,</a:t>
            </a:r>
            <a:endParaRPr lang="en-US" sz="2400" dirty="0">
              <a:latin typeface="Calibri" panose="020F0502020204030204" pitchFamily="34" charset="0"/>
            </a:endParaRPr>
          </a:p>
          <a:p>
            <a:pPr marL="0" indent="0">
              <a:spcBef>
                <a:spcPts val="1200"/>
              </a:spcBef>
              <a:buNone/>
            </a:pPr>
            <a:endParaRPr lang="en-US" sz="2000" dirty="0">
              <a:latin typeface="Calibri" panose="020F0502020204030204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2138494" y="1812140"/>
          <a:ext cx="6478949" cy="8325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1" imgW="85344000" imgH="10972800" progId="Equation.DSMT4">
                  <p:embed/>
                </p:oleObj>
              </mc:Choice>
              <mc:Fallback>
                <p:oleObj name="Equation" r:id="rId1" imgW="85344000" imgH="10972800" progId="Equation.DSMT4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38494" y="1812140"/>
                        <a:ext cx="6478949" cy="8325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2304170" y="2564377"/>
          <a:ext cx="5621510" cy="17426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3" imgW="74676000" imgH="23164800" progId="Equation.DSMT4">
                  <p:embed/>
                </p:oleObj>
              </mc:Choice>
              <mc:Fallback>
                <p:oleObj name="Equation" r:id="rId3" imgW="74676000" imgH="23164800" progId="Equation.DSMT4">
                  <p:embed/>
                  <p:pic>
                    <p:nvPicPr>
                      <p:cNvPr id="0" name="Object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04170" y="2564377"/>
                        <a:ext cx="5621510" cy="17426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00" y="4697506"/>
            <a:ext cx="4403725" cy="180045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7968" y="4767783"/>
            <a:ext cx="6334125" cy="165990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12192000" cy="7620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dirty="0"/>
              <a:t>Graphic Displays of Basic Statistical Descriptions</a:t>
            </a:r>
            <a:endParaRPr lang="en-US" altLang="en-US" dirty="0"/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1499" y="1219200"/>
            <a:ext cx="11049001" cy="5384800"/>
          </a:xfrm>
        </p:spPr>
        <p:txBody>
          <a:bodyPr/>
          <a:lstStyle/>
          <a:p>
            <a:pPr eaLnBrk="1" hangingPunct="1">
              <a:spcAft>
                <a:spcPts val="600"/>
              </a:spcAft>
              <a:buSzPct val="80000"/>
            </a:pPr>
            <a:r>
              <a:rPr lang="en-US" altLang="en-US" sz="2400" b="1" dirty="0"/>
              <a:t>Boxplot</a:t>
            </a:r>
            <a:r>
              <a:rPr lang="en-US" altLang="en-US" sz="2400" dirty="0"/>
              <a:t>: graphic display of five-number summary</a:t>
            </a:r>
            <a:endParaRPr lang="en-US" altLang="en-US" sz="2400" dirty="0"/>
          </a:p>
          <a:p>
            <a:pPr eaLnBrk="1" hangingPunct="1">
              <a:spcAft>
                <a:spcPts val="600"/>
              </a:spcAft>
              <a:buSzPct val="80000"/>
            </a:pPr>
            <a:r>
              <a:rPr lang="en-US" altLang="en-US" sz="2400" b="1" dirty="0"/>
              <a:t>Histogram</a:t>
            </a:r>
            <a:r>
              <a:rPr lang="en-US" altLang="en-US" sz="2400" dirty="0"/>
              <a:t>: x-axis are values, y-axis </a:t>
            </a:r>
            <a:r>
              <a:rPr lang="en-US" altLang="en-US" sz="2400" dirty="0" err="1"/>
              <a:t>repres</a:t>
            </a:r>
            <a:r>
              <a:rPr lang="en-US" altLang="en-US" sz="2400" dirty="0"/>
              <a:t>. frequencies </a:t>
            </a:r>
            <a:endParaRPr lang="en-US" altLang="en-US" sz="2400" dirty="0"/>
          </a:p>
          <a:p>
            <a:pPr eaLnBrk="1" hangingPunct="1">
              <a:spcAft>
                <a:spcPts val="600"/>
              </a:spcAft>
              <a:buSzPct val="80000"/>
            </a:pPr>
            <a:r>
              <a:rPr lang="en-US" altLang="en-US" sz="2400" b="1" dirty="0"/>
              <a:t>Quantile plot</a:t>
            </a:r>
            <a:r>
              <a:rPr lang="en-US" altLang="en-US" sz="2400" dirty="0"/>
              <a:t>:  each value </a:t>
            </a:r>
            <a:r>
              <a:rPr lang="en-US" altLang="en-US" sz="2400" i="1" dirty="0"/>
              <a:t>x</a:t>
            </a:r>
            <a:r>
              <a:rPr lang="en-US" altLang="en-US" sz="2400" i="1" baseline="-25000" dirty="0"/>
              <a:t>i</a:t>
            </a:r>
            <a:r>
              <a:rPr lang="en-US" altLang="en-US" sz="2400" baseline="-25000" dirty="0"/>
              <a:t>  </a:t>
            </a:r>
            <a:r>
              <a:rPr lang="en-US" altLang="en-US" sz="2400" dirty="0"/>
              <a:t>is paired with </a:t>
            </a:r>
            <a:r>
              <a:rPr lang="en-US" altLang="en-US" sz="2400" i="1" dirty="0"/>
              <a:t>f</a:t>
            </a:r>
            <a:r>
              <a:rPr lang="en-US" altLang="en-US" sz="2400" i="1" baseline="-25000" dirty="0"/>
              <a:t>i </a:t>
            </a:r>
            <a:r>
              <a:rPr lang="en-US" altLang="en-US" sz="2400" dirty="0"/>
              <a:t> indicating that approximately 100 </a:t>
            </a:r>
            <a:r>
              <a:rPr lang="en-US" altLang="en-US" sz="2400" i="1" dirty="0"/>
              <a:t>f</a:t>
            </a:r>
            <a:r>
              <a:rPr lang="en-US" altLang="en-US" sz="2400" i="1" baseline="-25000" dirty="0"/>
              <a:t>i </a:t>
            </a:r>
            <a:r>
              <a:rPr lang="en-US" altLang="en-US" sz="2400" dirty="0"/>
              <a:t>% of data  are </a:t>
            </a:r>
            <a:r>
              <a:rPr lang="en-US" altLang="en-US" sz="2400" dirty="0">
                <a:sym typeface="Symbol" panose="05050102010706020507" pitchFamily="18" charset="2"/>
              </a:rPr>
              <a:t></a:t>
            </a:r>
            <a:r>
              <a:rPr lang="en-US" altLang="en-US" sz="2400" dirty="0"/>
              <a:t> </a:t>
            </a:r>
            <a:r>
              <a:rPr lang="en-US" altLang="en-US" sz="2400" i="1" dirty="0"/>
              <a:t>x</a:t>
            </a:r>
            <a:r>
              <a:rPr lang="en-US" altLang="en-US" sz="2400" i="1" baseline="-25000" dirty="0"/>
              <a:t>i</a:t>
            </a:r>
            <a:r>
              <a:rPr lang="en-US" altLang="en-US" sz="2400" baseline="-25000" dirty="0"/>
              <a:t> </a:t>
            </a:r>
            <a:endParaRPr lang="en-US" altLang="en-US" sz="2400" dirty="0"/>
          </a:p>
          <a:p>
            <a:pPr eaLnBrk="1" hangingPunct="1">
              <a:spcAft>
                <a:spcPts val="600"/>
              </a:spcAft>
              <a:buSzPct val="80000"/>
            </a:pPr>
            <a:r>
              <a:rPr lang="en-US" altLang="en-US" sz="2400" b="1" dirty="0"/>
              <a:t>Quantile-quantile (q-q) plot</a:t>
            </a:r>
            <a:r>
              <a:rPr lang="en-US" altLang="en-US" sz="2400" dirty="0"/>
              <a:t>: graphs the quantiles of one </a:t>
            </a:r>
            <a:r>
              <a:rPr lang="en-US" altLang="en-US" sz="2400" dirty="0" err="1"/>
              <a:t>univariant</a:t>
            </a:r>
            <a:r>
              <a:rPr lang="en-US" altLang="en-US" sz="2400" dirty="0"/>
              <a:t> distribution against the corresponding quantiles of another</a:t>
            </a:r>
            <a:endParaRPr lang="en-US" altLang="en-US" sz="2400" dirty="0"/>
          </a:p>
          <a:p>
            <a:pPr eaLnBrk="1" hangingPunct="1">
              <a:spcAft>
                <a:spcPts val="600"/>
              </a:spcAft>
              <a:buSzPct val="80000"/>
            </a:pPr>
            <a:r>
              <a:rPr lang="en-US" altLang="en-US" sz="2400" b="1" dirty="0"/>
              <a:t>Scatter plot</a:t>
            </a:r>
            <a:r>
              <a:rPr lang="en-US" altLang="en-US" sz="2400" dirty="0"/>
              <a:t>: each pair of values is a pair of coordinates and plotted as points in the plane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-71718" y="0"/>
            <a:ext cx="12263718" cy="950259"/>
          </a:xfrm>
        </p:spPr>
        <p:txBody>
          <a:bodyPr>
            <a:noAutofit/>
          </a:bodyPr>
          <a:lstStyle/>
          <a:p>
            <a:r>
              <a:rPr lang="en-US" altLang="en-US" sz="4000" dirty="0"/>
              <a:t>Measuring the Dispersion of Data: Quartiles &amp; Boxplots   </a:t>
            </a:r>
            <a:endParaRPr lang="en-US" altLang="en-US" sz="4000" dirty="0"/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71500" y="1164292"/>
            <a:ext cx="7153364" cy="4516072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altLang="en-US" b="1" dirty="0">
                <a:latin typeface="Calibri" panose="020F0502020204030204" pitchFamily="34" charset="0"/>
              </a:rPr>
              <a:t>Quartiles</a:t>
            </a:r>
            <a:r>
              <a:rPr lang="en-US" altLang="en-US" dirty="0">
                <a:latin typeface="Calibri" panose="020F0502020204030204" pitchFamily="34" charset="0"/>
              </a:rPr>
              <a:t>: Q</a:t>
            </a:r>
            <a:r>
              <a:rPr lang="en-US" altLang="en-US" baseline="-25000" dirty="0">
                <a:latin typeface="Calibri" panose="020F0502020204030204" pitchFamily="34" charset="0"/>
              </a:rPr>
              <a:t>1</a:t>
            </a:r>
            <a:r>
              <a:rPr lang="en-US" altLang="en-US" dirty="0">
                <a:latin typeface="Calibri" panose="020F0502020204030204" pitchFamily="34" charset="0"/>
              </a:rPr>
              <a:t> (25</a:t>
            </a:r>
            <a:r>
              <a:rPr lang="en-US" altLang="en-US" baseline="30000" dirty="0">
                <a:latin typeface="Calibri" panose="020F0502020204030204" pitchFamily="34" charset="0"/>
              </a:rPr>
              <a:t>th</a:t>
            </a:r>
            <a:r>
              <a:rPr lang="en-US" altLang="en-US" dirty="0">
                <a:latin typeface="Calibri" panose="020F0502020204030204" pitchFamily="34" charset="0"/>
              </a:rPr>
              <a:t> percentile), Q</a:t>
            </a:r>
            <a:r>
              <a:rPr lang="en-US" altLang="en-US" baseline="-25000" dirty="0">
                <a:latin typeface="Calibri" panose="020F0502020204030204" pitchFamily="34" charset="0"/>
              </a:rPr>
              <a:t>3</a:t>
            </a:r>
            <a:r>
              <a:rPr lang="en-US" altLang="en-US" dirty="0">
                <a:latin typeface="Calibri" panose="020F0502020204030204" pitchFamily="34" charset="0"/>
              </a:rPr>
              <a:t> (75</a:t>
            </a:r>
            <a:r>
              <a:rPr lang="en-US" altLang="en-US" baseline="30000" dirty="0">
                <a:latin typeface="Calibri" panose="020F0502020204030204" pitchFamily="34" charset="0"/>
              </a:rPr>
              <a:t>th</a:t>
            </a:r>
            <a:r>
              <a:rPr lang="en-US" altLang="en-US" dirty="0">
                <a:latin typeface="Calibri" panose="020F0502020204030204" pitchFamily="34" charset="0"/>
              </a:rPr>
              <a:t> percentile)</a:t>
            </a:r>
            <a:endParaRPr lang="en-US" altLang="en-US" dirty="0">
              <a:latin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en-US" b="1" dirty="0">
                <a:latin typeface="Calibri" panose="020F0502020204030204" pitchFamily="34" charset="0"/>
              </a:rPr>
              <a:t>Inter-quartile range</a:t>
            </a:r>
            <a:r>
              <a:rPr lang="en-US" altLang="en-US" dirty="0">
                <a:latin typeface="Calibri" panose="020F0502020204030204" pitchFamily="34" charset="0"/>
              </a:rPr>
              <a:t>: IQR = Q</a:t>
            </a:r>
            <a:r>
              <a:rPr lang="en-US" altLang="en-US" baseline="-25000" dirty="0">
                <a:latin typeface="Calibri" panose="020F0502020204030204" pitchFamily="34" charset="0"/>
              </a:rPr>
              <a:t>3 </a:t>
            </a:r>
            <a:r>
              <a:rPr lang="en-US" altLang="en-US" dirty="0">
                <a:latin typeface="Calibri" panose="020F0502020204030204" pitchFamily="34" charset="0"/>
              </a:rPr>
              <a:t>–</a:t>
            </a:r>
            <a:r>
              <a:rPr lang="en-US" altLang="en-US" baseline="-25000" dirty="0">
                <a:latin typeface="Calibri" panose="020F0502020204030204" pitchFamily="34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</a:rPr>
              <a:t>Q</a:t>
            </a:r>
            <a:r>
              <a:rPr lang="en-US" altLang="en-US" baseline="-25000" dirty="0">
                <a:latin typeface="Calibri" panose="020F0502020204030204" pitchFamily="34" charset="0"/>
              </a:rPr>
              <a:t>1 </a:t>
            </a:r>
            <a:endParaRPr lang="en-US" altLang="en-US" baseline="-25000" dirty="0">
              <a:latin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en-US" b="1" dirty="0">
                <a:latin typeface="Calibri" panose="020F0502020204030204" pitchFamily="34" charset="0"/>
              </a:rPr>
              <a:t>Five number summary</a:t>
            </a:r>
            <a:r>
              <a:rPr lang="en-US" altLang="en-US" dirty="0">
                <a:latin typeface="Calibri" panose="020F0502020204030204" pitchFamily="34" charset="0"/>
              </a:rPr>
              <a:t>: min, Q</a:t>
            </a:r>
            <a:r>
              <a:rPr lang="en-US" altLang="en-US" baseline="-25000" dirty="0">
                <a:latin typeface="Calibri" panose="020F0502020204030204" pitchFamily="34" charset="0"/>
              </a:rPr>
              <a:t>1</a:t>
            </a:r>
            <a:r>
              <a:rPr lang="en-US" altLang="en-US" dirty="0">
                <a:latin typeface="Calibri" panose="020F0502020204030204" pitchFamily="34" charset="0"/>
              </a:rPr>
              <a:t>, median,</a:t>
            </a:r>
            <a:r>
              <a:rPr lang="en-US" altLang="en-US" baseline="-25000" dirty="0">
                <a:latin typeface="Calibri" panose="020F0502020204030204" pitchFamily="34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</a:rPr>
              <a:t>Q</a:t>
            </a:r>
            <a:r>
              <a:rPr lang="en-US" altLang="en-US" baseline="-25000" dirty="0">
                <a:latin typeface="Calibri" panose="020F0502020204030204" pitchFamily="34" charset="0"/>
              </a:rPr>
              <a:t>3</a:t>
            </a:r>
            <a:r>
              <a:rPr lang="en-US" altLang="en-US" dirty="0">
                <a:latin typeface="Calibri" panose="020F0502020204030204" pitchFamily="34" charset="0"/>
              </a:rPr>
              <a:t>, max</a:t>
            </a:r>
            <a:endParaRPr lang="en-US" altLang="en-US" dirty="0">
              <a:latin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en-US" b="1" dirty="0">
                <a:latin typeface="Calibri" panose="020F0502020204030204" pitchFamily="34" charset="0"/>
              </a:rPr>
              <a:t>Boxplot</a:t>
            </a:r>
            <a:r>
              <a:rPr lang="en-US" altLang="en-US" dirty="0">
                <a:latin typeface="Calibri" panose="020F0502020204030204" pitchFamily="34" charset="0"/>
              </a:rPr>
              <a:t>: Data is represented with a box</a:t>
            </a:r>
            <a:endParaRPr lang="en-US" altLang="en-US" dirty="0">
              <a:latin typeface="Calibri" panose="020F0502020204030204" pitchFamily="34" charset="0"/>
            </a:endParaRPr>
          </a:p>
          <a:p>
            <a:pPr lvl="1">
              <a:lnSpc>
                <a:spcPct val="12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Q</a:t>
            </a:r>
            <a:r>
              <a:rPr lang="en-US" altLang="en-US" baseline="-25000" dirty="0">
                <a:latin typeface="Calibri" panose="020F0502020204030204" pitchFamily="34" charset="0"/>
              </a:rPr>
              <a:t>1</a:t>
            </a:r>
            <a:r>
              <a:rPr lang="en-US" altLang="en-US" dirty="0">
                <a:latin typeface="Calibri" panose="020F0502020204030204" pitchFamily="34" charset="0"/>
              </a:rPr>
              <a:t>, Q</a:t>
            </a:r>
            <a:r>
              <a:rPr lang="en-US" altLang="en-US" baseline="-25000" dirty="0">
                <a:latin typeface="Calibri" panose="020F0502020204030204" pitchFamily="34" charset="0"/>
              </a:rPr>
              <a:t>3</a:t>
            </a:r>
            <a:r>
              <a:rPr lang="en-US" altLang="en-US" dirty="0">
                <a:latin typeface="Calibri" panose="020F0502020204030204" pitchFamily="34" charset="0"/>
              </a:rPr>
              <a:t>, IQR:  The ends of the box are at the first and third quartiles, i.e., the height of the box is IQR</a:t>
            </a:r>
            <a:endParaRPr lang="en-US" altLang="en-US" dirty="0">
              <a:latin typeface="Calibri" panose="020F0502020204030204" pitchFamily="34" charset="0"/>
            </a:endParaRPr>
          </a:p>
          <a:p>
            <a:pPr lvl="1">
              <a:spcAft>
                <a:spcPts val="600"/>
              </a:spcAft>
            </a:pPr>
            <a:r>
              <a:rPr lang="en-US" altLang="en-US" dirty="0">
                <a:latin typeface="Calibri" panose="020F0502020204030204" pitchFamily="34" charset="0"/>
              </a:rPr>
              <a:t>Median (Q</a:t>
            </a:r>
            <a:r>
              <a:rPr lang="en-US" altLang="en-US" baseline="-25000" dirty="0">
                <a:latin typeface="Calibri" panose="020F0502020204030204" pitchFamily="34" charset="0"/>
              </a:rPr>
              <a:t>2</a:t>
            </a:r>
            <a:r>
              <a:rPr lang="en-US" altLang="en-US" dirty="0">
                <a:latin typeface="Calibri" panose="020F0502020204030204" pitchFamily="34" charset="0"/>
              </a:rPr>
              <a:t>) is marked by a line within the box </a:t>
            </a:r>
            <a:endParaRPr lang="en-US" altLang="en-US" dirty="0">
              <a:latin typeface="Calibri" panose="020F0502020204030204" pitchFamily="34" charset="0"/>
            </a:endParaRPr>
          </a:p>
          <a:p>
            <a:pPr lvl="1">
              <a:lnSpc>
                <a:spcPct val="12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Whiskers: two lines outside the box extended to Minimum and Maximum</a:t>
            </a:r>
            <a:endParaRPr lang="en-US" altLang="en-US" dirty="0">
              <a:latin typeface="Calibri" panose="020F0502020204030204" pitchFamily="34" charset="0"/>
            </a:endParaRPr>
          </a:p>
        </p:txBody>
      </p:sp>
      <p:pic>
        <p:nvPicPr>
          <p:cNvPr id="6" name="Picture 2" descr="http://blog.contextures.com/wp-content/uploads/2013/06/boxplotsimple08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370" y="1262902"/>
            <a:ext cx="3467100" cy="3771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571500" y="5476348"/>
            <a:ext cx="10595264" cy="1033318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340995" indent="-34099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2770" indent="-37274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3895" indent="-2997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495" indent="-29019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2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Outliers: points beyond a specified outlier threshold, plotted individually</a:t>
            </a:r>
            <a:endParaRPr lang="en-US" altLang="en-US" dirty="0">
              <a:latin typeface="Calibri" panose="020F0502020204030204" pitchFamily="34" charset="0"/>
            </a:endParaRPr>
          </a:p>
          <a:p>
            <a:pPr lvl="2">
              <a:spcAft>
                <a:spcPts val="600"/>
              </a:spcAft>
            </a:pPr>
            <a:r>
              <a:rPr lang="en-US" altLang="en-US" b="1" dirty="0">
                <a:latin typeface="Calibri" panose="020F0502020204030204" pitchFamily="34" charset="0"/>
              </a:rPr>
              <a:t>Outlier</a:t>
            </a:r>
            <a:r>
              <a:rPr lang="en-US" altLang="en-US" dirty="0">
                <a:latin typeface="Calibri" panose="020F0502020204030204" pitchFamily="34" charset="0"/>
              </a:rPr>
              <a:t>: usually, a value higher/lower than 1.5 x IQR</a:t>
            </a:r>
            <a:endParaRPr lang="en-US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605" name="Object 1029"/>
          <p:cNvGraphicFramePr>
            <a:graphicFrameLocks noGrp="1"/>
          </p:cNvGraphicFramePr>
          <p:nvPr>
            <p:ph sz="half" idx="2"/>
          </p:nvPr>
        </p:nvGraphicFramePr>
        <p:xfrm>
          <a:off x="7511303" y="1088090"/>
          <a:ext cx="4833097" cy="31970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Chart" r:id="rId1" imgW="11025505" imgH="5367020" progId="MSGraph.Chart.8">
                  <p:embed followColorScheme="full"/>
                </p:oleObj>
              </mc:Choice>
              <mc:Fallback>
                <p:oleObj name="Chart" r:id="rId1" imgW="11025505" imgH="5367020" progId="MSGraph.Chart.8">
                  <p:embed followColorScheme="full"/>
                  <p:pic>
                    <p:nvPicPr>
                      <p:cNvPr id="0" name="Object 1029"/>
                      <p:cNvPicPr>
                        <a:picLocks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1303" y="1088090"/>
                        <a:ext cx="4833097" cy="31970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3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altLang="en-US" dirty="0"/>
              <a:t>Histogram Analysis</a:t>
            </a:r>
            <a:endParaRPr lang="en-US" altLang="en-US" dirty="0"/>
          </a:p>
        </p:txBody>
      </p:sp>
      <p:sp>
        <p:nvSpPr>
          <p:cNvPr id="25604" name="Rectangle 1027"/>
          <p:cNvSpPr>
            <a:spLocks noGrp="1" noChangeArrowheads="1"/>
          </p:cNvSpPr>
          <p:nvPr>
            <p:ph type="body" sz="half" idx="1"/>
          </p:nvPr>
        </p:nvSpPr>
        <p:spPr>
          <a:xfrm>
            <a:off x="595032" y="1088090"/>
            <a:ext cx="6747062" cy="5689227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Histogram: Graph display of tabulated frequencies, shown as bars</a:t>
            </a:r>
            <a:endParaRPr lang="en-US" altLang="en-US" dirty="0">
              <a:latin typeface="Calibri" panose="020F050202020403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Differences between histograms and bar charts</a:t>
            </a:r>
            <a:endParaRPr lang="en-US" altLang="en-US" dirty="0">
              <a:latin typeface="Calibri" panose="020F0502020204030204" pitchFamily="34" charset="0"/>
            </a:endParaRPr>
          </a:p>
          <a:p>
            <a:pPr lvl="1"/>
            <a:r>
              <a:rPr lang="en-US" dirty="0"/>
              <a:t>Histograms are used to show distributions of variables while bar charts are used to compare variables</a:t>
            </a:r>
            <a:endParaRPr lang="en-US" dirty="0"/>
          </a:p>
          <a:p>
            <a:pPr lvl="1"/>
            <a:r>
              <a:rPr lang="en-US" dirty="0"/>
              <a:t>Histograms plot binned quantitative data while bar charts plot categorical data</a:t>
            </a:r>
            <a:endParaRPr lang="en-US" dirty="0"/>
          </a:p>
          <a:p>
            <a:pPr lvl="1"/>
            <a:r>
              <a:rPr lang="en-US" dirty="0"/>
              <a:t>Bars can be reordered in bar charts but not in histograms</a:t>
            </a:r>
            <a:endParaRPr lang="en-US" dirty="0"/>
          </a:p>
          <a:p>
            <a:pPr lvl="1"/>
            <a:r>
              <a:rPr lang="en-US" dirty="0"/>
              <a:t>Differs from a bar chart in that it is the area of the bar that denotes the value, not the height as in bar charts, a crucial distinction when the categories are not of uniform width </a:t>
            </a:r>
            <a:endParaRPr lang="en-US" dirty="0"/>
          </a:p>
        </p:txBody>
      </p:sp>
      <p:pic>
        <p:nvPicPr>
          <p:cNvPr id="23585" name="Picture 33" descr="http://canvasjs.com/wp-content/uploads/2013/01/html5_multi_series_bar_char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1135" y="4204446"/>
            <a:ext cx="5351571" cy="2572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0318378" y="895729"/>
            <a:ext cx="1343584" cy="384721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Histogram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0723110" y="6473279"/>
            <a:ext cx="1164090" cy="384721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Bar chart</a:t>
            </a:r>
            <a:endParaRPr lang="en-US" dirty="0"/>
          </a:p>
        </p:txBody>
      </p:sp>
    </p:spTree>
  </p:cSld>
  <p:clrMapOvr>
    <a:masterClrMapping/>
  </p:clrMapOvr>
  <p:transition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11201400" cy="7620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dirty="0"/>
              <a:t>Histograms Often Tell More than Boxplots</a:t>
            </a:r>
            <a:endParaRPr lang="en-US" altLang="en-US" dirty="0"/>
          </a:p>
        </p:txBody>
      </p:sp>
      <p:graphicFrame>
        <p:nvGraphicFramePr>
          <p:cNvPr id="26628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1314450" y="1277936"/>
          <a:ext cx="3962400" cy="2417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SmartDraw" r:id="rId1" imgW="3063240" imgH="1691640" progId="SmartDraw.2">
                  <p:embed/>
                </p:oleObj>
              </mc:Choice>
              <mc:Fallback>
                <p:oleObj name="SmartDraw" r:id="rId1" imgW="3063240" imgH="1691640" progId="SmartDraw.2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4450" y="1277936"/>
                        <a:ext cx="3962400" cy="2417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9" name="Object 7"/>
          <p:cNvGraphicFramePr>
            <a:graphicFrameLocks noGrp="1" noChangeAspect="1"/>
          </p:cNvGraphicFramePr>
          <p:nvPr>
            <p:ph sz="half" idx="1"/>
          </p:nvPr>
        </p:nvGraphicFramePr>
        <p:xfrm>
          <a:off x="1390650" y="4059235"/>
          <a:ext cx="3886200" cy="2433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SmartDraw" r:id="rId3" imgW="3063240" imgH="1691640" progId="SmartDraw.2">
                  <p:embed/>
                </p:oleObj>
              </mc:Choice>
              <mc:Fallback>
                <p:oleObj name="SmartDraw" r:id="rId3" imgW="3063240" imgH="1691640" progId="SmartDraw.2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0650" y="4059235"/>
                        <a:ext cx="3886200" cy="2433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0" name="Rectangle 9"/>
          <p:cNvSpPr>
            <a:spLocks noChangeArrowheads="1"/>
          </p:cNvSpPr>
          <p:nvPr/>
        </p:nvSpPr>
        <p:spPr bwMode="auto">
          <a:xfrm>
            <a:off x="6400800" y="1522414"/>
            <a:ext cx="3657600" cy="472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endParaRPr lang="en-US" altLang="en-US" sz="2400" dirty="0">
              <a:latin typeface="Calibri" panose="020F0502020204030204" pitchFamily="34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5800725" y="2039935"/>
            <a:ext cx="5457825" cy="3379790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340995" indent="-34099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2770" indent="-37274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3895" indent="-2997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495" indent="-29019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en-US" sz="2400" dirty="0">
                <a:latin typeface="Calibri" panose="020F0502020204030204" pitchFamily="34" charset="0"/>
              </a:rPr>
              <a:t>The two histograms shown in the left may have the same boxplot representation</a:t>
            </a:r>
            <a:endParaRPr lang="en-US" altLang="en-US" sz="2400" dirty="0">
              <a:latin typeface="Calibri" panose="020F0502020204030204" pitchFamily="34" charset="0"/>
            </a:endParaRPr>
          </a:p>
          <a:p>
            <a:pPr lvl="1">
              <a:lnSpc>
                <a:spcPct val="11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The same values for: min, Q1, median, Q3, max</a:t>
            </a:r>
            <a:endParaRPr lang="en-US" altLang="en-US" dirty="0">
              <a:latin typeface="Calibri" panose="020F050202020403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altLang="en-US" sz="2400" dirty="0">
                <a:latin typeface="Calibri" panose="020F0502020204030204" pitchFamily="34" charset="0"/>
              </a:rPr>
              <a:t>But they have rather different data distributions</a:t>
            </a:r>
            <a:endParaRPr lang="en-US" altLang="en-US" sz="24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zo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2" descr="Image result for scatter plot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6008" y="1918060"/>
            <a:ext cx="6824477" cy="4874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699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Scatter plot</a:t>
            </a:r>
            <a:endParaRPr lang="en-US" altLang="en-US"/>
          </a:p>
        </p:txBody>
      </p:sp>
      <p:sp>
        <p:nvSpPr>
          <p:cNvPr id="29700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571500" y="1295400"/>
            <a:ext cx="10972800" cy="1779588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Provides a first look at bivariate data to see clusters of points, outliers, etc.</a:t>
            </a:r>
            <a:endParaRPr lang="en-US" altLang="en-US" sz="2400" dirty="0"/>
          </a:p>
          <a:p>
            <a:pPr eaLnBrk="1" hangingPunct="1"/>
            <a:r>
              <a:rPr lang="en-US" altLang="en-US" sz="2400" dirty="0"/>
              <a:t>Each pair of values is treated as a pair of coordinates and plotted as points in the plane</a:t>
            </a:r>
            <a:endParaRPr lang="en-US" altLang="en-US" sz="2400" dirty="0"/>
          </a:p>
        </p:txBody>
      </p:sp>
      <p:pic>
        <p:nvPicPr>
          <p:cNvPr id="29701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535" y="3112915"/>
            <a:ext cx="5217843" cy="28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619125" y="209550"/>
            <a:ext cx="10972800" cy="857250"/>
          </a:xfrm>
          <a:noFill/>
        </p:spPr>
        <p:txBody>
          <a:bodyPr vert="horz" lIns="92075" tIns="46038" rIns="92075" bIns="46038" rtlCol="0" anchor="ctr">
            <a:normAutofit/>
          </a:bodyPr>
          <a:lstStyle/>
          <a:p>
            <a:pPr eaLnBrk="1" hangingPunct="1"/>
            <a:r>
              <a:rPr lang="en-US" altLang="en-US" dirty="0"/>
              <a:t>Positively and Negatively Correlated Data</a:t>
            </a:r>
            <a:endParaRPr lang="en-US" altLang="en-US" dirty="0"/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562724" y="4437062"/>
            <a:ext cx="4676775" cy="2116138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>
              <a:lnSpc>
                <a:spcPct val="140000"/>
              </a:lnSpc>
            </a:pPr>
            <a:r>
              <a:rPr lang="en-US" altLang="en-US" sz="2400" dirty="0"/>
              <a:t>The left half fragment is positively correlated</a:t>
            </a:r>
            <a:endParaRPr lang="en-US" altLang="en-US" sz="2400" dirty="0"/>
          </a:p>
          <a:p>
            <a:pPr eaLnBrk="1" hangingPunct="1">
              <a:lnSpc>
                <a:spcPct val="140000"/>
              </a:lnSpc>
            </a:pPr>
            <a:r>
              <a:rPr lang="en-US" altLang="en-US" sz="2400" dirty="0"/>
              <a:t>The right half is negative correlated</a:t>
            </a:r>
            <a:endParaRPr lang="en-US" altLang="en-US" sz="2400" dirty="0">
              <a:solidFill>
                <a:schemeClr val="hlink"/>
              </a:solidFill>
            </a:endParaRPr>
          </a:p>
        </p:txBody>
      </p:sp>
      <p:pic>
        <p:nvPicPr>
          <p:cNvPr id="30725" name="Picture 4" descr="ha02correl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295400"/>
            <a:ext cx="3365500" cy="276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6" name="Picture 5" descr="ha02correl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1219200"/>
            <a:ext cx="381000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7" name="Picture 6" descr="fig4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4114800"/>
            <a:ext cx="35052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ight Arrow 1"/>
          <p:cNvSpPr/>
          <p:nvPr/>
        </p:nvSpPr>
        <p:spPr>
          <a:xfrm>
            <a:off x="5715000" y="5076825"/>
            <a:ext cx="609600" cy="5143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7" name="Picture 3" descr="fig18-1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17950" y="1714500"/>
            <a:ext cx="4038600" cy="3733800"/>
          </a:xfrm>
          <a:noFill/>
        </p:spPr>
      </p:pic>
      <p:pic>
        <p:nvPicPr>
          <p:cNvPr id="31748" name="Picture 4" descr="fig18-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96200" y="1943100"/>
            <a:ext cx="4191000" cy="3505200"/>
          </a:xfrm>
          <a:noFill/>
        </p:spPr>
      </p:pic>
      <p:pic>
        <p:nvPicPr>
          <p:cNvPr id="31749" name="Picture 5" descr="fig18-3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7950" y="1735138"/>
            <a:ext cx="4267200" cy="3606800"/>
          </a:xfrm>
          <a:noFill/>
        </p:spPr>
      </p:pic>
      <p:sp>
        <p:nvSpPr>
          <p:cNvPr id="31750" name="Rectangle 2"/>
          <p:cNvSpPr>
            <a:spLocks noGrp="1" noChangeArrowheads="1"/>
          </p:cNvSpPr>
          <p:nvPr>
            <p:ph type="title" sz="quarter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sz="3200" dirty="0"/>
              <a:t> </a:t>
            </a:r>
            <a:r>
              <a:rPr lang="en-US" altLang="en-US" sz="4900" dirty="0"/>
              <a:t>Uncorrelated Data</a:t>
            </a:r>
            <a:endParaRPr lang="en-US" altLang="en-US" sz="4900" dirty="0"/>
          </a:p>
        </p:txBody>
      </p:sp>
    </p:spTree>
  </p:cSld>
  <p:clrMapOvr>
    <a:masterClrMapping/>
  </p:clrMapOvr>
  <p:transition>
    <p:zo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571500" y="228600"/>
            <a:ext cx="11106150" cy="838200"/>
          </a:xfrm>
        </p:spPr>
        <p:txBody>
          <a:bodyPr>
            <a:normAutofit/>
          </a:bodyPr>
          <a:lstStyle/>
          <a:p>
            <a:r>
              <a:rPr lang="en-US" altLang="en-US" sz="4400" dirty="0"/>
              <a:t>Similarity and Distance Measures</a:t>
            </a:r>
            <a:endParaRPr lang="en-US" altLang="en-US" dirty="0"/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3388" y="1209235"/>
            <a:ext cx="10865223" cy="52578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altLang="en-US" dirty="0"/>
              <a:t>Data Matrix versus Dissimilarity Matrix </a:t>
            </a:r>
            <a:endParaRPr lang="en-US" altLang="en-US" dirty="0"/>
          </a:p>
          <a:p>
            <a:pPr>
              <a:spcAft>
                <a:spcPts val="600"/>
              </a:spcAft>
            </a:pPr>
            <a:r>
              <a:rPr lang="en-US" altLang="en-US" dirty="0"/>
              <a:t>Proximity Measures for Nominal Attributes </a:t>
            </a:r>
            <a:endParaRPr lang="en-US" altLang="en-US" dirty="0"/>
          </a:p>
          <a:p>
            <a:pPr>
              <a:spcAft>
                <a:spcPts val="600"/>
              </a:spcAft>
            </a:pPr>
            <a:r>
              <a:rPr lang="en-US" altLang="en-US" dirty="0"/>
              <a:t>Proximity Measures for Binary Attributes</a:t>
            </a:r>
            <a:endParaRPr lang="en-US" altLang="en-US" dirty="0"/>
          </a:p>
          <a:p>
            <a:pPr>
              <a:spcAft>
                <a:spcPts val="600"/>
              </a:spcAft>
            </a:pPr>
            <a:r>
              <a:rPr lang="en-US" altLang="en-US" dirty="0"/>
              <a:t>Dissimilarity of Numeric Data: </a:t>
            </a:r>
            <a:r>
              <a:rPr lang="en-US" altLang="en-US" dirty="0" err="1"/>
              <a:t>Minkowski</a:t>
            </a:r>
            <a:r>
              <a:rPr lang="en-US" altLang="en-US" dirty="0"/>
              <a:t> Distance</a:t>
            </a:r>
            <a:endParaRPr lang="en-US" altLang="en-US" dirty="0"/>
          </a:p>
          <a:p>
            <a:pPr>
              <a:spcAft>
                <a:spcPts val="600"/>
              </a:spcAft>
            </a:pPr>
            <a:r>
              <a:rPr lang="en-US" altLang="en-US" dirty="0"/>
              <a:t>Proximity Measures for Ordinal Attributes </a:t>
            </a:r>
            <a:endParaRPr lang="en-US" altLang="en-US" dirty="0"/>
          </a:p>
          <a:p>
            <a:pPr>
              <a:spcAft>
                <a:spcPts val="600"/>
              </a:spcAft>
            </a:pPr>
            <a:r>
              <a:rPr lang="en-US" altLang="en-US" dirty="0"/>
              <a:t>Dissimilarity for Attributes of Mixed Types</a:t>
            </a:r>
            <a:endParaRPr lang="en-US" altLang="en-US" dirty="0"/>
          </a:p>
          <a:p>
            <a:pPr>
              <a:spcAft>
                <a:spcPts val="600"/>
              </a:spcAft>
            </a:pPr>
            <a:r>
              <a:rPr lang="en-US" altLang="en-US" dirty="0"/>
              <a:t>Cosine Similarity</a:t>
            </a:r>
            <a:endParaRPr lang="en-US" altLang="en-US" dirty="0"/>
          </a:p>
          <a:p>
            <a:pPr>
              <a:spcAft>
                <a:spcPts val="600"/>
              </a:spcAft>
            </a:pPr>
            <a:r>
              <a:rPr lang="en-US" altLang="en-US" dirty="0"/>
              <a:t>Measuring Similar Distributions: The </a:t>
            </a:r>
            <a:r>
              <a:rPr lang="en-US" altLang="en-US" dirty="0" err="1"/>
              <a:t>Kullback-Leibler</a:t>
            </a:r>
            <a:r>
              <a:rPr lang="en-US" altLang="en-US" dirty="0"/>
              <a:t> Divergence  </a:t>
            </a:r>
            <a:endParaRPr lang="en-US" altLang="en-US" dirty="0"/>
          </a:p>
          <a:p>
            <a:pPr>
              <a:spcAft>
                <a:spcPts val="600"/>
              </a:spcAft>
            </a:pPr>
            <a:r>
              <a:rPr lang="en-US" altLang="en-US" dirty="0"/>
              <a:t>Capturing Hidden Semantics in Similarity Measures</a:t>
            </a:r>
            <a:endParaRPr lang="en-US" alt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711200" y="228600"/>
            <a:ext cx="10668000" cy="762000"/>
          </a:xfrm>
        </p:spPr>
        <p:txBody>
          <a:bodyPr/>
          <a:lstStyle/>
          <a:p>
            <a:r>
              <a:rPr lang="en-US" altLang="en-US" dirty="0"/>
              <a:t>Similarity, Dissimilarity, and Proximity</a:t>
            </a:r>
            <a:endParaRPr lang="en-US" altLang="en-US" dirty="0"/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2262" y="1233409"/>
            <a:ext cx="10148934" cy="545031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altLang="en-US" sz="2400" b="1" dirty="0"/>
              <a:t>Similarity </a:t>
            </a:r>
            <a:r>
              <a:rPr lang="en-US" sz="2400" b="1" dirty="0"/>
              <a:t>measure</a:t>
            </a:r>
            <a:r>
              <a:rPr lang="en-US" sz="2400" dirty="0"/>
              <a:t> or </a:t>
            </a:r>
            <a:r>
              <a:rPr lang="en-US" sz="2400" b="1" dirty="0"/>
              <a:t>similarity function</a:t>
            </a:r>
            <a:endParaRPr lang="en-US" altLang="en-US" sz="2400" b="1" dirty="0"/>
          </a:p>
          <a:p>
            <a:pPr lvl="1">
              <a:spcBef>
                <a:spcPts val="1200"/>
              </a:spcBef>
            </a:pPr>
            <a:r>
              <a:rPr lang="en-US" sz="2400" dirty="0"/>
              <a:t>A real-valued function that quantifies the similarity between two objects</a:t>
            </a:r>
            <a:endParaRPr lang="en-US" altLang="en-US" sz="2400" b="1" dirty="0"/>
          </a:p>
          <a:p>
            <a:pPr lvl="1">
              <a:spcBef>
                <a:spcPts val="1200"/>
              </a:spcBef>
            </a:pPr>
            <a:r>
              <a:rPr lang="en-US" altLang="en-US" sz="2400" dirty="0"/>
              <a:t>Measure how two data objects are alike: The higher value, the more alike</a:t>
            </a:r>
            <a:endParaRPr lang="en-US" altLang="en-US" sz="2400" dirty="0"/>
          </a:p>
          <a:p>
            <a:pPr lvl="1">
              <a:spcBef>
                <a:spcPts val="1200"/>
              </a:spcBef>
            </a:pPr>
            <a:r>
              <a:rPr lang="en-US" altLang="en-US" sz="2400" dirty="0"/>
              <a:t>Often falls in the range [0,1]:  0: no similarity; 1: completely similar</a:t>
            </a:r>
            <a:endParaRPr lang="en-US" altLang="en-US" sz="2400" dirty="0"/>
          </a:p>
          <a:p>
            <a:pPr>
              <a:spcBef>
                <a:spcPts val="1200"/>
              </a:spcBef>
            </a:pPr>
            <a:r>
              <a:rPr lang="en-US" altLang="en-US" sz="2400" b="1" dirty="0"/>
              <a:t>Dissimilarity</a:t>
            </a:r>
            <a:r>
              <a:rPr lang="en-US" altLang="en-US" sz="2400" dirty="0"/>
              <a:t> (or </a:t>
            </a:r>
            <a:r>
              <a:rPr lang="en-US" altLang="en-US" sz="2400" b="1" dirty="0"/>
              <a:t>distance</a:t>
            </a:r>
            <a:r>
              <a:rPr lang="en-US" altLang="en-US" sz="2400" dirty="0"/>
              <a:t>) measure</a:t>
            </a:r>
            <a:endParaRPr lang="en-US" altLang="en-US" sz="2400" dirty="0"/>
          </a:p>
          <a:p>
            <a:pPr lvl="1">
              <a:spcBef>
                <a:spcPts val="1200"/>
              </a:spcBef>
            </a:pPr>
            <a:r>
              <a:rPr lang="en-US" altLang="en-US" sz="2400" dirty="0"/>
              <a:t>Numerical measure of how different two data objects are</a:t>
            </a:r>
            <a:endParaRPr lang="en-US" altLang="en-US" sz="2400" dirty="0"/>
          </a:p>
          <a:p>
            <a:pPr lvl="1">
              <a:spcBef>
                <a:spcPts val="1200"/>
              </a:spcBef>
            </a:pPr>
            <a:r>
              <a:rPr lang="en-US" altLang="en-US" sz="2400" dirty="0"/>
              <a:t>In some sense, the inverse of similarity: </a:t>
            </a:r>
            <a:r>
              <a:rPr lang="en-US" sz="2400" dirty="0"/>
              <a:t> The </a:t>
            </a:r>
            <a:r>
              <a:rPr lang="en-US" altLang="en-US" sz="2400" dirty="0"/>
              <a:t>lower, the more alike</a:t>
            </a:r>
            <a:endParaRPr lang="en-US" altLang="en-US" sz="2400" dirty="0"/>
          </a:p>
          <a:p>
            <a:pPr lvl="1">
              <a:spcBef>
                <a:spcPts val="1200"/>
              </a:spcBef>
            </a:pPr>
            <a:r>
              <a:rPr lang="en-US" altLang="en-US" sz="2400" dirty="0"/>
              <a:t>Minimum dissimilarity is often 0 (i.e., completely similar)</a:t>
            </a:r>
            <a:endParaRPr lang="en-US" altLang="en-US" sz="2400" dirty="0"/>
          </a:p>
          <a:p>
            <a:pPr lvl="1">
              <a:spcBef>
                <a:spcPts val="1200"/>
              </a:spcBef>
            </a:pPr>
            <a:r>
              <a:rPr lang="en-US" altLang="en-US" sz="2400" dirty="0"/>
              <a:t>Range [0, 1] or [0, ∞) , depending on the definition</a:t>
            </a:r>
            <a:endParaRPr lang="en-US" altLang="en-US" sz="2400" dirty="0"/>
          </a:p>
          <a:p>
            <a:pPr>
              <a:spcBef>
                <a:spcPts val="1200"/>
              </a:spcBef>
            </a:pPr>
            <a:r>
              <a:rPr lang="en-US" altLang="en-US" sz="2400" b="1" dirty="0"/>
              <a:t>Proximity</a:t>
            </a:r>
            <a:r>
              <a:rPr lang="en-US" altLang="en-US" sz="2400" dirty="0"/>
              <a:t> usually refers to either similarity or dissimilarity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711200" y="228600"/>
            <a:ext cx="10668000" cy="762000"/>
          </a:xfrm>
        </p:spPr>
        <p:txBody>
          <a:bodyPr>
            <a:normAutofit/>
          </a:bodyPr>
          <a:lstStyle/>
          <a:p>
            <a:r>
              <a:rPr lang="en-US" altLang="en-US" sz="4000" dirty="0"/>
              <a:t>Data Matrix and Dissimilarity Matrix</a:t>
            </a:r>
            <a:endParaRPr lang="en-US" altLang="en-US" sz="4000" dirty="0"/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2262" y="1167897"/>
            <a:ext cx="7912728" cy="5316648"/>
          </a:xfrm>
        </p:spPr>
        <p:txBody>
          <a:bodyPr/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altLang="en-US" sz="2400" dirty="0"/>
              <a:t>Data matrix</a:t>
            </a:r>
            <a:endParaRPr lang="en-US" altLang="en-US" sz="2400" dirty="0"/>
          </a:p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en-US" altLang="en-US" sz="2400" dirty="0"/>
              <a:t>A data matrix of n data points with </a:t>
            </a:r>
            <a:r>
              <a:rPr lang="en-US" altLang="en-US" sz="2400" i="1" dirty="0"/>
              <a:t>l</a:t>
            </a:r>
            <a:r>
              <a:rPr lang="en-US" altLang="en-US" sz="2400" dirty="0"/>
              <a:t> dimensions</a:t>
            </a:r>
            <a:endParaRPr lang="en-US" altLang="en-US" sz="2400" dirty="0"/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altLang="en-US" sz="2400" dirty="0"/>
              <a:t>Dissimilarity (distance) matrix</a:t>
            </a:r>
            <a:endParaRPr lang="en-US" altLang="en-US" sz="2400" dirty="0"/>
          </a:p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en-US" altLang="en-US" sz="2400" dirty="0"/>
              <a:t>n data points, but registers only the distance </a:t>
            </a:r>
            <a:r>
              <a:rPr lang="en-US" altLang="zh-CN" sz="2400" i="1" dirty="0">
                <a:ea typeface="SimSun" panose="02010600030101010101" pitchFamily="2" charset="-122"/>
              </a:rPr>
              <a:t>d</a:t>
            </a:r>
            <a:r>
              <a:rPr lang="en-US" altLang="zh-CN" sz="2400" dirty="0">
                <a:ea typeface="SimSun" panose="02010600030101010101" pitchFamily="2" charset="-122"/>
              </a:rPr>
              <a:t>(</a:t>
            </a:r>
            <a:r>
              <a:rPr lang="en-US" altLang="zh-CN" sz="2400" i="1" dirty="0" err="1">
                <a:ea typeface="SimSun" panose="02010600030101010101" pitchFamily="2" charset="-122"/>
              </a:rPr>
              <a:t>i</a:t>
            </a:r>
            <a:r>
              <a:rPr lang="en-US" altLang="zh-CN" sz="2400" i="1" dirty="0">
                <a:ea typeface="SimSun" panose="02010600030101010101" pitchFamily="2" charset="-122"/>
              </a:rPr>
              <a:t>, j</a:t>
            </a:r>
            <a:r>
              <a:rPr lang="en-US" altLang="zh-CN" sz="2400" dirty="0">
                <a:ea typeface="SimSun" panose="02010600030101010101" pitchFamily="2" charset="-122"/>
              </a:rPr>
              <a:t>) (typically metric)</a:t>
            </a:r>
            <a:endParaRPr lang="en-US" altLang="en-US" sz="2400" dirty="0"/>
          </a:p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en-US" altLang="en-US" sz="2400" dirty="0"/>
              <a:t>Usually symmetric, thus a triangular matrix</a:t>
            </a:r>
            <a:endParaRPr lang="en-US" altLang="en-US" sz="2400" dirty="0"/>
          </a:p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en-US" altLang="zh-CN" sz="2400" dirty="0">
                <a:solidFill>
                  <a:srgbClr val="FF0000"/>
                </a:solidFill>
                <a:ea typeface="SimSun" panose="02010600030101010101" pitchFamily="2" charset="-122"/>
              </a:rPr>
              <a:t>Distance functions </a:t>
            </a:r>
            <a:r>
              <a:rPr lang="en-US" altLang="zh-CN" sz="2400" dirty="0">
                <a:ea typeface="SimSun" panose="02010600030101010101" pitchFamily="2" charset="-122"/>
              </a:rPr>
              <a:t>are usually different for real, </a:t>
            </a:r>
            <a:r>
              <a:rPr lang="en-US" altLang="zh-CN" sz="2400" dirty="0" err="1">
                <a:ea typeface="SimSun" panose="02010600030101010101" pitchFamily="2" charset="-122"/>
              </a:rPr>
              <a:t>boolean</a:t>
            </a:r>
            <a:r>
              <a:rPr lang="en-US" altLang="zh-CN" sz="2400" dirty="0">
                <a:ea typeface="SimSun" panose="02010600030101010101" pitchFamily="2" charset="-122"/>
              </a:rPr>
              <a:t>, categorical, ordinal, ratio, and vector variables</a:t>
            </a:r>
            <a:endParaRPr lang="en-US" altLang="zh-CN" sz="2400" dirty="0">
              <a:ea typeface="SimSun" panose="02010600030101010101" pitchFamily="2" charset="-122"/>
            </a:endParaRPr>
          </a:p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en-US" altLang="zh-CN" sz="2400" dirty="0">
                <a:ea typeface="SimSun" panose="02010600030101010101" pitchFamily="2" charset="-122"/>
              </a:rPr>
              <a:t>Weights can be associated with different variables based on applications and data semantics</a:t>
            </a:r>
            <a:endParaRPr lang="en-US" altLang="zh-CN" sz="2400" dirty="0">
              <a:ea typeface="SimSun" panose="02010600030101010101" pitchFamily="2" charset="-122"/>
              <a:sym typeface="Symbol" panose="05050102010706020507" pitchFamily="18" charset="2"/>
            </a:endParaRPr>
          </a:p>
          <a:p>
            <a:pPr lvl="1"/>
            <a:endParaRPr lang="en-US" altLang="en-US" sz="2400" dirty="0"/>
          </a:p>
        </p:txBody>
      </p:sp>
      <p:sp>
        <p:nvSpPr>
          <p:cNvPr id="2" name="Right Arrow 1"/>
          <p:cNvSpPr/>
          <p:nvPr/>
        </p:nvSpPr>
        <p:spPr>
          <a:xfrm>
            <a:off x="7427666" y="1762408"/>
            <a:ext cx="914400" cy="4979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ight Arrow 2"/>
          <p:cNvSpPr/>
          <p:nvPr/>
        </p:nvSpPr>
        <p:spPr>
          <a:xfrm rot="777763">
            <a:off x="7523431" y="3563671"/>
            <a:ext cx="769545" cy="525101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8233763" y="1190896"/>
          <a:ext cx="3529680" cy="21389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1" imgW="37185600" imgH="22555200" progId="Equation.DSMT4">
                  <p:embed/>
                </p:oleObj>
              </mc:Choice>
              <mc:Fallback>
                <p:oleObj name="Equation" r:id="rId1" imgW="37185600" imgH="22555200" progId="Equation.DSMT4">
                  <p:embed/>
                  <p:pic>
                    <p:nvPicPr>
                      <p:cNvPr id="0" name="Object 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233763" y="1190896"/>
                        <a:ext cx="3529680" cy="21389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8516938" y="3687751"/>
          <a:ext cx="3246505" cy="1837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3" imgW="38709600" imgH="21945600" progId="Equation.DSMT4">
                  <p:embed/>
                </p:oleObj>
              </mc:Choice>
              <mc:Fallback>
                <p:oleObj name="Equation" r:id="rId3" imgW="38709600" imgH="21945600" progId="Equation.DSMT4">
                  <p:embed/>
                  <p:pic>
                    <p:nvPicPr>
                      <p:cNvPr id="0" name="Object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516938" y="3687751"/>
                        <a:ext cx="3246505" cy="1837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2075" tIns="46038" rIns="92075" bIns="46038" rtlCol="0" anchor="ctr">
            <a:noAutofit/>
          </a:bodyPr>
          <a:lstStyle/>
          <a:p>
            <a:pPr eaLnBrk="1" hangingPunct="1"/>
            <a:r>
              <a:rPr lang="en-US" altLang="en-US" dirty="0"/>
              <a:t>Standardizing Numeric Data</a:t>
            </a:r>
            <a:endParaRPr lang="en-US" altLang="en-US" dirty="0"/>
          </a:p>
        </p:txBody>
      </p:sp>
      <p:sp>
        <p:nvSpPr>
          <p:cNvPr id="5939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29138" y="1281967"/>
            <a:ext cx="10832123" cy="5282955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Z-score: </a:t>
            </a:r>
            <a:endParaRPr lang="en-US" altLang="en-US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11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X: raw score to be standardized, </a:t>
            </a:r>
            <a:r>
              <a:rPr lang="el-GR" altLang="en-US" dirty="0">
                <a:latin typeface="Calibri" panose="020F0502020204030204" pitchFamily="34" charset="0"/>
                <a:cs typeface="Tahoma" panose="020B0604030504040204" pitchFamily="34" charset="0"/>
              </a:rPr>
              <a:t>μ</a:t>
            </a:r>
            <a:r>
              <a:rPr lang="en-US" altLang="en-US" dirty="0">
                <a:latin typeface="Calibri" panose="020F0502020204030204" pitchFamily="34" charset="0"/>
                <a:cs typeface="Tahoma" panose="020B0604030504040204" pitchFamily="34" charset="0"/>
              </a:rPr>
              <a:t>: mean of the population, </a:t>
            </a:r>
            <a:r>
              <a:rPr lang="el-GR" altLang="en-US" dirty="0">
                <a:latin typeface="Calibri" panose="020F0502020204030204" pitchFamily="34" charset="0"/>
                <a:cs typeface="Tahoma" panose="020B0604030504040204" pitchFamily="34" charset="0"/>
              </a:rPr>
              <a:t>σ</a:t>
            </a:r>
            <a:r>
              <a:rPr lang="en-US" altLang="en-US" dirty="0">
                <a:latin typeface="Calibri" panose="020F0502020204030204" pitchFamily="34" charset="0"/>
                <a:cs typeface="Tahoma" panose="020B0604030504040204" pitchFamily="34" charset="0"/>
              </a:rPr>
              <a:t>: standard deviation</a:t>
            </a:r>
            <a:endParaRPr lang="el-GR" altLang="en-US" dirty="0">
              <a:latin typeface="Calibri" panose="020F0502020204030204" pitchFamily="34" charset="0"/>
              <a:cs typeface="Tahoma" panose="020B0604030504040204" pitchFamily="34" charset="0"/>
            </a:endParaRPr>
          </a:p>
          <a:p>
            <a:pPr lvl="1" eaLnBrk="1" hangingPunct="1">
              <a:lnSpc>
                <a:spcPct val="11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the distance between the raw score and the population mean in units of the standard deviation</a:t>
            </a:r>
            <a:endParaRPr lang="en-US" altLang="en-US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110000"/>
              </a:lnSpc>
            </a:pPr>
            <a:r>
              <a:rPr lang="en-US" altLang="en-US" dirty="0">
                <a:latin typeface="Calibri" panose="020F0502020204030204" pitchFamily="34" charset="0"/>
                <a:cs typeface="Tahoma" panose="020B0604030504040204" pitchFamily="34" charset="0"/>
              </a:rPr>
              <a:t>negative </a:t>
            </a:r>
            <a:r>
              <a:rPr lang="en-US" altLang="en-US" dirty="0">
                <a:latin typeface="Calibri" panose="020F0502020204030204" pitchFamily="34" charset="0"/>
              </a:rPr>
              <a:t>when the raw score is below the mean, “+” when above</a:t>
            </a:r>
            <a:endParaRPr lang="en-US" altLang="en-US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An alternative way: Calculate the mean absolute deviation</a:t>
            </a:r>
            <a:endParaRPr lang="en-US" altLang="en-US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en-US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en-US" dirty="0">
                <a:latin typeface="Calibri" panose="020F0502020204030204" pitchFamily="34" charset="0"/>
              </a:rPr>
              <a:t>where</a:t>
            </a:r>
            <a:endParaRPr lang="en-US" altLang="en-US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110000"/>
              </a:lnSpc>
            </a:pPr>
            <a:endParaRPr lang="en-US" altLang="en-US" dirty="0">
              <a:latin typeface="Calibri" panose="020F0502020204030204" pitchFamily="34" charset="0"/>
            </a:endParaRPr>
          </a:p>
          <a:p>
            <a:pPr lvl="1" eaLnBrk="1" hangingPunct="1">
              <a:lnSpc>
                <a:spcPct val="11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standardized measure (</a:t>
            </a:r>
            <a:r>
              <a:rPr lang="en-US" altLang="en-US" i="1" dirty="0">
                <a:latin typeface="Calibri" panose="020F0502020204030204" pitchFamily="34" charset="0"/>
              </a:rPr>
              <a:t>z-score</a:t>
            </a:r>
            <a:r>
              <a:rPr lang="en-US" altLang="en-US" dirty="0">
                <a:latin typeface="Calibri" panose="020F0502020204030204" pitchFamily="34" charset="0"/>
              </a:rPr>
              <a:t>):</a:t>
            </a:r>
            <a:endParaRPr lang="en-US" altLang="en-US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Using mean absolute deviation is more robust than using standard deviation </a:t>
            </a:r>
            <a:endParaRPr lang="en-US" altLang="en-US" dirty="0">
              <a:latin typeface="Calibri" panose="020F0502020204030204" pitchFamily="34" charset="0"/>
            </a:endParaRPr>
          </a:p>
        </p:txBody>
      </p:sp>
      <p:graphicFrame>
        <p:nvGraphicFramePr>
          <p:cNvPr id="59397" name="Object 4"/>
          <p:cNvGraphicFramePr>
            <a:graphicFrameLocks noChangeAspect="1"/>
          </p:cNvGraphicFramePr>
          <p:nvPr/>
        </p:nvGraphicFramePr>
        <p:xfrm>
          <a:off x="2403231" y="4849813"/>
          <a:ext cx="28194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1" imgW="2374900" imgH="419100" progId="Equation.3">
                  <p:embed/>
                </p:oleObj>
              </mc:Choice>
              <mc:Fallback>
                <p:oleObj name="Equation" r:id="rId1" imgW="2374900" imgH="419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3231" y="4849813"/>
                        <a:ext cx="28194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8" name="Object 5"/>
          <p:cNvGraphicFramePr>
            <a:graphicFrameLocks noChangeAspect="1"/>
          </p:cNvGraphicFramePr>
          <p:nvPr/>
        </p:nvGraphicFramePr>
        <p:xfrm>
          <a:off x="3505200" y="4087814"/>
          <a:ext cx="5334000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3" imgW="4343400" imgH="406400" progId="Equation.3">
                  <p:embed/>
                </p:oleObj>
              </mc:Choice>
              <mc:Fallback>
                <p:oleObj name="Equation" r:id="rId3" imgW="4343400" imgH="406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087814"/>
                        <a:ext cx="5334000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9" name="Object 6"/>
          <p:cNvGraphicFramePr>
            <a:graphicFrameLocks noChangeAspect="1"/>
          </p:cNvGraphicFramePr>
          <p:nvPr/>
        </p:nvGraphicFramePr>
        <p:xfrm>
          <a:off x="5791200" y="5274164"/>
          <a:ext cx="1905000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5" imgW="1409065" imgH="660400" progId="Equation.3">
                  <p:embed/>
                </p:oleObj>
              </mc:Choice>
              <mc:Fallback>
                <p:oleObj name="Equation" r:id="rId5" imgW="1409065" imgH="660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5274164"/>
                        <a:ext cx="1905000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400" name="Object 7"/>
          <p:cNvGraphicFramePr>
            <a:graphicFrameLocks noGrp="1" noChangeAspect="1"/>
          </p:cNvGraphicFramePr>
          <p:nvPr>
            <p:ph sz="half" idx="2"/>
          </p:nvPr>
        </p:nvGraphicFramePr>
        <p:xfrm>
          <a:off x="3505200" y="1303338"/>
          <a:ext cx="1409700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7" imgW="951865" imgH="406400" progId="Equation.3">
                  <p:embed/>
                </p:oleObj>
              </mc:Choice>
              <mc:Fallback>
                <p:oleObj name="Equation" r:id="rId7" imgW="951865" imgH="4064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1303338"/>
                        <a:ext cx="1409700" cy="60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>
          <a:xfrm>
            <a:off x="534154" y="304800"/>
            <a:ext cx="11325886" cy="762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Example: Data Matrix and Dissimilarity Matrix</a:t>
            </a:r>
            <a:endParaRPr lang="en-US" altLang="en-US" sz="4000" dirty="0"/>
          </a:p>
        </p:txBody>
      </p:sp>
      <p:graphicFrame>
        <p:nvGraphicFramePr>
          <p:cNvPr id="60420" name="Object 4"/>
          <p:cNvGraphicFramePr>
            <a:graphicFrameLocks noChangeAspect="1"/>
          </p:cNvGraphicFramePr>
          <p:nvPr/>
        </p:nvGraphicFramePr>
        <p:xfrm>
          <a:off x="5069021" y="1961582"/>
          <a:ext cx="2947987" cy="158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Worksheet" r:id="rId1" imgW="2190115" imgH="1027430" progId="Excel.Sheet.8">
                  <p:embed/>
                </p:oleObj>
              </mc:Choice>
              <mc:Fallback>
                <p:oleObj name="Worksheet" r:id="rId1" imgW="2190115" imgH="1027430" progId="Excel.Shee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9021" y="1961582"/>
                        <a:ext cx="2947987" cy="158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1" name="Text Box 5"/>
          <p:cNvSpPr txBox="1">
            <a:spLocks noChangeArrowheads="1"/>
          </p:cNvSpPr>
          <p:nvPr/>
        </p:nvSpPr>
        <p:spPr bwMode="auto">
          <a:xfrm>
            <a:off x="4904715" y="3962401"/>
            <a:ext cx="624010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b="1" dirty="0">
                <a:solidFill>
                  <a:srgbClr val="000000"/>
                </a:solidFill>
              </a:rPr>
              <a:t>Dissimilarity Matrix (by </a:t>
            </a:r>
            <a:r>
              <a:rPr lang="en-US" altLang="en-US" sz="2000" b="1" dirty="0">
                <a:solidFill>
                  <a:srgbClr val="FF0000"/>
                </a:solidFill>
              </a:rPr>
              <a:t>Euclidean Distance</a:t>
            </a:r>
            <a:r>
              <a:rPr lang="en-US" altLang="en-US" sz="2000" b="1" dirty="0">
                <a:solidFill>
                  <a:srgbClr val="333399"/>
                </a:solidFill>
              </a:rPr>
              <a:t>)</a:t>
            </a:r>
            <a:endParaRPr lang="en-US" altLang="en-US" sz="2000" b="1" dirty="0">
              <a:solidFill>
                <a:srgbClr val="333399"/>
              </a:solidFill>
            </a:endParaRPr>
          </a:p>
        </p:txBody>
      </p:sp>
      <p:graphicFrame>
        <p:nvGraphicFramePr>
          <p:cNvPr id="60422" name="Object 6"/>
          <p:cNvGraphicFramePr>
            <a:graphicFrameLocks noChangeAspect="1"/>
          </p:cNvGraphicFramePr>
          <p:nvPr/>
        </p:nvGraphicFramePr>
        <p:xfrm>
          <a:off x="5069021" y="4417446"/>
          <a:ext cx="4906962" cy="136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Worksheet" r:id="rId3" imgW="4089400" imgH="1168400" progId="Excel.Sheet.8">
                  <p:embed/>
                </p:oleObj>
              </mc:Choice>
              <mc:Fallback>
                <p:oleObj name="Worksheet" r:id="rId3" imgW="4089400" imgH="1168400" progId="Excel.Shee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9021" y="4417446"/>
                        <a:ext cx="4906962" cy="136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3" name="Text Box 7"/>
          <p:cNvSpPr txBox="1">
            <a:spLocks noChangeArrowheads="1"/>
          </p:cNvSpPr>
          <p:nvPr/>
        </p:nvSpPr>
        <p:spPr bwMode="auto">
          <a:xfrm>
            <a:off x="4904715" y="1325562"/>
            <a:ext cx="3276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defTabSz="914400" fontAlgn="base">
              <a:spcBef>
                <a:spcPct val="5000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</a:rPr>
              <a:t>Data Matrix</a:t>
            </a:r>
            <a:endParaRPr lang="en-US" altLang="en-US" sz="20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60424" name="Object 12"/>
          <p:cNvGraphicFramePr>
            <a:graphicFrameLocks noChangeAspect="1"/>
          </p:cNvGraphicFramePr>
          <p:nvPr/>
        </p:nvGraphicFramePr>
        <p:xfrm>
          <a:off x="398352" y="1282574"/>
          <a:ext cx="4209862" cy="419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SmartDraw" r:id="rId5" imgW="25773380" imgH="32667575" progId="SmartDraw.2">
                  <p:embed/>
                </p:oleObj>
              </mc:Choice>
              <mc:Fallback>
                <p:oleObj name="SmartDraw" r:id="rId5" imgW="25773380" imgH="32667575" progId="SmartDraw.2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352" y="1282574"/>
                        <a:ext cx="4209862" cy="419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>
          <a:xfrm>
            <a:off x="497941" y="228600"/>
            <a:ext cx="11117655" cy="6858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4000" dirty="0"/>
              <a:t>Distance on Numeric Data: </a:t>
            </a:r>
            <a:r>
              <a:rPr lang="en-US" altLang="en-US" sz="4000" dirty="0" err="1"/>
              <a:t>Minkowski</a:t>
            </a:r>
            <a:r>
              <a:rPr lang="en-US" altLang="en-US" sz="4000" dirty="0"/>
              <a:t> Distance</a:t>
            </a:r>
            <a:endParaRPr lang="en-US" altLang="en-US" sz="4000" dirty="0"/>
          </a:p>
        </p:txBody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9955" y="1119617"/>
            <a:ext cx="10420539" cy="5426044"/>
          </a:xfrm>
        </p:spPr>
        <p:txBody>
          <a:bodyPr/>
          <a:lstStyle/>
          <a:p>
            <a:pPr marL="381000" indent="-381000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sz="2400" dirty="0" err="1">
                <a:solidFill>
                  <a:srgbClr val="FF0000"/>
                </a:solidFill>
              </a:rPr>
              <a:t>Minkowski</a:t>
            </a:r>
            <a:r>
              <a:rPr lang="en-US" altLang="en-US" sz="2400" dirty="0">
                <a:solidFill>
                  <a:srgbClr val="FF0000"/>
                </a:solidFill>
              </a:rPr>
              <a:t> distance</a:t>
            </a:r>
            <a:r>
              <a:rPr lang="en-US" altLang="en-US" sz="2400" dirty="0"/>
              <a:t>: A popular distance measure</a:t>
            </a:r>
            <a:endParaRPr lang="en-US" altLang="en-US" sz="2400" dirty="0"/>
          </a:p>
          <a:p>
            <a:pPr marL="838200" lvl="1" indent="-381000" eaLnBrk="1" hangingPunct="1">
              <a:spcBef>
                <a:spcPts val="600"/>
              </a:spcBef>
              <a:spcAft>
                <a:spcPts val="600"/>
              </a:spcAft>
              <a:buNone/>
            </a:pPr>
            <a:endParaRPr lang="en-US" altLang="en-US" sz="2400" dirty="0"/>
          </a:p>
          <a:p>
            <a:pPr marL="838200" lvl="1" indent="-381000" eaLnBrk="1" hangingPunct="1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sz="2400" dirty="0"/>
              <a:t>where  </a:t>
            </a:r>
            <a:r>
              <a:rPr lang="en-US" altLang="en-US" sz="2400" i="1" dirty="0" err="1"/>
              <a:t>i</a:t>
            </a:r>
            <a:r>
              <a:rPr lang="en-US" altLang="en-US" sz="2400" dirty="0"/>
              <a:t> = (</a:t>
            </a:r>
            <a:r>
              <a:rPr lang="en-US" altLang="en-US" sz="2400" i="1" dirty="0"/>
              <a:t>x</a:t>
            </a:r>
            <a:r>
              <a:rPr lang="en-US" altLang="en-US" sz="2400" baseline="-25000" dirty="0"/>
              <a:t>i1</a:t>
            </a:r>
            <a:r>
              <a:rPr lang="en-US" altLang="en-US" sz="2400" dirty="0"/>
              <a:t>, </a:t>
            </a:r>
            <a:r>
              <a:rPr lang="en-US" altLang="en-US" sz="2400" i="1" dirty="0"/>
              <a:t>x</a:t>
            </a:r>
            <a:r>
              <a:rPr lang="en-US" altLang="en-US" sz="2400" baseline="-25000" dirty="0"/>
              <a:t>i2</a:t>
            </a:r>
            <a:r>
              <a:rPr lang="en-US" altLang="en-US" sz="2400" dirty="0"/>
              <a:t>, …, </a:t>
            </a:r>
            <a:r>
              <a:rPr lang="en-US" altLang="en-US" sz="2400" i="1" dirty="0" err="1"/>
              <a:t>x</a:t>
            </a:r>
            <a:r>
              <a:rPr lang="en-US" altLang="en-US" sz="2400" baseline="-25000" dirty="0" err="1"/>
              <a:t>il</a:t>
            </a:r>
            <a:r>
              <a:rPr lang="en-US" altLang="en-US" sz="2400" dirty="0"/>
              <a:t>) and</a:t>
            </a:r>
            <a:r>
              <a:rPr lang="en-US" altLang="en-US" sz="2400" i="1" dirty="0"/>
              <a:t> j</a:t>
            </a:r>
            <a:r>
              <a:rPr lang="en-US" altLang="en-US" sz="2400" dirty="0"/>
              <a:t> = (</a:t>
            </a:r>
            <a:r>
              <a:rPr lang="en-US" altLang="en-US" sz="2400" i="1" dirty="0"/>
              <a:t>x</a:t>
            </a:r>
            <a:r>
              <a:rPr lang="en-US" altLang="en-US" sz="2400" baseline="-25000" dirty="0"/>
              <a:t>j1</a:t>
            </a:r>
            <a:r>
              <a:rPr lang="en-US" altLang="en-US" sz="2400" dirty="0"/>
              <a:t>, </a:t>
            </a:r>
            <a:r>
              <a:rPr lang="en-US" altLang="en-US" sz="2400" i="1" dirty="0"/>
              <a:t>x</a:t>
            </a:r>
            <a:r>
              <a:rPr lang="en-US" altLang="en-US" sz="2400" baseline="-25000" dirty="0"/>
              <a:t>j2</a:t>
            </a:r>
            <a:r>
              <a:rPr lang="en-US" altLang="en-US" sz="2400" dirty="0"/>
              <a:t>, …, </a:t>
            </a:r>
            <a:r>
              <a:rPr lang="en-US" altLang="en-US" sz="2400" i="1" dirty="0" err="1"/>
              <a:t>x</a:t>
            </a:r>
            <a:r>
              <a:rPr lang="en-US" altLang="en-US" sz="2400" baseline="-25000" dirty="0" err="1"/>
              <a:t>jl</a:t>
            </a:r>
            <a:r>
              <a:rPr lang="en-US" altLang="en-US" sz="2400" dirty="0"/>
              <a:t>) are two </a:t>
            </a:r>
            <a:r>
              <a:rPr lang="en-US" altLang="en-US" sz="2400" i="1" dirty="0"/>
              <a:t>l</a:t>
            </a:r>
            <a:r>
              <a:rPr lang="en-US" altLang="en-US" sz="2400" dirty="0"/>
              <a:t>-dimensional data objects, and </a:t>
            </a:r>
            <a:r>
              <a:rPr lang="en-US" altLang="en-US" sz="2400" i="1" dirty="0"/>
              <a:t>p</a:t>
            </a:r>
            <a:r>
              <a:rPr lang="en-US" altLang="en-US" sz="2400" dirty="0"/>
              <a:t> is the order (the distance so defined is also called L-</a:t>
            </a:r>
            <a:r>
              <a:rPr lang="en-US" altLang="en-US" sz="2400" i="1" dirty="0"/>
              <a:t>p</a:t>
            </a:r>
            <a:r>
              <a:rPr lang="en-US" altLang="en-US" sz="2400" dirty="0"/>
              <a:t> norm)</a:t>
            </a:r>
            <a:endParaRPr lang="en-US" altLang="en-US" sz="2400" dirty="0"/>
          </a:p>
          <a:p>
            <a:pPr marL="381000" indent="-381000">
              <a:spcAft>
                <a:spcPts val="600"/>
              </a:spcAft>
            </a:pPr>
            <a:r>
              <a:rPr lang="en-US" altLang="en-US" sz="2400" dirty="0"/>
              <a:t>Properties</a:t>
            </a:r>
            <a:endParaRPr lang="en-US" altLang="en-US" sz="2400" dirty="0"/>
          </a:p>
          <a:p>
            <a:pPr marL="838200" lvl="1" indent="-381000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sz="2400" dirty="0"/>
              <a:t>d(</a:t>
            </a:r>
            <a:r>
              <a:rPr lang="en-US" altLang="en-US" sz="2400" dirty="0" err="1"/>
              <a:t>i</a:t>
            </a:r>
            <a:r>
              <a:rPr lang="en-US" altLang="en-US" sz="2400" dirty="0"/>
              <a:t>, j) </a:t>
            </a:r>
            <a:r>
              <a:rPr lang="en-US" altLang="en-US" sz="2400" dirty="0">
                <a:sym typeface="Symbol" panose="05050102010706020507" pitchFamily="18" charset="2"/>
              </a:rPr>
              <a:t>&gt; 0 if </a:t>
            </a:r>
            <a:r>
              <a:rPr lang="en-US" altLang="en-US" sz="2400" dirty="0" err="1"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cs typeface="Tahoma" panose="020B0604030504040204" pitchFamily="34" charset="0"/>
                <a:sym typeface="Symbol" panose="05050102010706020507" pitchFamily="18" charset="2"/>
              </a:rPr>
              <a:t>≠ j</a:t>
            </a:r>
            <a:r>
              <a:rPr lang="en-US" altLang="en-US" sz="2400" dirty="0">
                <a:cs typeface="Tahoma" panose="020B0604030504040204" pitchFamily="34" charset="0"/>
              </a:rPr>
              <a:t>, and </a:t>
            </a:r>
            <a:r>
              <a:rPr lang="en-US" altLang="en-US" sz="2400" dirty="0"/>
              <a:t>d(</a:t>
            </a:r>
            <a:r>
              <a:rPr lang="en-US" altLang="en-US" sz="2400" dirty="0" err="1"/>
              <a:t>i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i</a:t>
            </a:r>
            <a:r>
              <a:rPr lang="en-US" altLang="en-US" sz="2400" dirty="0"/>
              <a:t>) </a:t>
            </a:r>
            <a:r>
              <a:rPr lang="en-US" altLang="en-US" sz="2400" dirty="0">
                <a:sym typeface="Symbol" panose="05050102010706020507" pitchFamily="18" charset="2"/>
              </a:rPr>
              <a:t>= 0 </a:t>
            </a:r>
            <a:r>
              <a:rPr lang="en-US" altLang="en-US" sz="2400" dirty="0"/>
              <a:t>(Positivity)</a:t>
            </a:r>
            <a:endParaRPr lang="en-US" altLang="en-US" sz="2400" dirty="0"/>
          </a:p>
          <a:p>
            <a:pPr marL="838200" lvl="1" indent="-381000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sz="2400" dirty="0"/>
              <a:t>d(</a:t>
            </a:r>
            <a:r>
              <a:rPr lang="en-US" altLang="en-US" sz="2400" dirty="0" err="1"/>
              <a:t>i</a:t>
            </a:r>
            <a:r>
              <a:rPr lang="en-US" altLang="en-US" sz="2400" dirty="0"/>
              <a:t>, j) </a:t>
            </a:r>
            <a:r>
              <a:rPr lang="en-US" altLang="en-US" sz="2400" dirty="0">
                <a:sym typeface="Symbol" panose="05050102010706020507" pitchFamily="18" charset="2"/>
              </a:rPr>
              <a:t>= </a:t>
            </a:r>
            <a:r>
              <a:rPr lang="en-US" altLang="en-US" sz="2400" dirty="0"/>
              <a:t>d(j, </a:t>
            </a:r>
            <a:r>
              <a:rPr lang="en-US" altLang="en-US" sz="2400" dirty="0" err="1"/>
              <a:t>i</a:t>
            </a:r>
            <a:r>
              <a:rPr lang="en-US" altLang="en-US" sz="2400" dirty="0"/>
              <a:t>)</a:t>
            </a:r>
            <a:r>
              <a:rPr lang="en-US" altLang="en-US" sz="2400" i="1" dirty="0"/>
              <a:t>  </a:t>
            </a:r>
            <a:r>
              <a:rPr lang="en-US" altLang="en-US" sz="2400" dirty="0"/>
              <a:t>(Symmetry)</a:t>
            </a:r>
            <a:endParaRPr lang="en-US" altLang="en-US" sz="2400" dirty="0"/>
          </a:p>
          <a:p>
            <a:pPr marL="838200" lvl="1" indent="-381000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sz="2400" dirty="0"/>
              <a:t>d(</a:t>
            </a:r>
            <a:r>
              <a:rPr lang="en-US" altLang="en-US" sz="2400" dirty="0" err="1"/>
              <a:t>i</a:t>
            </a:r>
            <a:r>
              <a:rPr lang="en-US" altLang="en-US" sz="2400" dirty="0"/>
              <a:t>, j) </a:t>
            </a:r>
            <a:r>
              <a:rPr lang="en-US" altLang="en-US" sz="2400" dirty="0">
                <a:sym typeface="Symbol" panose="05050102010706020507" pitchFamily="18" charset="2"/>
              </a:rPr>
              <a:t> </a:t>
            </a:r>
            <a:r>
              <a:rPr lang="en-US" altLang="en-US" sz="2400" dirty="0"/>
              <a:t>d(</a:t>
            </a:r>
            <a:r>
              <a:rPr lang="en-US" altLang="en-US" sz="2400" dirty="0" err="1"/>
              <a:t>i</a:t>
            </a:r>
            <a:r>
              <a:rPr lang="en-US" altLang="en-US" sz="2400" dirty="0"/>
              <a:t>, k) </a:t>
            </a:r>
            <a:r>
              <a:rPr lang="en-US" altLang="en-US" sz="2400" dirty="0">
                <a:sym typeface="Symbol" panose="05050102010706020507" pitchFamily="18" charset="2"/>
              </a:rPr>
              <a:t>+ </a:t>
            </a:r>
            <a:r>
              <a:rPr lang="en-US" altLang="en-US" sz="2400" dirty="0"/>
              <a:t>d(k, j)</a:t>
            </a:r>
            <a:r>
              <a:rPr lang="en-US" altLang="en-US" sz="2400" i="1" dirty="0"/>
              <a:t>  </a:t>
            </a:r>
            <a:r>
              <a:rPr lang="en-US" altLang="en-US" sz="2400" dirty="0"/>
              <a:t>(Triangle Inequality)</a:t>
            </a:r>
            <a:endParaRPr lang="en-US" altLang="en-US" sz="2400" i="1" dirty="0"/>
          </a:p>
          <a:p>
            <a:pPr marL="381000" indent="-381000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sz="2400" dirty="0"/>
              <a:t>A distance that satisfies these properties is a </a:t>
            </a:r>
            <a:r>
              <a:rPr lang="en-US" altLang="en-US" sz="2400" dirty="0">
                <a:solidFill>
                  <a:srgbClr val="FF0000"/>
                </a:solidFill>
              </a:rPr>
              <a:t>metric</a:t>
            </a:r>
            <a:endParaRPr lang="en-US" altLang="en-US" sz="2400" dirty="0">
              <a:solidFill>
                <a:srgbClr val="FF0000"/>
              </a:solidFill>
            </a:endParaRPr>
          </a:p>
          <a:p>
            <a:pPr marL="381000" indent="-381000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sz="2400" dirty="0"/>
              <a:t>Note:  There are nonmetric dissimilarities, e.g., set differences</a:t>
            </a:r>
            <a:endParaRPr lang="en-US" altLang="en-US" sz="2400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197976" y="1550715"/>
          <a:ext cx="6481586" cy="6249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1" imgW="75895200" imgH="7315200" progId="Equation.DSMT4">
                  <p:embed/>
                </p:oleObj>
              </mc:Choice>
              <mc:Fallback>
                <p:oleObj name="Equation" r:id="rId1" imgW="75895200" imgH="7315200" progId="Equation.DSMT4">
                  <p:embed/>
                  <p:pic>
                    <p:nvPicPr>
                      <p:cNvPr id="0" name="Object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97976" y="1550715"/>
                        <a:ext cx="6481586" cy="6249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Special Cases of </a:t>
            </a:r>
            <a:r>
              <a:rPr lang="en-US" altLang="en-US" sz="4000" dirty="0" err="1"/>
              <a:t>Minkowski</a:t>
            </a:r>
            <a:r>
              <a:rPr lang="en-US" altLang="en-US" sz="4000" dirty="0"/>
              <a:t> Distance</a:t>
            </a:r>
            <a:endParaRPr lang="en-US" altLang="en-US" sz="5400" dirty="0"/>
          </a:p>
        </p:txBody>
      </p:sp>
      <p:sp>
        <p:nvSpPr>
          <p:cNvPr id="6246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42795" y="1295400"/>
            <a:ext cx="10465807" cy="4055122"/>
          </a:xfrm>
        </p:spPr>
        <p:txBody>
          <a:bodyPr/>
          <a:lstStyle/>
          <a:p>
            <a:r>
              <a:rPr lang="en-US" altLang="en-US" i="1" dirty="0">
                <a:latin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alt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 = 1: (L</a:t>
            </a:r>
            <a:r>
              <a:rPr lang="en-US" altLang="en-US" baseline="-30000" dirty="0">
                <a:latin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alt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 norm) </a:t>
            </a:r>
            <a:r>
              <a:rPr lang="en-US" altLang="en-US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Manhattan (or city block) distance</a:t>
            </a:r>
            <a:endParaRPr lang="en-US" altLang="en-US" dirty="0">
              <a:solidFill>
                <a:srgbClr val="FF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alt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E.g., the Hamming distance: the number of bits that are different between two binary vectors</a:t>
            </a:r>
            <a:endParaRPr lang="en-US" altLang="en-US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endParaRPr lang="en-US" altLang="en-US" i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i="1" dirty="0">
                <a:latin typeface="Calibri" panose="020F0502020204030204" pitchFamily="34" charset="0"/>
                <a:cs typeface="Times New Roman" panose="02020603050405020304" pitchFamily="18" charset="0"/>
              </a:rPr>
              <a:t>p </a:t>
            </a:r>
            <a:r>
              <a:rPr lang="en-US" alt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= 2:  (L</a:t>
            </a:r>
            <a:r>
              <a:rPr lang="en-US" altLang="en-US" baseline="-25000" dirty="0">
                <a:latin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alt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 norm) </a:t>
            </a:r>
            <a:r>
              <a:rPr lang="en-US" altLang="en-US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Euclidean distance</a:t>
            </a:r>
            <a:endParaRPr lang="en-US" altLang="en-US" dirty="0">
              <a:solidFill>
                <a:srgbClr val="FF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lvl="4" eaLnBrk="1" hangingPunct="1"/>
            <a:endParaRPr lang="en-US" altLang="en-US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en-US" i="1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altLang="en-US" i="1" dirty="0">
                <a:latin typeface="Calibri" panose="020F0502020204030204" pitchFamily="34" charset="0"/>
                <a:cs typeface="Times New Roman" panose="02020603050405020304" pitchFamily="18" charset="0"/>
              </a:rPr>
              <a:t>p </a:t>
            </a:r>
            <a:r>
              <a:rPr lang="en-US" altLang="en-US" dirty="0">
                <a:latin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lang="en-US" alt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: (</a:t>
            </a:r>
            <a:r>
              <a:rPr lang="en-US" altLang="en-US" dirty="0" err="1">
                <a:latin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en-US" altLang="en-US" baseline="-300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max</a:t>
            </a:r>
            <a:r>
              <a:rPr lang="en-US" altLang="en-US" baseline="-30000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norm, L</a:t>
            </a:r>
            <a:r>
              <a:rPr lang="en-US" altLang="en-US" baseline="-30000" dirty="0">
                <a:latin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lang="en-US" altLang="en-US" baseline="-30000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norm) </a:t>
            </a:r>
            <a:r>
              <a:rPr lang="en-US" altLang="en-US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“supremum” distance</a:t>
            </a:r>
            <a:endParaRPr lang="en-US" altLang="en-US" dirty="0">
              <a:solidFill>
                <a:srgbClr val="FF000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lvl="1" eaLnBrk="1" hangingPunct="1"/>
            <a:r>
              <a:rPr lang="en-US" altLang="en-US" dirty="0">
                <a:latin typeface="Calibri" panose="020F0502020204030204" pitchFamily="34" charset="0"/>
                <a:cs typeface="Times New Roman" panose="02020603050405020304" pitchFamily="18" charset="0"/>
              </a:rPr>
              <a:t>The maximum difference between any component (attribute) of the vectors</a:t>
            </a:r>
            <a:endParaRPr lang="en-US" altLang="en-US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lvl="1" eaLnBrk="1" hangingPunct="1"/>
            <a:endParaRPr lang="en-US" altLang="en-US" sz="20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3743325" y="2289175"/>
          <a:ext cx="5700713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1" imgW="66751200" imgH="5791200" progId="Equation.DSMT4">
                  <p:embed/>
                </p:oleObj>
              </mc:Choice>
              <mc:Fallback>
                <p:oleObj name="Equation" r:id="rId1" imgW="66751200" imgH="5791200" progId="Equation.DSMT4">
                  <p:embed/>
                  <p:pic>
                    <p:nvPicPr>
                      <p:cNvPr id="0" name="Object 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43325" y="2289175"/>
                        <a:ext cx="5700713" cy="493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Content Placeholder 8"/>
          <p:cNvGraphicFramePr>
            <a:graphicFrameLocks noGrp="1" noChangeAspect="1"/>
          </p:cNvGraphicFramePr>
          <p:nvPr>
            <p:ph sz="half" idx="2"/>
          </p:nvPr>
        </p:nvGraphicFramePr>
        <p:xfrm>
          <a:off x="2757488" y="3552497"/>
          <a:ext cx="7956550" cy="6893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3" imgW="74980800" imgH="7315200" progId="Equation.DSMT4">
                  <p:embed/>
                </p:oleObj>
              </mc:Choice>
              <mc:Fallback>
                <p:oleObj name="Equation" r:id="rId3" imgW="74980800" imgH="7315200" progId="Equation.DSMT4">
                  <p:embed/>
                  <p:pic>
                    <p:nvPicPr>
                      <p:cNvPr id="0" name="Content Placeholder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57488" y="3552497"/>
                        <a:ext cx="7956550" cy="6893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4085" y="5350522"/>
            <a:ext cx="9774517" cy="691689"/>
          </a:xfrm>
          <a:prstGeom prst="rect">
            <a:avLst/>
          </a:prstGeom>
        </p:spPr>
      </p:pic>
    </p:spTree>
  </p:cSld>
  <p:clrMapOvr>
    <a:masterClrMapping/>
  </p:clrMapOvr>
  <p:transition>
    <p:zo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</a:t>
            </a:r>
            <a:r>
              <a:rPr lang="en-US" altLang="en-US" dirty="0" err="1"/>
              <a:t>Minkowski</a:t>
            </a:r>
            <a:r>
              <a:rPr lang="en-US" altLang="en-US" dirty="0"/>
              <a:t> Distance at Special Cases</a:t>
            </a:r>
            <a:endParaRPr lang="en-US" altLang="en-US" dirty="0"/>
          </a:p>
        </p:txBody>
      </p:sp>
      <p:graphicFrame>
        <p:nvGraphicFramePr>
          <p:cNvPr id="63493" name="Object 4"/>
          <p:cNvGraphicFramePr>
            <a:graphicFrameLocks noChangeAspect="1"/>
          </p:cNvGraphicFramePr>
          <p:nvPr/>
        </p:nvGraphicFramePr>
        <p:xfrm>
          <a:off x="1238179" y="1295399"/>
          <a:ext cx="2962275" cy="1363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Worksheet" r:id="rId1" imgW="2190115" imgH="982345" progId="Excel.Sheet.8">
                  <p:embed/>
                </p:oleObj>
              </mc:Choice>
              <mc:Fallback>
                <p:oleObj name="Worksheet" r:id="rId1" imgW="2190115" imgH="982345" progId="Excel.Shee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8179" y="1295399"/>
                        <a:ext cx="2962275" cy="1363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4" name="Object 5"/>
          <p:cNvGraphicFramePr>
            <a:graphicFrameLocks noChangeAspect="1"/>
          </p:cNvGraphicFramePr>
          <p:nvPr/>
        </p:nvGraphicFramePr>
        <p:xfrm>
          <a:off x="5334000" y="1600200"/>
          <a:ext cx="4948238" cy="132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Worksheet" r:id="rId3" imgW="3634740" imgH="982345" progId="Excel.Sheet.8">
                  <p:embed/>
                </p:oleObj>
              </mc:Choice>
              <mc:Fallback>
                <p:oleObj name="Worksheet" r:id="rId3" imgW="3634740" imgH="982345" progId="Excel.Shee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1600200"/>
                        <a:ext cx="4948238" cy="132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5" name="Object 6"/>
          <p:cNvGraphicFramePr>
            <a:graphicFrameLocks noChangeAspect="1"/>
          </p:cNvGraphicFramePr>
          <p:nvPr/>
        </p:nvGraphicFramePr>
        <p:xfrm>
          <a:off x="5334000" y="3429000"/>
          <a:ext cx="4948238" cy="132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Worksheet" r:id="rId5" imgW="3634740" imgH="982345" progId="Excel.Sheet.8">
                  <p:embed/>
                </p:oleObj>
              </mc:Choice>
              <mc:Fallback>
                <p:oleObj name="Worksheet" r:id="rId5" imgW="3634740" imgH="982345" progId="Excel.Shee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3429000"/>
                        <a:ext cx="4948238" cy="1320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6" name="Object 7"/>
          <p:cNvGraphicFramePr>
            <a:graphicFrameLocks noChangeAspect="1"/>
          </p:cNvGraphicFramePr>
          <p:nvPr/>
        </p:nvGraphicFramePr>
        <p:xfrm>
          <a:off x="5334000" y="5254626"/>
          <a:ext cx="4872038" cy="137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Worksheet" r:id="rId7" imgW="3634740" imgH="1004570" progId="Excel.Sheet.8">
                  <p:embed/>
                </p:oleObj>
              </mc:Choice>
              <mc:Fallback>
                <p:oleObj name="Worksheet" r:id="rId7" imgW="3634740" imgH="1004570" progId="Excel.Shee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5254626"/>
                        <a:ext cx="4872038" cy="1374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7" name="Rectangle 16"/>
          <p:cNvSpPr>
            <a:spLocks noChangeArrowheads="1"/>
          </p:cNvSpPr>
          <p:nvPr/>
        </p:nvSpPr>
        <p:spPr bwMode="auto">
          <a:xfrm>
            <a:off x="5249339" y="1175542"/>
            <a:ext cx="25765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400" b="1" dirty="0">
                <a:solidFill>
                  <a:srgbClr val="000000"/>
                </a:solidFill>
                <a:latin typeface="+mn-lt"/>
              </a:rPr>
              <a:t>Manhattan (L</a:t>
            </a:r>
            <a:r>
              <a:rPr lang="en-US" altLang="en-US" sz="2400" b="1" baseline="-25000" dirty="0">
                <a:solidFill>
                  <a:srgbClr val="000000"/>
                </a:solidFill>
                <a:latin typeface="+mn-lt"/>
              </a:rPr>
              <a:t>1</a:t>
            </a:r>
            <a:r>
              <a:rPr lang="en-US" altLang="en-US" sz="2400" b="1" dirty="0">
                <a:solidFill>
                  <a:srgbClr val="000000"/>
                </a:solidFill>
                <a:latin typeface="+mn-lt"/>
              </a:rPr>
              <a:t>)</a:t>
            </a:r>
            <a:endParaRPr lang="en-US" altLang="en-US" sz="2400" b="1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63498" name="Rectangle 17"/>
          <p:cNvSpPr>
            <a:spLocks noChangeArrowheads="1"/>
          </p:cNvSpPr>
          <p:nvPr/>
        </p:nvSpPr>
        <p:spPr bwMode="auto">
          <a:xfrm>
            <a:off x="5285551" y="3018135"/>
            <a:ext cx="191270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400" b="1" dirty="0">
                <a:solidFill>
                  <a:srgbClr val="000000"/>
                </a:solidFill>
                <a:latin typeface="+mn-lt"/>
              </a:rPr>
              <a:t>Euclidean (L</a:t>
            </a:r>
            <a:r>
              <a:rPr lang="en-US" altLang="en-US" sz="2400" b="1" baseline="-25000" dirty="0">
                <a:solidFill>
                  <a:srgbClr val="000000"/>
                </a:solidFill>
                <a:latin typeface="+mn-lt"/>
              </a:rPr>
              <a:t>2</a:t>
            </a:r>
            <a:r>
              <a:rPr lang="en-US" altLang="en-US" sz="2400" b="1" dirty="0">
                <a:solidFill>
                  <a:srgbClr val="000000"/>
                </a:solidFill>
                <a:latin typeface="+mn-lt"/>
              </a:rPr>
              <a:t>)</a:t>
            </a:r>
            <a:endParaRPr lang="en-US" altLang="en-US" sz="2400" b="1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63499" name="Rectangle 18"/>
          <p:cNvSpPr>
            <a:spLocks noChangeArrowheads="1"/>
          </p:cNvSpPr>
          <p:nvPr/>
        </p:nvSpPr>
        <p:spPr bwMode="auto">
          <a:xfrm>
            <a:off x="5285551" y="4802014"/>
            <a:ext cx="21897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400" b="1" dirty="0">
                <a:solidFill>
                  <a:srgbClr val="000000"/>
                </a:solidFill>
                <a:latin typeface="+mn-lt"/>
              </a:rPr>
              <a:t>Supremum (</a:t>
            </a:r>
            <a:r>
              <a:rPr lang="en-US" altLang="en-US" sz="2400" b="1" dirty="0">
                <a:latin typeface="+mn-lt"/>
                <a:cs typeface="Times New Roman" panose="02020603050405020304" pitchFamily="18" charset="0"/>
              </a:rPr>
              <a:t>L</a:t>
            </a:r>
            <a:r>
              <a:rPr lang="en-US" altLang="en-US" sz="2400" b="1" baseline="-30000" dirty="0">
                <a:latin typeface="+mn-lt"/>
                <a:cs typeface="Times New Roman" panose="02020603050405020304" pitchFamily="18" charset="0"/>
                <a:sym typeface="Symbol" panose="05050102010706020507" pitchFamily="18" charset="2"/>
              </a:rPr>
              <a:t></a:t>
            </a:r>
            <a:r>
              <a:rPr lang="en-US" altLang="en-US" sz="2400" b="1" dirty="0">
                <a:latin typeface="+mn-lt"/>
                <a:cs typeface="Times New Roman" panose="02020603050405020304" pitchFamily="18" charset="0"/>
              </a:rPr>
              <a:t>) </a:t>
            </a:r>
            <a:endParaRPr lang="en-US" altLang="en-US" sz="2400" b="1" dirty="0">
              <a:solidFill>
                <a:srgbClr val="000000"/>
              </a:solidFill>
              <a:latin typeface="+mn-lt"/>
            </a:endParaRPr>
          </a:p>
        </p:txBody>
      </p:sp>
      <p:graphicFrame>
        <p:nvGraphicFramePr>
          <p:cNvPr id="63500" name="Object 19"/>
          <p:cNvGraphicFramePr>
            <a:graphicFrameLocks noChangeAspect="1"/>
          </p:cNvGraphicFramePr>
          <p:nvPr/>
        </p:nvGraphicFramePr>
        <p:xfrm>
          <a:off x="642796" y="2819400"/>
          <a:ext cx="4153043" cy="381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SmartDraw" r:id="rId9" imgW="25773380" imgH="32667575" progId="SmartDraw.2">
                  <p:embed/>
                </p:oleObj>
              </mc:Choice>
              <mc:Fallback>
                <p:oleObj name="SmartDraw" r:id="rId9" imgW="25773380" imgH="32667575" progId="SmartDraw.2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796" y="2819400"/>
                        <a:ext cx="4153043" cy="381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711200" y="228600"/>
            <a:ext cx="10668000" cy="762000"/>
          </a:xfrm>
        </p:spPr>
        <p:txBody>
          <a:bodyPr>
            <a:normAutofit/>
          </a:bodyPr>
          <a:lstStyle/>
          <a:p>
            <a:r>
              <a:rPr lang="en-US" altLang="en-US" sz="4000" dirty="0"/>
              <a:t>Proximity Measure for Binary Attributes</a:t>
            </a:r>
            <a:endParaRPr lang="en-US" altLang="en-US" sz="4000" dirty="0"/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2261" y="988978"/>
            <a:ext cx="7161291" cy="498632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400" dirty="0">
                <a:latin typeface="Calibri" panose="020F0502020204030204" pitchFamily="34" charset="0"/>
              </a:rPr>
              <a:t>A contingency table for binary data</a:t>
            </a:r>
            <a:endParaRPr lang="en-US" altLang="en-US" sz="2400" dirty="0">
              <a:latin typeface="Calibri" panose="020F050202020403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en-US" sz="2400" dirty="0"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n-US" altLang="en-US" sz="2400" dirty="0"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dirty="0">
                <a:latin typeface="Calibri" panose="020F0502020204030204" pitchFamily="34" charset="0"/>
              </a:rPr>
              <a:t>Distance measure for symmetric binary variables: </a:t>
            </a:r>
            <a:endParaRPr lang="en-US" altLang="en-US" sz="2400" dirty="0"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dirty="0">
                <a:latin typeface="Calibri" panose="020F0502020204030204" pitchFamily="34" charset="0"/>
              </a:rPr>
              <a:t>Distance measure for asymmetric binary variables: </a:t>
            </a:r>
            <a:endParaRPr lang="en-US" altLang="en-US" sz="2400" dirty="0"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dirty="0" err="1">
                <a:latin typeface="Calibri" panose="020F0502020204030204" pitchFamily="34" charset="0"/>
              </a:rPr>
              <a:t>Jaccard</a:t>
            </a:r>
            <a:r>
              <a:rPr lang="en-US" altLang="en-US" sz="2400" dirty="0">
                <a:latin typeface="Calibri" panose="020F0502020204030204" pitchFamily="34" charset="0"/>
              </a:rPr>
              <a:t> coefficient (</a:t>
            </a:r>
            <a:r>
              <a:rPr lang="en-US" altLang="en-US" sz="2400" i="1" dirty="0">
                <a:solidFill>
                  <a:srgbClr val="FF0000"/>
                </a:solidFill>
                <a:latin typeface="Calibri" panose="020F0502020204030204" pitchFamily="34" charset="0"/>
              </a:rPr>
              <a:t>similarity</a:t>
            </a:r>
            <a:r>
              <a:rPr lang="en-US" altLang="en-US" sz="2400" dirty="0">
                <a:latin typeface="Calibri" panose="020F0502020204030204" pitchFamily="34" charset="0"/>
              </a:rPr>
              <a:t> measure for </a:t>
            </a:r>
            <a:r>
              <a:rPr lang="en-US" altLang="en-US" sz="2400" i="1" dirty="0">
                <a:latin typeface="Calibri" panose="020F0502020204030204" pitchFamily="34" charset="0"/>
              </a:rPr>
              <a:t>asymmetric </a:t>
            </a:r>
            <a:r>
              <a:rPr lang="en-US" altLang="en-US" sz="2400" dirty="0">
                <a:latin typeface="Calibri" panose="020F0502020204030204" pitchFamily="34" charset="0"/>
              </a:rPr>
              <a:t>binary variables): </a:t>
            </a:r>
            <a:endParaRPr lang="en-US" altLang="en-US" sz="2400" dirty="0">
              <a:latin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Note: </a:t>
            </a:r>
            <a:r>
              <a:rPr lang="en-US" altLang="en-US" sz="2400" dirty="0" err="1">
                <a:solidFill>
                  <a:srgbClr val="000000"/>
                </a:solidFill>
                <a:latin typeface="Calibri" panose="020F0502020204030204" pitchFamily="34" charset="0"/>
              </a:rPr>
              <a:t>Jaccard</a:t>
            </a:r>
            <a:r>
              <a:rPr lang="en-US" altLang="en-US" sz="2400" dirty="0">
                <a:solidFill>
                  <a:srgbClr val="000000"/>
                </a:solidFill>
                <a:latin typeface="Calibri" panose="020F0502020204030204" pitchFamily="34" charset="0"/>
              </a:rPr>
              <a:t> coefficient is the same as “coherence”:</a:t>
            </a:r>
            <a:endParaRPr lang="en-US" altLang="en-US" sz="2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pic>
        <p:nvPicPr>
          <p:cNvPr id="5" name="Picture 36" descr="eqcontingency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9582" y="1738070"/>
            <a:ext cx="3962400" cy="123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37"/>
          <p:cNvSpPr txBox="1">
            <a:spLocks noChangeArrowheads="1"/>
          </p:cNvSpPr>
          <p:nvPr/>
        </p:nvSpPr>
        <p:spPr bwMode="auto">
          <a:xfrm>
            <a:off x="711200" y="2147889"/>
            <a:ext cx="9636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Object </a:t>
            </a:r>
            <a:r>
              <a:rPr lang="en-US" altLang="en-US" sz="1800" i="1" dirty="0" err="1">
                <a:solidFill>
                  <a:srgbClr val="000000"/>
                </a:solidFill>
              </a:rPr>
              <a:t>i</a:t>
            </a:r>
            <a:endParaRPr lang="en-US" altLang="en-US" sz="1800" dirty="0">
              <a:solidFill>
                <a:srgbClr val="000000"/>
              </a:solidFill>
            </a:endParaRPr>
          </a:p>
        </p:txBody>
      </p:sp>
      <p:sp>
        <p:nvSpPr>
          <p:cNvPr id="7" name="Text Box 38"/>
          <p:cNvSpPr txBox="1">
            <a:spLocks noChangeArrowheads="1"/>
          </p:cNvSpPr>
          <p:nvPr/>
        </p:nvSpPr>
        <p:spPr bwMode="auto">
          <a:xfrm>
            <a:off x="3307484" y="1461455"/>
            <a:ext cx="9763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Object </a:t>
            </a:r>
            <a:r>
              <a:rPr lang="en-US" altLang="en-US" sz="1800" i="1" dirty="0">
                <a:solidFill>
                  <a:srgbClr val="000000"/>
                </a:solidFill>
              </a:rPr>
              <a:t>j</a:t>
            </a:r>
            <a:endParaRPr lang="en-US" altLang="en-US" sz="1800" dirty="0">
              <a:solidFill>
                <a:srgbClr val="000000"/>
              </a:solidFill>
            </a:endParaRPr>
          </a:p>
        </p:txBody>
      </p:sp>
      <p:pic>
        <p:nvPicPr>
          <p:cNvPr id="8" name="Picture 30" descr="eqbinarysy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8479" y="2602463"/>
            <a:ext cx="3429000" cy="747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1" descr="eqbinaryasy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877" y="3466361"/>
            <a:ext cx="29718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8" descr="eqjaccar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4612" y="4623901"/>
            <a:ext cx="434340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35" descr="eqcoherenc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72507" y="5848936"/>
            <a:ext cx="8305800" cy="731838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7517188" y="5472920"/>
            <a:ext cx="4362730" cy="384721"/>
          </a:xfrm>
          <a:prstGeom prst="rect">
            <a:avLst/>
          </a:prstGeom>
          <a:solidFill>
            <a:srgbClr val="F0CDBC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(a concept discussed in Pattern Discovery)</a:t>
            </a:r>
            <a:endParaRPr 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-35119" y="175475"/>
            <a:ext cx="12282535" cy="762000"/>
          </a:xfrm>
        </p:spPr>
        <p:txBody>
          <a:bodyPr>
            <a:noAutofit/>
          </a:bodyPr>
          <a:lstStyle/>
          <a:p>
            <a:r>
              <a:rPr lang="en-US" altLang="en-US" sz="3600" dirty="0"/>
              <a:t>Example: Dissimilarity between Asymmetric Binary Variables</a:t>
            </a:r>
            <a:endParaRPr lang="en-US" altLang="en-US" sz="3600" dirty="0"/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8446" y="2519143"/>
            <a:ext cx="10221362" cy="5450312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altLang="en-US" sz="2400" dirty="0"/>
              <a:t>Gender is a symmetric attribute (not counted in)</a:t>
            </a:r>
            <a:endParaRPr lang="en-US" altLang="en-US" sz="2400" dirty="0"/>
          </a:p>
          <a:p>
            <a:pPr>
              <a:spcAft>
                <a:spcPts val="600"/>
              </a:spcAft>
            </a:pPr>
            <a:r>
              <a:rPr lang="en-US" altLang="en-US" sz="2400" dirty="0"/>
              <a:t>The remaining attributes are asymmetric binary</a:t>
            </a:r>
            <a:endParaRPr lang="en-US" altLang="en-US" sz="2400" dirty="0"/>
          </a:p>
          <a:p>
            <a:pPr>
              <a:spcAft>
                <a:spcPts val="600"/>
              </a:spcAft>
            </a:pPr>
            <a:r>
              <a:rPr lang="en-US" altLang="en-US" sz="2400" dirty="0"/>
              <a:t>Let the values Y and P be 1, and the value N be 0</a:t>
            </a:r>
            <a:endParaRPr lang="en-US" altLang="en-US" sz="2400" dirty="0"/>
          </a:p>
          <a:p>
            <a:pPr>
              <a:spcAft>
                <a:spcPts val="600"/>
              </a:spcAft>
            </a:pPr>
            <a:r>
              <a:rPr lang="en-US" altLang="en-US" sz="2400" dirty="0">
                <a:latin typeface="Calibri" panose="020F0502020204030204" pitchFamily="34" charset="0"/>
              </a:rPr>
              <a:t>Distance: </a:t>
            </a:r>
            <a:endParaRPr lang="en-US" altLang="en-US" sz="2400" dirty="0"/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593348" y="1230530"/>
          <a:ext cx="7368398" cy="14107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Document" r:id="rId1" imgW="6819900" imgH="1475105" progId="Word.Document.8">
                  <p:embed/>
                </p:oleObj>
              </mc:Choice>
              <mc:Fallback>
                <p:oleObj name="Document" r:id="rId1" imgW="6819900" imgH="1475105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348" y="1230530"/>
                        <a:ext cx="7368398" cy="14107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1465979" y="4780228"/>
          <a:ext cx="4448769" cy="17963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3" imgW="2019300" imgH="1219200" progId="Equation.3">
                  <p:embed/>
                </p:oleObj>
              </mc:Choice>
              <mc:Fallback>
                <p:oleObj name="Equation" r:id="rId3" imgW="2019300" imgH="1219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5979" y="4780228"/>
                        <a:ext cx="4448769" cy="17963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8875817" y="1409724"/>
          <a:ext cx="2118512" cy="1525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945"/>
                <a:gridCol w="506945"/>
                <a:gridCol w="506945"/>
                <a:gridCol w="597677"/>
              </a:tblGrid>
              <a:tr h="38248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∑</a:t>
                      </a:r>
                      <a:r>
                        <a:rPr lang="en-US" baseline="-25000" dirty="0"/>
                        <a:t>row</a:t>
                      </a:r>
                      <a:endParaRPr lang="en-US" baseline="-25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∑</a:t>
                      </a:r>
                      <a:r>
                        <a:rPr lang="en-US" baseline="-25000" dirty="0"/>
                        <a:t>col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8292408" y="1935889"/>
            <a:ext cx="615636" cy="384721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Jack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9655521" y="1038169"/>
            <a:ext cx="783048" cy="38472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Mary</a:t>
            </a:r>
            <a:endParaRPr lang="en-US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061080" y="3250594"/>
          <a:ext cx="2118512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945"/>
                <a:gridCol w="506945"/>
                <a:gridCol w="506945"/>
                <a:gridCol w="597677"/>
              </a:tblGrid>
              <a:tr h="35901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∑</a:t>
                      </a:r>
                      <a:r>
                        <a:rPr lang="en-US" baseline="-25000" dirty="0"/>
                        <a:t>row</a:t>
                      </a:r>
                      <a:endParaRPr lang="en-US" baseline="-25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∑</a:t>
                      </a:r>
                      <a:r>
                        <a:rPr lang="en-US" baseline="-25000" dirty="0"/>
                        <a:t>col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600226" y="2934303"/>
            <a:ext cx="783048" cy="38472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Jim</a:t>
            </a:r>
            <a:endParaRPr lang="en-US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718857" y="5117239"/>
          <a:ext cx="2118512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945"/>
                <a:gridCol w="506945"/>
                <a:gridCol w="506945"/>
                <a:gridCol w="597677"/>
              </a:tblGrid>
              <a:tr h="16230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∑</a:t>
                      </a:r>
                      <a:r>
                        <a:rPr lang="en-US" baseline="-25000" dirty="0"/>
                        <a:t>row</a:t>
                      </a:r>
                      <a:endParaRPr lang="en-US" baseline="-25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∑</a:t>
                      </a:r>
                      <a:r>
                        <a:rPr lang="en-US" baseline="-25000" dirty="0"/>
                        <a:t>col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103221" y="5833374"/>
            <a:ext cx="615636" cy="384721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Jim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7390462" y="4780228"/>
            <a:ext cx="783048" cy="38472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Mary</a:t>
            </a:r>
            <a:endParaRPr lang="en-US" dirty="0"/>
          </a:p>
        </p:txBody>
      </p:sp>
      <p:pic>
        <p:nvPicPr>
          <p:cNvPr id="14" name="Picture 31" descr="eqbinaryasym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8103" y="4093911"/>
            <a:ext cx="29718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7474168" y="3901551"/>
            <a:ext cx="615636" cy="384721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Jack</a:t>
            </a:r>
            <a:endParaRPr 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711200" y="228600"/>
            <a:ext cx="10668000" cy="762000"/>
          </a:xfrm>
        </p:spPr>
        <p:txBody>
          <a:bodyPr>
            <a:normAutofit/>
          </a:bodyPr>
          <a:lstStyle/>
          <a:p>
            <a:r>
              <a:rPr lang="en-US" altLang="en-US" sz="4000" dirty="0"/>
              <a:t>Proximity Measure for Categorical Attributes</a:t>
            </a:r>
            <a:endParaRPr lang="en-US" altLang="en-US" sz="4000" dirty="0"/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4690" y="1233409"/>
            <a:ext cx="9415237" cy="545031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400" dirty="0"/>
              <a:t>Categorical data, also called nominal attributes</a:t>
            </a:r>
            <a:endParaRPr lang="en-US" altLang="en-US" sz="2400" dirty="0"/>
          </a:p>
          <a:p>
            <a:pPr lvl="1">
              <a:lnSpc>
                <a:spcPct val="150000"/>
              </a:lnSpc>
            </a:pPr>
            <a:r>
              <a:rPr lang="en-US" altLang="en-US" sz="2400" dirty="0"/>
              <a:t> Example:  Color (red, yellow, blue, green), profession, etc.  </a:t>
            </a:r>
            <a:endParaRPr lang="en-US" altLang="en-US" sz="2400" dirty="0"/>
          </a:p>
          <a:p>
            <a:pPr>
              <a:lnSpc>
                <a:spcPct val="150000"/>
              </a:lnSpc>
            </a:pPr>
            <a:r>
              <a:rPr lang="en-US" altLang="en-US" sz="2400" u="sng" dirty="0"/>
              <a:t>Method 1</a:t>
            </a:r>
            <a:r>
              <a:rPr lang="en-US" altLang="en-US" sz="2400" dirty="0"/>
              <a:t>: Simple matching</a:t>
            </a:r>
            <a:endParaRPr lang="en-US" altLang="en-US" sz="2400" i="1" dirty="0"/>
          </a:p>
          <a:p>
            <a:pPr lvl="1">
              <a:lnSpc>
                <a:spcPct val="150000"/>
              </a:lnSpc>
            </a:pPr>
            <a:r>
              <a:rPr lang="en-US" altLang="en-US" sz="2400" i="1" dirty="0"/>
              <a:t>m</a:t>
            </a:r>
            <a:r>
              <a:rPr lang="en-US" altLang="en-US" sz="2400" dirty="0"/>
              <a:t>: # of matches,</a:t>
            </a:r>
            <a:r>
              <a:rPr lang="en-US" altLang="en-US" sz="2400" i="1" dirty="0"/>
              <a:t> p</a:t>
            </a:r>
            <a:r>
              <a:rPr lang="en-US" altLang="en-US" sz="2400" dirty="0"/>
              <a:t>: total # of variables</a:t>
            </a:r>
            <a:endParaRPr lang="en-US" altLang="en-US" sz="2400" dirty="0"/>
          </a:p>
          <a:p>
            <a:pPr>
              <a:lnSpc>
                <a:spcPct val="150000"/>
              </a:lnSpc>
            </a:pPr>
            <a:endParaRPr lang="en-US" altLang="en-US" sz="2400" dirty="0"/>
          </a:p>
          <a:p>
            <a:pPr>
              <a:lnSpc>
                <a:spcPct val="150000"/>
              </a:lnSpc>
            </a:pPr>
            <a:endParaRPr lang="en-US" altLang="en-US" sz="2400" u="sng" dirty="0"/>
          </a:p>
          <a:p>
            <a:pPr>
              <a:lnSpc>
                <a:spcPct val="150000"/>
              </a:lnSpc>
            </a:pPr>
            <a:r>
              <a:rPr lang="en-US" altLang="en-US" sz="2400" u="sng" dirty="0"/>
              <a:t>Method 2</a:t>
            </a:r>
            <a:r>
              <a:rPr lang="en-US" altLang="en-US" sz="2400" dirty="0"/>
              <a:t>: Use a large number of binary attributes</a:t>
            </a:r>
            <a:endParaRPr lang="en-US" altLang="en-US" sz="2400" dirty="0"/>
          </a:p>
          <a:p>
            <a:pPr lvl="1">
              <a:lnSpc>
                <a:spcPct val="150000"/>
              </a:lnSpc>
            </a:pPr>
            <a:r>
              <a:rPr lang="en-US" altLang="en-US" sz="2400" dirty="0"/>
              <a:t>Creating a new binary attribute for each of the </a:t>
            </a:r>
            <a:r>
              <a:rPr lang="en-US" altLang="en-US" sz="2400" i="1" dirty="0"/>
              <a:t>M</a:t>
            </a:r>
            <a:r>
              <a:rPr lang="en-US" altLang="en-US" sz="2400" dirty="0"/>
              <a:t> nominal states</a:t>
            </a:r>
            <a:endParaRPr lang="en-US" altLang="en-US" sz="2400" dirty="0"/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2665308" y="4042373"/>
          <a:ext cx="266700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1" imgW="1384300" imgH="469900" progId="Equation.3">
                  <p:embed/>
                </p:oleObj>
              </mc:Choice>
              <mc:Fallback>
                <p:oleObj name="Equation" r:id="rId1" imgW="1384300" imgH="4699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5308" y="4042373"/>
                        <a:ext cx="2667000" cy="66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711200" y="228600"/>
            <a:ext cx="10668000" cy="762000"/>
          </a:xfrm>
        </p:spPr>
        <p:txBody>
          <a:bodyPr>
            <a:normAutofit/>
          </a:bodyPr>
          <a:lstStyle/>
          <a:p>
            <a:r>
              <a:rPr lang="en-US" altLang="en-US" sz="4000" dirty="0"/>
              <a:t>Ordinal Variables</a:t>
            </a:r>
            <a:endParaRPr lang="en-US" altLang="en-US" sz="4000" dirty="0"/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4690" y="1233409"/>
            <a:ext cx="9719460" cy="5450312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altLang="en-US" sz="2400" dirty="0"/>
              <a:t>An ordinal variable can be discrete or continuous</a:t>
            </a:r>
            <a:endParaRPr lang="en-US" altLang="en-US" sz="2400" dirty="0"/>
          </a:p>
          <a:p>
            <a:pPr>
              <a:spcAft>
                <a:spcPts val="600"/>
              </a:spcAft>
            </a:pPr>
            <a:r>
              <a:rPr lang="en-US" altLang="en-US" sz="2400" dirty="0"/>
              <a:t>Order is important, e.g., rank (e.g., freshman, sophomore, junior, senior)</a:t>
            </a:r>
            <a:endParaRPr lang="en-US" altLang="en-US" sz="2400" dirty="0"/>
          </a:p>
          <a:p>
            <a:pPr>
              <a:spcAft>
                <a:spcPts val="600"/>
              </a:spcAft>
            </a:pPr>
            <a:r>
              <a:rPr lang="en-US" altLang="en-US" sz="2400" dirty="0"/>
              <a:t>Can be treated like interval-scaled </a:t>
            </a:r>
            <a:endParaRPr lang="en-US" altLang="en-US" sz="2400" dirty="0"/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Replace </a:t>
            </a:r>
            <a:r>
              <a:rPr lang="en-US" altLang="en-US" sz="2400" i="1" dirty="0"/>
              <a:t>an ordinal variable value</a:t>
            </a:r>
            <a:r>
              <a:rPr lang="en-US" altLang="en-US" sz="2400" dirty="0"/>
              <a:t> by its rank:</a:t>
            </a:r>
            <a:endParaRPr lang="en-US" altLang="en-US" sz="2400" dirty="0"/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Map the range of each variable onto [0, 1] by replacing</a:t>
            </a:r>
            <a:r>
              <a:rPr lang="en-US" altLang="en-US" sz="2400" i="1" dirty="0"/>
              <a:t> </a:t>
            </a:r>
            <a:r>
              <a:rPr lang="en-US" altLang="en-US" sz="2400" i="1" dirty="0" err="1"/>
              <a:t>i</a:t>
            </a:r>
            <a:r>
              <a:rPr lang="en-US" altLang="en-US" sz="2400" dirty="0" err="1"/>
              <a:t>-th</a:t>
            </a:r>
            <a:r>
              <a:rPr lang="en-US" altLang="en-US" sz="2400" dirty="0"/>
              <a:t> object in the </a:t>
            </a:r>
            <a:r>
              <a:rPr lang="en-US" altLang="en-US" sz="2400" i="1" dirty="0"/>
              <a:t>f</a:t>
            </a:r>
            <a:r>
              <a:rPr lang="en-US" altLang="en-US" sz="2400" dirty="0"/>
              <a:t>-</a:t>
            </a:r>
            <a:r>
              <a:rPr lang="en-US" altLang="en-US" sz="2400" dirty="0" err="1"/>
              <a:t>th</a:t>
            </a:r>
            <a:r>
              <a:rPr lang="en-US" altLang="en-US" sz="2400" dirty="0"/>
              <a:t> variable by </a:t>
            </a:r>
            <a:endParaRPr lang="en-US" altLang="en-US" sz="2400" dirty="0"/>
          </a:p>
          <a:p>
            <a:pPr lvl="1">
              <a:spcAft>
                <a:spcPts val="600"/>
              </a:spcAft>
            </a:pPr>
            <a:endParaRPr lang="en-US" altLang="en-US" sz="2400" dirty="0"/>
          </a:p>
          <a:p>
            <a:pPr lvl="2">
              <a:spcAft>
                <a:spcPts val="600"/>
              </a:spcAft>
            </a:pPr>
            <a:r>
              <a:rPr lang="en-US" altLang="en-US" sz="2400" dirty="0"/>
              <a:t>Example:  freshman: 0; sophomore: 1/3; junior: 2/3; senior 1</a:t>
            </a:r>
            <a:endParaRPr lang="en-US" altLang="en-US" sz="2400" dirty="0"/>
          </a:p>
          <a:p>
            <a:pPr lvl="3">
              <a:spcAft>
                <a:spcPts val="600"/>
              </a:spcAft>
            </a:pPr>
            <a:r>
              <a:rPr lang="en-US" altLang="en-US" sz="2400" dirty="0"/>
              <a:t>Then distance:  d(freshman, senior) = 1, d(junior, senior) = 1/3</a:t>
            </a:r>
            <a:endParaRPr lang="en-US" altLang="en-US" sz="2400" dirty="0"/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Compute the dissimilarity using methods for interval-scaled variables</a:t>
            </a:r>
            <a:endParaRPr lang="en-US" altLang="en-US" sz="2400" dirty="0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4217843" y="3655147"/>
          <a:ext cx="1612900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1" imgW="18897600" imgH="11277600" progId="Equation.DSMT4">
                  <p:embed/>
                </p:oleObj>
              </mc:Choice>
              <mc:Fallback>
                <p:oleObj name="Equation" r:id="rId1" imgW="18897600" imgH="11277600" progId="Equation.DSMT4">
                  <p:embed/>
                  <p:pic>
                    <p:nvPicPr>
                      <p:cNvPr id="0" name="Object 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217843" y="3655147"/>
                        <a:ext cx="1612900" cy="9604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7252853" y="2772930"/>
          <a:ext cx="1841946" cy="551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3" imgW="21945600" imgH="5791200" progId="Equation.DSMT4">
                  <p:embed/>
                </p:oleObj>
              </mc:Choice>
              <mc:Fallback>
                <p:oleObj name="Equation" r:id="rId3" imgW="21945600" imgH="5791200" progId="Equation.DSMT4">
                  <p:embed/>
                  <p:pic>
                    <p:nvPicPr>
                      <p:cNvPr id="0" name="Object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252853" y="2772930"/>
                        <a:ext cx="1841946" cy="5512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711200" y="228600"/>
            <a:ext cx="10668000" cy="762000"/>
          </a:xfrm>
        </p:spPr>
        <p:txBody>
          <a:bodyPr/>
          <a:lstStyle/>
          <a:p>
            <a:r>
              <a:rPr lang="en-US" altLang="en-US" dirty="0"/>
              <a:t>Attributes of Mixed Type</a:t>
            </a:r>
            <a:endParaRPr lang="en-US" altLang="en-US" dirty="0"/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2262" y="1151931"/>
            <a:ext cx="9904490" cy="5583847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altLang="en-US" sz="2400" dirty="0">
                <a:latin typeface="Calibri" panose="020F0502020204030204" pitchFamily="34" charset="0"/>
              </a:rPr>
              <a:t>A dataset may contain all attribute types</a:t>
            </a:r>
            <a:endParaRPr lang="en-US" altLang="en-US" sz="2400" dirty="0">
              <a:latin typeface="Calibri" panose="020F0502020204030204" pitchFamily="34" charset="0"/>
            </a:endParaRPr>
          </a:p>
          <a:p>
            <a:pPr lvl="1">
              <a:spcAft>
                <a:spcPts val="600"/>
              </a:spcAft>
            </a:pPr>
            <a:r>
              <a:rPr lang="en-US" altLang="en-US" sz="2400" dirty="0">
                <a:latin typeface="Calibri" panose="020F0502020204030204" pitchFamily="34" charset="0"/>
              </a:rPr>
              <a:t>Nominal, symmetric binary, asymmetric binary, numeric, and ordinal</a:t>
            </a:r>
            <a:endParaRPr lang="en-US" altLang="en-US" sz="2400" dirty="0">
              <a:latin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en-US" sz="2400" dirty="0">
                <a:latin typeface="Calibri" panose="020F0502020204030204" pitchFamily="34" charset="0"/>
              </a:rPr>
              <a:t>One may use a weighted formula to combine their effects:</a:t>
            </a:r>
            <a:endParaRPr lang="en-US" altLang="en-US" sz="2400" dirty="0">
              <a:latin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endParaRPr lang="en-US" altLang="en-US" sz="2400" dirty="0">
              <a:latin typeface="Calibri" panose="020F0502020204030204" pitchFamily="34" charset="0"/>
            </a:endParaRPr>
          </a:p>
          <a:p>
            <a:pPr marL="200025" lvl="1" indent="0">
              <a:spcAft>
                <a:spcPts val="600"/>
              </a:spcAft>
              <a:buNone/>
            </a:pPr>
            <a:endParaRPr lang="en-US" altLang="en-US" sz="2400" i="1" dirty="0">
              <a:latin typeface="Calibri" panose="020F0502020204030204" pitchFamily="34" charset="0"/>
            </a:endParaRPr>
          </a:p>
          <a:p>
            <a:pPr lvl="1">
              <a:spcAft>
                <a:spcPts val="600"/>
              </a:spcAft>
            </a:pPr>
            <a:endParaRPr lang="en-US" altLang="en-US" sz="2400" dirty="0">
              <a:latin typeface="Calibri" panose="020F0502020204030204" pitchFamily="34" charset="0"/>
            </a:endParaRPr>
          </a:p>
          <a:p>
            <a:pPr lvl="1">
              <a:spcAft>
                <a:spcPts val="600"/>
              </a:spcAft>
            </a:pPr>
            <a:r>
              <a:rPr lang="en-US" altLang="en-US" sz="2400" dirty="0">
                <a:latin typeface="Calibri" panose="020F0502020204030204" pitchFamily="34" charset="0"/>
              </a:rPr>
              <a:t>If</a:t>
            </a:r>
            <a:r>
              <a:rPr lang="en-US" altLang="en-US" sz="2400" i="1" dirty="0">
                <a:latin typeface="Calibri" panose="020F0502020204030204" pitchFamily="34" charset="0"/>
              </a:rPr>
              <a:t> f</a:t>
            </a:r>
            <a:r>
              <a:rPr lang="en-US" altLang="en-US" sz="2400" dirty="0">
                <a:latin typeface="Calibri" panose="020F0502020204030204" pitchFamily="34" charset="0"/>
              </a:rPr>
              <a:t>  is numeric: Use the normalized distance</a:t>
            </a:r>
            <a:endParaRPr lang="en-US" altLang="en-US" sz="2400" dirty="0">
              <a:latin typeface="Calibri" panose="020F0502020204030204" pitchFamily="34" charset="0"/>
            </a:endParaRPr>
          </a:p>
          <a:p>
            <a:pPr lvl="1">
              <a:spcAft>
                <a:spcPts val="600"/>
              </a:spcAft>
            </a:pPr>
            <a:r>
              <a:rPr lang="en-US" altLang="en-US" sz="2400" dirty="0">
                <a:latin typeface="Calibri" panose="020F0502020204030204" pitchFamily="34" charset="0"/>
              </a:rPr>
              <a:t>If</a:t>
            </a:r>
            <a:r>
              <a:rPr lang="en-US" altLang="en-US" sz="2400" i="1" dirty="0">
                <a:latin typeface="Calibri" panose="020F0502020204030204" pitchFamily="34" charset="0"/>
              </a:rPr>
              <a:t> f</a:t>
            </a:r>
            <a:r>
              <a:rPr lang="en-US" altLang="en-US" sz="2400" dirty="0">
                <a:latin typeface="Calibri" panose="020F0502020204030204" pitchFamily="34" charset="0"/>
              </a:rPr>
              <a:t>  is binary or nominal:   </a:t>
            </a:r>
            <a:r>
              <a:rPr lang="en-US" altLang="en-US" sz="2400" dirty="0" err="1">
                <a:latin typeface="Calibri" panose="020F0502020204030204" pitchFamily="34" charset="0"/>
                <a:cs typeface="Tahoma" panose="020B0604030504040204" pitchFamily="34" charset="0"/>
              </a:rPr>
              <a:t>d</a:t>
            </a:r>
            <a:r>
              <a:rPr lang="en-US" altLang="en-US" sz="2400" baseline="-25000" dirty="0" err="1">
                <a:latin typeface="Calibri" panose="020F0502020204030204" pitchFamily="34" charset="0"/>
              </a:rPr>
              <a:t>ij</a:t>
            </a:r>
            <a:r>
              <a:rPr lang="en-US" altLang="en-US" sz="2400" baseline="30000" dirty="0">
                <a:latin typeface="Calibri" panose="020F0502020204030204" pitchFamily="34" charset="0"/>
              </a:rPr>
              <a:t>(f)</a:t>
            </a:r>
            <a:r>
              <a:rPr lang="en-US" altLang="en-US" sz="2400" dirty="0">
                <a:latin typeface="Calibri" panose="020F0502020204030204" pitchFamily="34" charset="0"/>
              </a:rPr>
              <a:t> = 0  if </a:t>
            </a:r>
            <a:r>
              <a:rPr lang="en-US" altLang="en-US" sz="2400" dirty="0" err="1">
                <a:latin typeface="Calibri" panose="020F0502020204030204" pitchFamily="34" charset="0"/>
              </a:rPr>
              <a:t>x</a:t>
            </a:r>
            <a:r>
              <a:rPr lang="en-US" altLang="en-US" sz="2400" baseline="-25000" dirty="0" err="1">
                <a:latin typeface="Calibri" panose="020F0502020204030204" pitchFamily="34" charset="0"/>
              </a:rPr>
              <a:t>if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 </a:t>
            </a:r>
            <a:r>
              <a:rPr lang="en-US" altLang="en-US" sz="2400" dirty="0">
                <a:latin typeface="Calibri" panose="020F0502020204030204" pitchFamily="34" charset="0"/>
              </a:rPr>
              <a:t>= </a:t>
            </a:r>
            <a:r>
              <a:rPr lang="en-US" altLang="en-US" sz="2400" dirty="0" err="1">
                <a:latin typeface="Calibri" panose="020F0502020204030204" pitchFamily="34" charset="0"/>
              </a:rPr>
              <a:t>x</a:t>
            </a:r>
            <a:r>
              <a:rPr lang="en-US" altLang="en-US" sz="2400" baseline="-25000" dirty="0" err="1">
                <a:latin typeface="Calibri" panose="020F0502020204030204" pitchFamily="34" charset="0"/>
              </a:rPr>
              <a:t>jf</a:t>
            </a:r>
            <a:r>
              <a:rPr lang="en-US" altLang="en-US" sz="2400" dirty="0">
                <a:latin typeface="Calibri" panose="020F0502020204030204" pitchFamily="34" charset="0"/>
              </a:rPr>
              <a:t>; or </a:t>
            </a:r>
            <a:r>
              <a:rPr lang="en-US" altLang="en-US" sz="2400" dirty="0" err="1">
                <a:latin typeface="Calibri" panose="020F0502020204030204" pitchFamily="34" charset="0"/>
                <a:cs typeface="Tahoma" panose="020B0604030504040204" pitchFamily="34" charset="0"/>
              </a:rPr>
              <a:t>d</a:t>
            </a:r>
            <a:r>
              <a:rPr lang="en-US" altLang="en-US" sz="2400" baseline="-25000" dirty="0" err="1">
                <a:latin typeface="Calibri" panose="020F0502020204030204" pitchFamily="34" charset="0"/>
              </a:rPr>
              <a:t>ij</a:t>
            </a:r>
            <a:r>
              <a:rPr lang="en-US" altLang="en-US" sz="2400" baseline="30000" dirty="0">
                <a:latin typeface="Calibri" panose="020F0502020204030204" pitchFamily="34" charset="0"/>
              </a:rPr>
              <a:t>(f)</a:t>
            </a:r>
            <a:r>
              <a:rPr lang="en-US" altLang="en-US" sz="2400" dirty="0">
                <a:latin typeface="Calibri" panose="020F0502020204030204" pitchFamily="34" charset="0"/>
              </a:rPr>
              <a:t> = 1 otherwise</a:t>
            </a:r>
            <a:endParaRPr lang="en-US" altLang="en-US" sz="2400" dirty="0">
              <a:latin typeface="Calibri" panose="020F0502020204030204" pitchFamily="34" charset="0"/>
            </a:endParaRPr>
          </a:p>
          <a:p>
            <a:pPr lvl="1">
              <a:spcAft>
                <a:spcPts val="600"/>
              </a:spcAft>
            </a:pPr>
            <a:r>
              <a:rPr lang="en-US" altLang="en-US" sz="2400" dirty="0">
                <a:latin typeface="Calibri" panose="020F0502020204030204" pitchFamily="34" charset="0"/>
              </a:rPr>
              <a:t>If</a:t>
            </a:r>
            <a:r>
              <a:rPr lang="en-US" altLang="en-US" sz="2400" i="1" dirty="0">
                <a:latin typeface="Calibri" panose="020F0502020204030204" pitchFamily="34" charset="0"/>
              </a:rPr>
              <a:t> f</a:t>
            </a:r>
            <a:r>
              <a:rPr lang="en-US" altLang="en-US" sz="2400" dirty="0">
                <a:latin typeface="Calibri" panose="020F0502020204030204" pitchFamily="34" charset="0"/>
              </a:rPr>
              <a:t>  is ordinal</a:t>
            </a:r>
            <a:endParaRPr lang="en-US" altLang="en-US" sz="2400" dirty="0">
              <a:latin typeface="Calibri" panose="020F0502020204030204" pitchFamily="34" charset="0"/>
            </a:endParaRPr>
          </a:p>
          <a:p>
            <a:pPr lvl="2">
              <a:spcAft>
                <a:spcPts val="600"/>
              </a:spcAft>
            </a:pPr>
            <a:r>
              <a:rPr lang="en-US" altLang="en-US" sz="2400" dirty="0">
                <a:latin typeface="Calibri" panose="020F0502020204030204" pitchFamily="34" charset="0"/>
              </a:rPr>
              <a:t>Compute ranks </a:t>
            </a:r>
            <a:r>
              <a:rPr lang="en-US" altLang="en-US" sz="2400" dirty="0" err="1">
                <a:latin typeface="Calibri" panose="020F0502020204030204" pitchFamily="34" charset="0"/>
              </a:rPr>
              <a:t>z</a:t>
            </a:r>
            <a:r>
              <a:rPr lang="en-US" altLang="en-US" sz="2400" baseline="-25000" dirty="0" err="1">
                <a:latin typeface="Calibri" panose="020F0502020204030204" pitchFamily="34" charset="0"/>
              </a:rPr>
              <a:t>if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 </a:t>
            </a:r>
            <a:r>
              <a:rPr lang="en-US" altLang="en-US" sz="2400" dirty="0">
                <a:latin typeface="Calibri" panose="020F0502020204030204" pitchFamily="34" charset="0"/>
              </a:rPr>
              <a:t> (where                       )</a:t>
            </a:r>
            <a:endParaRPr lang="en-US" altLang="en-US" sz="2400" dirty="0">
              <a:latin typeface="Calibri" panose="020F0502020204030204" pitchFamily="34" charset="0"/>
            </a:endParaRPr>
          </a:p>
          <a:p>
            <a:pPr lvl="2">
              <a:spcAft>
                <a:spcPts val="600"/>
              </a:spcAft>
            </a:pPr>
            <a:r>
              <a:rPr lang="en-US" altLang="en-US" sz="2400" dirty="0">
                <a:latin typeface="Calibri" panose="020F0502020204030204" pitchFamily="34" charset="0"/>
              </a:rPr>
              <a:t>Treat </a:t>
            </a:r>
            <a:r>
              <a:rPr lang="en-US" altLang="en-US" sz="2400" dirty="0" err="1">
                <a:latin typeface="Calibri" panose="020F0502020204030204" pitchFamily="34" charset="0"/>
              </a:rPr>
              <a:t>z</a:t>
            </a:r>
            <a:r>
              <a:rPr lang="en-US" altLang="en-US" sz="2400" baseline="-25000" dirty="0" err="1">
                <a:latin typeface="Calibri" panose="020F0502020204030204" pitchFamily="34" charset="0"/>
              </a:rPr>
              <a:t>if</a:t>
            </a:r>
            <a:r>
              <a:rPr lang="en-US" altLang="en-US" sz="2400" dirty="0">
                <a:latin typeface="Calibri" panose="020F0502020204030204" pitchFamily="34" charset="0"/>
              </a:rPr>
              <a:t> as interval-scaled</a:t>
            </a:r>
            <a:endParaRPr lang="en-US" altLang="en-US" sz="2400" dirty="0">
              <a:latin typeface="Calibri" panose="020F0502020204030204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4553894" y="5582819"/>
          <a:ext cx="1612900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1" imgW="18897600" imgH="11277600" progId="Equation.DSMT4">
                  <p:embed/>
                </p:oleObj>
              </mc:Choice>
              <mc:Fallback>
                <p:oleObj name="Equation" r:id="rId1" imgW="18897600" imgH="11277600" progId="Equation.DSMT4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53894" y="5582819"/>
                        <a:ext cx="1612900" cy="9604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4027802" y="2556058"/>
          <a:ext cx="2490693" cy="17410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3" imgW="30480000" imgH="21336000" progId="Equation.DSMT4">
                  <p:embed/>
                </p:oleObj>
              </mc:Choice>
              <mc:Fallback>
                <p:oleObj name="Equation" r:id="rId3" imgW="30480000" imgH="21336000" progId="Equation.DSMT4">
                  <p:embed/>
                  <p:pic>
                    <p:nvPicPr>
                      <p:cNvPr id="0" name="Object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27802" y="2556058"/>
                        <a:ext cx="2490693" cy="17410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711200" y="228600"/>
            <a:ext cx="10668000" cy="762000"/>
          </a:xfrm>
        </p:spPr>
        <p:txBody>
          <a:bodyPr>
            <a:normAutofit/>
          </a:bodyPr>
          <a:lstStyle/>
          <a:p>
            <a:r>
              <a:rPr lang="en-US" altLang="en-US" sz="4000" dirty="0"/>
              <a:t>Cosine Similarity of Two Vectors</a:t>
            </a:r>
            <a:endParaRPr lang="en-US" altLang="en-US" sz="4000" dirty="0"/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8801" y="1149328"/>
            <a:ext cx="11283575" cy="5450312"/>
          </a:xfrm>
        </p:spPr>
        <p:txBody>
          <a:bodyPr/>
          <a:lstStyle/>
          <a:p>
            <a:r>
              <a:rPr lang="en-US" altLang="en-US" sz="2400" dirty="0"/>
              <a:t>A </a:t>
            </a:r>
            <a:r>
              <a:rPr lang="en-US" altLang="en-US" sz="2400" b="1" dirty="0"/>
              <a:t>document</a:t>
            </a:r>
            <a:r>
              <a:rPr lang="en-US" altLang="en-US" sz="2400" dirty="0"/>
              <a:t> can be represented by a bag of terms or a long vector, with each attribute recording the </a:t>
            </a:r>
            <a:r>
              <a:rPr lang="en-US" altLang="en-US" sz="2400" i="1" dirty="0"/>
              <a:t>frequency</a:t>
            </a:r>
            <a:r>
              <a:rPr lang="en-US" altLang="en-US" sz="2400" dirty="0"/>
              <a:t> of a particular term (such as word, keyword, or phrase) in the document</a:t>
            </a:r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pPr marL="0" indent="0">
              <a:buNone/>
            </a:pPr>
            <a:endParaRPr lang="en-US" altLang="en-US" sz="2400" dirty="0"/>
          </a:p>
          <a:p>
            <a:r>
              <a:rPr lang="en-US" altLang="en-US" sz="2400" dirty="0"/>
              <a:t>Other vector objects: Gene features in micro-arrays </a:t>
            </a:r>
            <a:endParaRPr lang="en-US" altLang="en-US" sz="2400" dirty="0"/>
          </a:p>
          <a:p>
            <a:r>
              <a:rPr lang="en-US" altLang="en-US" sz="2400" dirty="0"/>
              <a:t>Applications: Information retrieval, biologic taxonomy, gene feature mapping, etc.</a:t>
            </a:r>
            <a:endParaRPr lang="en-US" altLang="en-US" sz="2400" dirty="0"/>
          </a:p>
          <a:p>
            <a:r>
              <a:rPr lang="en-US" altLang="en-US" sz="2400" dirty="0"/>
              <a:t>Cosine measure: </a:t>
            </a:r>
            <a:r>
              <a:rPr lang="en-US" altLang="en-US" sz="2400" dirty="0">
                <a:cs typeface="Times New Roman" panose="02020603050405020304" pitchFamily="18" charset="0"/>
              </a:rPr>
              <a:t>If </a:t>
            </a:r>
            <a:r>
              <a:rPr lang="en-US" altLang="en-US" sz="2400" i="1" dirty="0">
                <a:cs typeface="Times New Roman" panose="02020603050405020304" pitchFamily="18" charset="0"/>
              </a:rPr>
              <a:t>d</a:t>
            </a:r>
            <a:r>
              <a:rPr lang="en-US" altLang="en-US" sz="2400" i="1" baseline="-30000" dirty="0">
                <a:cs typeface="Times New Roman" panose="02020603050405020304" pitchFamily="18" charset="0"/>
              </a:rPr>
              <a:t>1</a:t>
            </a:r>
            <a:r>
              <a:rPr lang="en-US" altLang="en-US" sz="2400" dirty="0">
                <a:cs typeface="Times New Roman" panose="02020603050405020304" pitchFamily="18" charset="0"/>
              </a:rPr>
              <a:t> and </a:t>
            </a:r>
            <a:r>
              <a:rPr lang="en-US" altLang="en-US" sz="2400" i="1" dirty="0">
                <a:cs typeface="Times New Roman" panose="02020603050405020304" pitchFamily="18" charset="0"/>
              </a:rPr>
              <a:t>d</a:t>
            </a:r>
            <a:r>
              <a:rPr lang="en-US" altLang="en-US" sz="2400" i="1" baseline="-30000" dirty="0">
                <a:cs typeface="Times New Roman" panose="02020603050405020304" pitchFamily="18" charset="0"/>
              </a:rPr>
              <a:t>2</a:t>
            </a:r>
            <a:r>
              <a:rPr lang="en-US" altLang="en-US" sz="2400" dirty="0">
                <a:cs typeface="Times New Roman" panose="02020603050405020304" pitchFamily="18" charset="0"/>
              </a:rPr>
              <a:t> are two vectors (e.g., term-frequency vectors), then</a:t>
            </a:r>
            <a:endParaRPr lang="en-US" altLang="en-US" sz="2400" dirty="0"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en-US" altLang="en-US" sz="2400" dirty="0">
              <a:cs typeface="Times New Roman" panose="02020603050405020304" pitchFamily="18" charset="0"/>
            </a:endParaRPr>
          </a:p>
          <a:p>
            <a:pPr lvl="2" algn="just">
              <a:buNone/>
            </a:pPr>
            <a:endParaRPr lang="en-US" altLang="en-US" sz="2400" dirty="0">
              <a:cs typeface="Times New Roman" panose="02020603050405020304" pitchFamily="18" charset="0"/>
            </a:endParaRPr>
          </a:p>
          <a:p>
            <a:pPr lvl="2" algn="just"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where </a:t>
            </a: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en-US" altLang="en-US" sz="2400" dirty="0">
                <a:cs typeface="Times New Roman" panose="02020603050405020304" pitchFamily="18" charset="0"/>
              </a:rPr>
              <a:t> indicates vector dot product, ||</a:t>
            </a:r>
            <a:r>
              <a:rPr lang="en-US" altLang="en-US" sz="2400" i="1" dirty="0">
                <a:cs typeface="Times New Roman" panose="02020603050405020304" pitchFamily="18" charset="0"/>
              </a:rPr>
              <a:t>d</a:t>
            </a:r>
            <a:r>
              <a:rPr lang="en-US" altLang="en-US" sz="2400" dirty="0">
                <a:cs typeface="Times New Roman" panose="02020603050405020304" pitchFamily="18" charset="0"/>
              </a:rPr>
              <a:t>||: the length of vector </a:t>
            </a:r>
            <a:r>
              <a:rPr lang="en-US" altLang="en-US" sz="2400" i="1" dirty="0">
                <a:cs typeface="Times New Roman" panose="02020603050405020304" pitchFamily="18" charset="0"/>
              </a:rPr>
              <a:t>d</a:t>
            </a:r>
            <a:endParaRPr lang="en-US" altLang="en-US" sz="2400" i="1" dirty="0">
              <a:cs typeface="Times New Roman" panose="02020603050405020304" pitchFamily="18" charset="0"/>
            </a:endParaRPr>
          </a:p>
        </p:txBody>
      </p:sp>
      <p:pic>
        <p:nvPicPr>
          <p:cNvPr id="4" name="Picture 4" descr="eqtabl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0799" y="2261608"/>
            <a:ext cx="82296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3285377" y="4986106"/>
          <a:ext cx="3140075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2" imgW="38404800" imgH="10363200" progId="Equation.DSMT4">
                  <p:embed/>
                </p:oleObj>
              </mc:Choice>
              <mc:Fallback>
                <p:oleObj name="Equation" r:id="rId2" imgW="38404800" imgH="10363200" progId="Equation.DSMT4">
                  <p:embed/>
                  <p:pic>
                    <p:nvPicPr>
                      <p:cNvPr id="0" name="Object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285377" y="4986106"/>
                        <a:ext cx="3140075" cy="849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711200" y="228600"/>
            <a:ext cx="10668000" cy="762000"/>
          </a:xfrm>
        </p:spPr>
        <p:txBody>
          <a:bodyPr>
            <a:normAutofit/>
          </a:bodyPr>
          <a:lstStyle/>
          <a:p>
            <a:r>
              <a:rPr lang="en-US" altLang="en-US" sz="4000" dirty="0"/>
              <a:t>Example: Calculating Cosine Similarity</a:t>
            </a:r>
            <a:endParaRPr lang="en-US" altLang="en-US" sz="4000" dirty="0"/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2261" y="1170038"/>
            <a:ext cx="11397691" cy="5450312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altLang="en-US" sz="2400" dirty="0"/>
              <a:t>Calculating Cosine Similarity:</a:t>
            </a:r>
            <a:endParaRPr lang="en-US" altLang="en-US" sz="2400" dirty="0"/>
          </a:p>
          <a:p>
            <a:pPr lvl="1">
              <a:spcBef>
                <a:spcPts val="1200"/>
              </a:spcBef>
            </a:pPr>
            <a:endParaRPr lang="en-US" altLang="en-US" sz="2400" dirty="0">
              <a:cs typeface="Times New Roman" panose="02020603050405020304" pitchFamily="18" charset="0"/>
            </a:endParaRPr>
          </a:p>
          <a:p>
            <a:pPr marL="384175" lvl="2" indent="0" algn="just"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   where </a:t>
            </a: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en-US" altLang="en-US" sz="2400" dirty="0">
                <a:cs typeface="Times New Roman" panose="02020603050405020304" pitchFamily="18" charset="0"/>
              </a:rPr>
              <a:t> indicates vector dot product, ||</a:t>
            </a:r>
            <a:r>
              <a:rPr lang="en-US" altLang="en-US" sz="2400" i="1" dirty="0">
                <a:cs typeface="Times New Roman" panose="02020603050405020304" pitchFamily="18" charset="0"/>
              </a:rPr>
              <a:t>d</a:t>
            </a:r>
            <a:r>
              <a:rPr lang="en-US" altLang="en-US" sz="2400" dirty="0">
                <a:cs typeface="Times New Roman" panose="02020603050405020304" pitchFamily="18" charset="0"/>
              </a:rPr>
              <a:t>||: the length of vector </a:t>
            </a:r>
            <a:r>
              <a:rPr lang="en-US" altLang="en-US" sz="2400" i="1" dirty="0">
                <a:cs typeface="Times New Roman" panose="02020603050405020304" pitchFamily="18" charset="0"/>
              </a:rPr>
              <a:t>d</a:t>
            </a:r>
            <a:endParaRPr lang="en-US" altLang="en-US" sz="2400" i="1" dirty="0">
              <a:cs typeface="Times New Roman" panose="02020603050405020304" pitchFamily="18" charset="0"/>
            </a:endParaRPr>
          </a:p>
          <a:p>
            <a:pPr algn="just"/>
            <a:r>
              <a:rPr lang="en-US" altLang="en-US" sz="2400" dirty="0">
                <a:cs typeface="Times New Roman" panose="02020603050405020304" pitchFamily="18" charset="0"/>
              </a:rPr>
              <a:t>Ex: Find the </a:t>
            </a:r>
            <a:r>
              <a:rPr lang="en-US" altLang="en-US" sz="2400" b="1" dirty="0">
                <a:cs typeface="Times New Roman" panose="02020603050405020304" pitchFamily="18" charset="0"/>
              </a:rPr>
              <a:t>similarity</a:t>
            </a:r>
            <a:r>
              <a:rPr lang="en-US" altLang="en-US" sz="2400" dirty="0">
                <a:cs typeface="Times New Roman" panose="02020603050405020304" pitchFamily="18" charset="0"/>
              </a:rPr>
              <a:t> between documents 1 and 2.</a:t>
            </a:r>
            <a:endParaRPr lang="en-US" altLang="en-US" sz="2400" dirty="0">
              <a:cs typeface="Times New Roman" panose="02020603050405020304" pitchFamily="18" charset="0"/>
            </a:endParaRPr>
          </a:p>
          <a:p>
            <a:pPr lvl="4" algn="just">
              <a:buNone/>
            </a:pPr>
            <a:r>
              <a:rPr lang="en-US" altLang="en-US" sz="2400" i="1" dirty="0">
                <a:cs typeface="Times New Roman" panose="02020603050405020304" pitchFamily="18" charset="0"/>
              </a:rPr>
              <a:t>d</a:t>
            </a:r>
            <a:r>
              <a:rPr lang="en-US" altLang="en-US" sz="2400" i="1" baseline="-30000" dirty="0">
                <a:cs typeface="Times New Roman" panose="02020603050405020304" pitchFamily="18" charset="0"/>
              </a:rPr>
              <a:t>1</a:t>
            </a:r>
            <a:r>
              <a:rPr lang="en-US" altLang="en-US" sz="2400" i="1" dirty="0">
                <a:cs typeface="Times New Roman" panose="02020603050405020304" pitchFamily="18" charset="0"/>
              </a:rPr>
              <a:t> </a:t>
            </a:r>
            <a:r>
              <a:rPr lang="en-US" altLang="en-US" sz="2400" b="1" dirty="0">
                <a:cs typeface="Times New Roman" panose="02020603050405020304" pitchFamily="18" charset="0"/>
              </a:rPr>
              <a:t>=  </a:t>
            </a:r>
            <a:r>
              <a:rPr lang="en-US" altLang="en-US" sz="2400" dirty="0">
                <a:cs typeface="Times New Roman" panose="02020603050405020304" pitchFamily="18" charset="0"/>
              </a:rPr>
              <a:t>(5, 0, 3, 0, 2, 0, 0, 2, 0, 0)          </a:t>
            </a:r>
            <a:r>
              <a:rPr lang="en-US" altLang="en-US" sz="2400" i="1" dirty="0">
                <a:cs typeface="Times New Roman" panose="02020603050405020304" pitchFamily="18" charset="0"/>
              </a:rPr>
              <a:t>d</a:t>
            </a:r>
            <a:r>
              <a:rPr lang="en-US" altLang="en-US" sz="2400" i="1" baseline="-30000" dirty="0">
                <a:cs typeface="Times New Roman" panose="02020603050405020304" pitchFamily="18" charset="0"/>
              </a:rPr>
              <a:t>2</a:t>
            </a:r>
            <a:r>
              <a:rPr lang="en-US" altLang="en-US" sz="2400" b="1" dirty="0">
                <a:cs typeface="Times New Roman" panose="02020603050405020304" pitchFamily="18" charset="0"/>
              </a:rPr>
              <a:t> =  </a:t>
            </a:r>
            <a:r>
              <a:rPr lang="en-US" altLang="en-US" sz="2400" dirty="0">
                <a:cs typeface="Times New Roman" panose="02020603050405020304" pitchFamily="18" charset="0"/>
              </a:rPr>
              <a:t>(3, 0, 2, 0, 1, 1, 0, 1, 0, 1)</a:t>
            </a:r>
            <a:endParaRPr lang="en-US" altLang="en-US" sz="2400" dirty="0">
              <a:cs typeface="Times New Roman" panose="02020603050405020304" pitchFamily="18" charset="0"/>
            </a:endParaRPr>
          </a:p>
          <a:p>
            <a:pPr lvl="1" algn="just"/>
            <a:r>
              <a:rPr lang="en-US" altLang="en-US" sz="2400" dirty="0">
                <a:cs typeface="Times New Roman" panose="02020603050405020304" pitchFamily="18" charset="0"/>
              </a:rPr>
              <a:t>First, calculate vector dot product</a:t>
            </a:r>
            <a:endParaRPr lang="en-US" altLang="en-US" sz="2400" dirty="0">
              <a:cs typeface="Times New Roman" panose="02020603050405020304" pitchFamily="18" charset="0"/>
            </a:endParaRPr>
          </a:p>
          <a:p>
            <a:pPr lvl="4" algn="just">
              <a:buNone/>
            </a:pPr>
            <a:r>
              <a:rPr lang="en-US" altLang="en-US" sz="2400" i="1" dirty="0">
                <a:cs typeface="Times New Roman" panose="02020603050405020304" pitchFamily="18" charset="0"/>
              </a:rPr>
              <a:t>d</a:t>
            </a:r>
            <a:r>
              <a:rPr lang="en-US" altLang="en-US" sz="2400" i="1" baseline="-30000" dirty="0">
                <a:cs typeface="Times New Roman" panose="02020603050405020304" pitchFamily="18" charset="0"/>
              </a:rPr>
              <a:t>1</a:t>
            </a:r>
            <a:r>
              <a:rPr lang="en-US" altLang="en-US" sz="2400" dirty="0">
                <a:cs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en-US" altLang="en-US" sz="2400" i="1" dirty="0">
                <a:cs typeface="Times New Roman" panose="02020603050405020304" pitchFamily="18" charset="0"/>
              </a:rPr>
              <a:t>d</a:t>
            </a:r>
            <a:r>
              <a:rPr lang="en-US" altLang="en-US" sz="2400" i="1" baseline="-30000" dirty="0">
                <a:cs typeface="Times New Roman" panose="02020603050405020304" pitchFamily="18" charset="0"/>
              </a:rPr>
              <a:t>2 </a:t>
            </a:r>
            <a:r>
              <a:rPr lang="en-US" altLang="en-US" sz="2400" dirty="0">
                <a:cs typeface="Times New Roman" panose="02020603050405020304" pitchFamily="18" charset="0"/>
              </a:rPr>
              <a:t>= 5 X 3 + 0 X 0 + 3 X 2 + 0 X 0 + 2 X 1 + 0 X 1 + 0 X 1 + 2 X 1 + 0 X 0 + 0 X 1 = 25</a:t>
            </a:r>
            <a:endParaRPr lang="en-US" altLang="en-US" sz="2400" dirty="0">
              <a:cs typeface="Times New Roman" panose="02020603050405020304" pitchFamily="18" charset="0"/>
            </a:endParaRPr>
          </a:p>
          <a:p>
            <a:pPr lvl="1" algn="just"/>
            <a:r>
              <a:rPr lang="en-US" altLang="en-US" sz="2400" dirty="0">
                <a:cs typeface="Times New Roman" panose="02020603050405020304" pitchFamily="18" charset="0"/>
              </a:rPr>
              <a:t>Then, calculate ||</a:t>
            </a:r>
            <a:r>
              <a:rPr lang="en-US" altLang="en-US" sz="2400" i="1" dirty="0">
                <a:cs typeface="Times New Roman" panose="02020603050405020304" pitchFamily="18" charset="0"/>
              </a:rPr>
              <a:t>d</a:t>
            </a:r>
            <a:r>
              <a:rPr lang="en-US" altLang="en-US" sz="2400" i="1" baseline="-30000" dirty="0">
                <a:cs typeface="Times New Roman" panose="02020603050405020304" pitchFamily="18" charset="0"/>
              </a:rPr>
              <a:t>1</a:t>
            </a:r>
            <a:r>
              <a:rPr lang="en-US" altLang="en-US" sz="2400" dirty="0">
                <a:cs typeface="Times New Roman" panose="02020603050405020304" pitchFamily="18" charset="0"/>
              </a:rPr>
              <a:t>|| and ||</a:t>
            </a:r>
            <a:r>
              <a:rPr lang="en-US" altLang="en-US" sz="2400" i="1" dirty="0">
                <a:cs typeface="Times New Roman" panose="02020603050405020304" pitchFamily="18" charset="0"/>
              </a:rPr>
              <a:t>d</a:t>
            </a:r>
            <a:r>
              <a:rPr lang="en-US" altLang="en-US" sz="2400" i="1" baseline="-30000" dirty="0">
                <a:cs typeface="Times New Roman" panose="02020603050405020304" pitchFamily="18" charset="0"/>
              </a:rPr>
              <a:t>2</a:t>
            </a:r>
            <a:r>
              <a:rPr lang="en-US" altLang="en-US" sz="2400" dirty="0">
                <a:cs typeface="Times New Roman" panose="02020603050405020304" pitchFamily="18" charset="0"/>
              </a:rPr>
              <a:t>|| </a:t>
            </a:r>
            <a:endParaRPr lang="en-US" altLang="en-US" sz="2400" dirty="0">
              <a:cs typeface="Times New Roman" panose="02020603050405020304" pitchFamily="18" charset="0"/>
            </a:endParaRPr>
          </a:p>
          <a:p>
            <a:pPr lvl="3" algn="just">
              <a:buNone/>
            </a:pPr>
            <a:endParaRPr lang="en-US" altLang="en-US" sz="2400" dirty="0">
              <a:cs typeface="Times New Roman" panose="02020603050405020304" pitchFamily="18" charset="0"/>
            </a:endParaRPr>
          </a:p>
          <a:p>
            <a:pPr lvl="1" algn="just"/>
            <a:endParaRPr lang="en-US" altLang="en-US" sz="2400" dirty="0">
              <a:cs typeface="Times New Roman" panose="02020603050405020304" pitchFamily="18" charset="0"/>
            </a:endParaRPr>
          </a:p>
          <a:p>
            <a:pPr lvl="1" algn="just"/>
            <a:endParaRPr lang="en-US" altLang="en-US" sz="2400" dirty="0">
              <a:cs typeface="Times New Roman" panose="02020603050405020304" pitchFamily="18" charset="0"/>
            </a:endParaRPr>
          </a:p>
          <a:p>
            <a:pPr lvl="1" algn="just"/>
            <a:r>
              <a:rPr lang="en-US" altLang="en-US" sz="2400" dirty="0">
                <a:cs typeface="Times New Roman" panose="02020603050405020304" pitchFamily="18" charset="0"/>
              </a:rPr>
              <a:t>Calculate cosine similarity:  cos(</a:t>
            </a:r>
            <a:r>
              <a:rPr lang="en-US" altLang="en-US" sz="2400" i="1" dirty="0">
                <a:cs typeface="Times New Roman" panose="02020603050405020304" pitchFamily="18" charset="0"/>
              </a:rPr>
              <a:t>d</a:t>
            </a:r>
            <a:r>
              <a:rPr lang="en-US" altLang="en-US" sz="2400" i="1" baseline="-30000" dirty="0">
                <a:cs typeface="Times New Roman" panose="02020603050405020304" pitchFamily="18" charset="0"/>
              </a:rPr>
              <a:t>1</a:t>
            </a:r>
            <a:r>
              <a:rPr lang="en-US" altLang="en-US" sz="2400" i="1" dirty="0">
                <a:cs typeface="Times New Roman" panose="02020603050405020304" pitchFamily="18" charset="0"/>
              </a:rPr>
              <a:t>, d</a:t>
            </a:r>
            <a:r>
              <a:rPr lang="en-US" altLang="en-US" sz="2400" i="1" baseline="-30000" dirty="0">
                <a:cs typeface="Times New Roman" panose="02020603050405020304" pitchFamily="18" charset="0"/>
              </a:rPr>
              <a:t>2</a:t>
            </a:r>
            <a:r>
              <a:rPr lang="en-US" altLang="en-US" sz="2400" dirty="0">
                <a:cs typeface="Times New Roman" panose="02020603050405020304" pitchFamily="18" charset="0"/>
              </a:rPr>
              <a:t> ) = 25/ (6.481 X 4.12) = 0.94</a:t>
            </a:r>
            <a:endParaRPr lang="en-US" altLang="en-US" sz="2400" dirty="0"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1288585" y="4976646"/>
          <a:ext cx="9663113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1" imgW="118262400" imgH="6096000" progId="Equation.DSMT4">
                  <p:embed/>
                </p:oleObj>
              </mc:Choice>
              <mc:Fallback>
                <p:oleObj name="Equation" r:id="rId1" imgW="118262400" imgH="6096000" progId="Equation.DSMT4">
                  <p:embed/>
                  <p:pic>
                    <p:nvPicPr>
                      <p:cNvPr id="0" name="Object 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88585" y="4976646"/>
                        <a:ext cx="9663113" cy="498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1288585" y="5532331"/>
          <a:ext cx="9506909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3" imgW="112166400" imgH="6096000" progId="Equation.DSMT4">
                  <p:embed/>
                </p:oleObj>
              </mc:Choice>
              <mc:Fallback>
                <p:oleObj name="Equation" r:id="rId3" imgW="112166400" imgH="6096000" progId="Equation.DSMT4">
                  <p:embed/>
                  <p:pic>
                    <p:nvPicPr>
                      <p:cNvPr id="0" name="Object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88585" y="5532331"/>
                        <a:ext cx="9506909" cy="498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2980066" y="1305379"/>
          <a:ext cx="3140075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5" imgW="38404800" imgH="10363200" progId="Equation.DSMT4">
                  <p:embed/>
                </p:oleObj>
              </mc:Choice>
              <mc:Fallback>
                <p:oleObj name="Equation" r:id="rId5" imgW="38404800" imgH="10363200" progId="Equation.DSMT4">
                  <p:embed/>
                  <p:pic>
                    <p:nvPicPr>
                      <p:cNvPr id="0" name="Object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80066" y="1305379"/>
                        <a:ext cx="3140075" cy="849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2" descr="http://cs.carleton.edu/cs_comps/0910/netflixprize/final_results/knn/img/knn/cos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8330" y="838993"/>
            <a:ext cx="5056094" cy="1315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16329</Words>
  <Application>WPS Presentation</Application>
  <PresentationFormat>Widescreen</PresentationFormat>
  <Paragraphs>670</Paragraphs>
  <Slides>49</Slides>
  <Notes>105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50</vt:i4>
      </vt:variant>
      <vt:variant>
        <vt:lpstr>幻灯片标题</vt:lpstr>
      </vt:variant>
      <vt:variant>
        <vt:i4>49</vt:i4>
      </vt:variant>
    </vt:vector>
  </HeadingPairs>
  <TitlesOfParts>
    <vt:vector size="115" baseType="lpstr">
      <vt:lpstr>Arial</vt:lpstr>
      <vt:lpstr>SimSun</vt:lpstr>
      <vt:lpstr>Wingdings</vt:lpstr>
      <vt:lpstr>Berlin Sans FB Demi</vt:lpstr>
      <vt:lpstr>Segoe Print</vt:lpstr>
      <vt:lpstr>Calibri</vt:lpstr>
      <vt:lpstr>Tahoma</vt:lpstr>
      <vt:lpstr>Times New Roman</vt:lpstr>
      <vt:lpstr>Microsoft YaHei</vt:lpstr>
      <vt:lpstr>Arial Unicode MS</vt:lpstr>
      <vt:lpstr>AvenirNextCondensed-Regular</vt:lpstr>
      <vt:lpstr>Cambria Math</vt:lpstr>
      <vt:lpstr>Symbol</vt:lpstr>
      <vt:lpstr>Calibri Light</vt:lpstr>
      <vt:lpstr>MS PGothic</vt:lpstr>
      <vt:lpstr>Retrospect</vt:lpstr>
      <vt:lpstr>Visio.Drawing.6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Paint.Picture</vt:lpstr>
      <vt:lpstr>Equation.DSMT4</vt:lpstr>
      <vt:lpstr>Equation.DSMT4</vt:lpstr>
      <vt:lpstr>Word.Document.8</vt:lpstr>
      <vt:lpstr>MSGraph.Chart.8</vt:lpstr>
      <vt:lpstr>SmartDraw.2</vt:lpstr>
      <vt:lpstr>SmartDraw.2</vt:lpstr>
      <vt:lpstr>Equation.DSMT4</vt:lpstr>
      <vt:lpstr>Equation.DSMT4</vt:lpstr>
      <vt:lpstr>Equation.3</vt:lpstr>
      <vt:lpstr>Equation.3</vt:lpstr>
      <vt:lpstr>Equation.3</vt:lpstr>
      <vt:lpstr>Equation.3</vt:lpstr>
      <vt:lpstr>Excel.Sheet.8</vt:lpstr>
      <vt:lpstr>Equation.3</vt:lpstr>
      <vt:lpstr>Excel.Sheet.8</vt:lpstr>
      <vt:lpstr>SmartDraw.2</vt:lpstr>
      <vt:lpstr>Equation.DSMT4</vt:lpstr>
      <vt:lpstr>Equation.DSMT4</vt:lpstr>
      <vt:lpstr>Equation.DSMT4</vt:lpstr>
      <vt:lpstr>Excel.Sheet.8</vt:lpstr>
      <vt:lpstr>Excel.Sheet.8</vt:lpstr>
      <vt:lpstr>Excel.Sheet.8</vt:lpstr>
      <vt:lpstr>Excel.Sheet.8</vt:lpstr>
      <vt:lpstr>SmartDraw.2</vt:lpstr>
      <vt:lpstr>Equation.3</vt:lpstr>
      <vt:lpstr>Word.Document.8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Equation.3</vt:lpstr>
      <vt:lpstr>Equation.3</vt:lpstr>
      <vt:lpstr>Equation.3</vt:lpstr>
      <vt:lpstr>PowerPoint 演示文稿</vt:lpstr>
      <vt:lpstr>Chapter 2. Data, Measurements, and Data Preprocessing</vt:lpstr>
      <vt:lpstr>Types of Data Sets: (1) Record Data</vt:lpstr>
      <vt:lpstr>Types of Data Sets: (2) Graphs and Networks</vt:lpstr>
      <vt:lpstr>Types of Data Sets: (3) Ordered Data</vt:lpstr>
      <vt:lpstr>Types of Data Sets: (4) Spatial, image and multimedia Data</vt:lpstr>
      <vt:lpstr>Important Characteristics of Structured Data</vt:lpstr>
      <vt:lpstr>Data Objects</vt:lpstr>
      <vt:lpstr>Attributes</vt:lpstr>
      <vt:lpstr>Attribute Types </vt:lpstr>
      <vt:lpstr>Numeric Attribute Types </vt:lpstr>
      <vt:lpstr>Discrete vs. Continuous Attributes </vt:lpstr>
      <vt:lpstr>Statics of Data</vt:lpstr>
      <vt:lpstr>Basic Statistical Descriptions of Data</vt:lpstr>
      <vt:lpstr>Measuring the Central Tendency:  (1) Mean</vt:lpstr>
      <vt:lpstr>Measuring the Central Tendency: (2) Median</vt:lpstr>
      <vt:lpstr>Measuring the Central Tendency: (3) Mode</vt:lpstr>
      <vt:lpstr> Symmetric vs. Skewed Data</vt:lpstr>
      <vt:lpstr>Properties of Normal Distribution Curve</vt:lpstr>
      <vt:lpstr>Measures Data Distribution: Variance and Standard Deviation</vt:lpstr>
      <vt:lpstr>Variance for Single Variable (Numerical Data)</vt:lpstr>
      <vt:lpstr>Covariance for Two Variables </vt:lpstr>
      <vt:lpstr>Covariance for Two Variables </vt:lpstr>
      <vt:lpstr>Example:  Calculation of Covariance</vt:lpstr>
      <vt:lpstr>Correlation between Two Numerical Variables</vt:lpstr>
      <vt:lpstr>Visualizing Changes of Correlation Coefficient</vt:lpstr>
      <vt:lpstr>Covariance Matrix</vt:lpstr>
      <vt:lpstr>Graphic Displays of Basic Statistical Descriptions</vt:lpstr>
      <vt:lpstr>Measuring the Dispersion of Data: Quartiles &amp; Boxplots   </vt:lpstr>
      <vt:lpstr>Histogram Analysis</vt:lpstr>
      <vt:lpstr>Histograms Often Tell More than Boxplots</vt:lpstr>
      <vt:lpstr>Scatter plot</vt:lpstr>
      <vt:lpstr>Positively and Negatively Correlated Data</vt:lpstr>
      <vt:lpstr> Uncorrelated Data</vt:lpstr>
      <vt:lpstr>Similarity and Distance Measures</vt:lpstr>
      <vt:lpstr>Similarity, Dissimilarity, and Proximity</vt:lpstr>
      <vt:lpstr>Data Matrix and Dissimilarity Matrix</vt:lpstr>
      <vt:lpstr>Standardizing Numeric Data</vt:lpstr>
      <vt:lpstr>Example: Data Matrix and Dissimilarity Matrix</vt:lpstr>
      <vt:lpstr>Distance on Numeric Data: Minkowski Distance</vt:lpstr>
      <vt:lpstr>Special Cases of Minkowski Distance</vt:lpstr>
      <vt:lpstr>Example: Minkowski Distance at Special Cases</vt:lpstr>
      <vt:lpstr>Proximity Measure for Binary Attributes</vt:lpstr>
      <vt:lpstr>Example: Dissimilarity between Asymmetric Binary Variables</vt:lpstr>
      <vt:lpstr>Proximity Measure for Categorical Attributes</vt:lpstr>
      <vt:lpstr>Ordinal Variables</vt:lpstr>
      <vt:lpstr>Attributes of Mixed Type</vt:lpstr>
      <vt:lpstr>Cosine Similarity of Two Vectors</vt:lpstr>
      <vt:lpstr>Example: Calculating Cosine Similarity</vt:lpstr>
    </vt:vector>
  </TitlesOfParts>
  <Company>UIUC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Mining Latent Entity Structures</dc:title>
  <dc:creator>Jiawei Han</dc:creator>
  <cp:lastModifiedBy>user</cp:lastModifiedBy>
  <cp:revision>964</cp:revision>
  <cp:lastPrinted>2016-08-23T14:41:00Z</cp:lastPrinted>
  <dcterms:created xsi:type="dcterms:W3CDTF">2014-06-02T15:06:00Z</dcterms:created>
  <dcterms:modified xsi:type="dcterms:W3CDTF">2026-08-30T23:18:31Z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6E22AC1B989C43FEA6563D42E867583B_12</vt:lpwstr>
  </property>
  <property fmtid="{D5CDD505-2E9C-101B-9397-08002B2CF9AE}" pid="3" name="KSOProductBuildVer">
    <vt:lpwstr>1033-12.1.0.28032</vt:lpwstr>
  </property>
</Properties>
</file>